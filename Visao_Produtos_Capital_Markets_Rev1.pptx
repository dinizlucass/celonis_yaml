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5240000" cy="85725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82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PRIMEIRA VISÃO PARA VALIDAÇÃO — não é um status homologado ou um compromisso de entrega.</a:t>
            </a:r>
          </a:p>
          <a:p>
            <a:r>
              <a:t>Fonte: transcrição da agenda Recorrência — Faturamento Trillia, 29/09/2026, arquivo fornecido pelo usuário. Portfólio: nove produtos da imagem enviada. A ordem após o Plus não representa ranking.</a:t>
            </a:r>
          </a:p>
          <a:p>
            <a:r>
              <a:t>Pedido de Gabriela Cotrim: 34:27–37:18, lista de produtos, oportunidades, clientes, MRR, tipo de complexidade, esforço/impacto e horizonte. 55:04–55:20, explicita venda, cancelamento, faturamento, status atual, prazo e ordem de priorização.</a:t>
            </a:r>
          </a:p>
          <a:p>
            <a:r>
              <a:t>Plus: 7:15–8:37, prioridade por manualidade/esforço e impacto, e não por maior volume. 13:52–16:20, revisão SAP/comunicação em outubro, primeira versão Metranet/UAT até fim de outubro e testes em novembro. 24:17–24:35, go-live 30/11 citado como alvo; depende da conclusão e aceite dos testes e preparação dos sistemas. 40:38–41:53, revisão das oportunidades/rateios pelo Comercial em andamento, sem presumir conclusão após a reunião.</a:t>
            </a:r>
          </a:p>
          <a:p>
            <a:r>
              <a:t>UP2DATA: 26:20–33:56, Portal de Serviços alimenta Metranet, que aplica preços. Divergências entre política, acessos, cadastro e cobrança ainda em apuração; não imputar causa ou culpa. 42:32–42:47, nem todos os clientes possuem oportunidades no CRM. Complexidades BDS/preços e Reports/B3: 36:26 e 27:13.</a:t>
            </a:r>
          </a:p>
          <a:p>
            <a:r>
              <a:t>Monitora PIP: 27:13, arquivo diário de consumo deve ser associado às oportunidades CRM. Não estender automaticamente esse status à variante via Seeker.</a:t>
            </a:r>
          </a:p>
          <a:p>
            <a:r>
              <a:t>Manuais: 39:35–40:38, Plus, Indicadores e Market Data Histórico citados; Histórico perdeu mecanismo automático anterior, regras precisam ser revistas. Demais produtos não detalhados: A validar.</a:t>
            </a:r>
          </a:p>
          <a:p>
            <a:r>
              <a:t>Salesforce¹: 42:47, Marcio afirma que os demais produtos estão no Salesforce. Isso não significa jornada automatizada ou base conferida.</a:t>
            </a:r>
          </a:p>
          <a:p>
            <a:r>
              <a:t>Cancelamento não recebeu status individualizado na agenda. Atendimento: 2:52–7:06, Capital não opera pelo N1 novo de Neo/Neurotech; comerciais/CS recebem demandas. Discutir canal, acesso e SLA com time Thiago/Barata; Nathalia atua no suporte operacional de faturamento. Evitar atribuir implantação de N1 a Capital sem confirmação.</a:t>
            </a:r>
          </a:p>
          <a:p>
            <a:r>
              <a:t>Horizonte: 34:47–37:18, estimativa de Cotrim até meados de 2027, produto por produto, com restrições de equipe, consultoria e janela de faturamento. 37:44 cita expectativa anterior de Igor de dezembro/2026; não existe consenso homologado. 43:54–45:58 alerta sobre capacidade compartilhada. Não prometer execução paralela ou datas individuais sem dimensionamento.</a:t>
            </a:r>
          </a:p>
          <a:p>
            <a:r>
              <a:t>Volumetria: números aproximados e divergentes na conversa (210/230/235 oportunidades Plus; outros exemplos). Clientes/oportunidades/MRR precisam de extração e conciliação antes de inserção. Não usar os indicadores antigos como base validada. A matriz não afirma ausência de faturamento em toda a carteira.</a:t>
            </a:r>
          </a:p>
          <a:p>
            <a:r>
              <a:t>Escopo a reconciliar: 55:29–56:39, lista de famílias Salesforce; projetos customizados e outros produtos mencionados não estão na imagem. A plataforma de renda fixa foi citada para 2027. Mantidos apenas nove produtos explicitamente solicitados.</a:t>
            </a:r>
          </a:p>
          <a:p>
            <a:r>
              <a:t>Storytelling sugerido: Esta visão consolida a evolução conduzida pelo PMO e pelas áreas executoras. O Plus abre a implantação; para os demais, trazemos o fluxo atual e as particularidades que precisam orientar a sequência. O próximo alinhamento deve fechar dimensão, capacidade e datas por produto. Inteligência de Processos apoia a visão ponta a ponta, articulação e visibilidade executiva.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27255D23-0E60-4889-9467-A433F94606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181100"/>
          </a:xfrm>
          <a:prstGeom prst="rect">
            <a:avLst/>
          </a:prstGeom>
          <a:solidFill>
            <a:srgbClr val="DEEBF7"/>
          </a:solidFill>
          <a:ln w="0">
            <a:noFill/>
          </a:ln>
        </p:spPr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52425" y="267692"/>
            <a:ext cx="733425" cy="702866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BFFD2EAD-2D12-4596-B6EA-88312DCC1921}"/>
              </a:ext>
            </a:extLst>
          </p:cNvPr>
          <p:cNvSpPr>
            <a:spLocks noGrp="1"/>
          </p:cNvSpPr>
          <p:nvPr/>
        </p:nvSpPr>
        <p:spPr>
          <a:xfrm>
            <a:off x="1314450" y="419100"/>
            <a:ext cx="1343025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625" b="1">
                <a:solidFill>
                  <a:srgbClr val="0B206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B2067"/>
                </a:solidFill>
                <a:latin typeface="Arial"/>
                <a:ea typeface="Arial"/>
                <a:cs typeface="Arial"/>
              </a:rPr>
              <a:t>Capital Markets | jornada e priorização por produto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27B4484-5555-4E1F-95A3-43B5CD4047B9}"/>
              </a:ext>
            </a:extLst>
          </p:cNvPr>
          <p:cNvSpPr>
            <a:spLocks noGrp="1"/>
          </p:cNvSpPr>
          <p:nvPr/>
        </p:nvSpPr>
        <p:spPr>
          <a:xfrm>
            <a:off x="571500" y="1419225"/>
            <a:ext cx="1409700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B206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2067"/>
                </a:solidFill>
                <a:latin typeface="Arial"/>
                <a:ea typeface="Arial"/>
                <a:cs typeface="Arial"/>
              </a:rPr>
              <a:t>Plus é a primeira prioridade; a sequência dos demais produtos ainda será pactuada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7C937F1-FF09-40F4-9B1C-5570B6D98808}"/>
              </a:ext>
            </a:extLst>
          </p:cNvPr>
          <p:cNvSpPr>
            <a:spLocks noGrp="1"/>
          </p:cNvSpPr>
          <p:nvPr/>
        </p:nvSpPr>
        <p:spPr>
          <a:xfrm>
            <a:off x="571500" y="1819275"/>
            <a:ext cx="14097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0708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087"/>
                </a:solidFill>
                <a:latin typeface="Arial"/>
                <a:ea typeface="Arial"/>
                <a:cs typeface="Arial"/>
              </a:rPr>
              <a:t>Primeira visão • base: agenda de 29/09/2026 • “A validar” = situação não detalhada por produto na reunião</a:t>
            </a:r>
          </a:p>
        </p:txBody>
      </p:sp>
      <p:graphicFrame>
        <p:nvGraphicFramePr>
          <p:cNvPr id="15" name="Tabela 14"/>
          <p:cNvGraphicFramePr/>
          <p:nvPr/>
        </p:nvGraphicFramePr>
        <p:xfrm>
          <a:off x="571500" y="2228850"/>
          <a:ext cx="14097000" cy="5276850"/>
        </p:xfrm>
        <a:graphic>
          <a:graphicData uri="http://schemas.openxmlformats.org/drawingml/2006/table">
            <a:tbl>
              <a:tblPr/>
              <a:tblGrid>
                <a:gridCol w="214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3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8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05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PRODUTO</a:t>
                      </a:r>
                    </a:p>
                  </a:txBody>
                  <a:tcPr anchor="ctr">
                    <a:solidFill>
                      <a:srgbClr val="0B206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VENDA / CADASTRO</a:t>
                      </a:r>
                    </a:p>
                  </a:txBody>
                  <a:tcPr anchor="ctr">
                    <a:solidFill>
                      <a:srgbClr val="0B206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CANCELAMENTO</a:t>
                      </a:r>
                    </a:p>
                  </a:txBody>
                  <a:tcPr anchor="ctr">
                    <a:solidFill>
                      <a:srgbClr val="0B206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FATURAMENTO ATUAL</a:t>
                      </a:r>
                    </a:p>
                  </a:txBody>
                  <a:tcPr anchor="ctr">
                    <a:solidFill>
                      <a:srgbClr val="0B206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COMPLEXIDADE / PRÓXIMO PASSO</a:t>
                      </a:r>
                    </a:p>
                  </a:txBody>
                  <a:tcPr anchor="ctr">
                    <a:solidFill>
                      <a:srgbClr val="0B206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PRIORIDADE / PRAZO</a:t>
                      </a:r>
                    </a:p>
                  </a:txBody>
                  <a:tcPr anchor="ctr">
                    <a:solidFill>
                      <a:srgbClr val="0B20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Datawise Plus</a:t>
                      </a:r>
                    </a:p>
                  </a:txBody>
                  <a:tcPr anchor="ctr"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Oportunidades e</a:t>
                      </a:r>
                    </a:p>
                    <a:p>
                      <a:pPr algn="l"/>
                      <a:r>
                        <a:rPr sz="142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rateios em revisão</a:t>
                      </a:r>
                    </a:p>
                  </a:txBody>
                  <a:tcPr anchor="ctr"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607087"/>
                          </a:solidFill>
                          <a:latin typeface="Arial"/>
                          <a:ea typeface="Arial"/>
                          <a:cs typeface="Arial"/>
                        </a:rPr>
                        <a:t>A validar</a:t>
                      </a:r>
                    </a:p>
                  </a:txBody>
                  <a:tcPr anchor="ctr"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Manual</a:t>
                      </a:r>
                    </a:p>
                  </a:txBody>
                  <a:tcPr anchor="ctr"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Validar base comercial,</a:t>
                      </a:r>
                    </a:p>
                    <a:p>
                      <a:pPr algn="l"/>
                      <a:r>
                        <a:rPr sz="142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integrações e cadastro SAP</a:t>
                      </a:r>
                    </a:p>
                  </a:txBody>
                  <a:tcPr anchor="ctr"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1B5EAD"/>
                          </a:solidFill>
                          <a:latin typeface="Arial"/>
                          <a:ea typeface="Arial"/>
                          <a:cs typeface="Arial"/>
                        </a:rPr>
                        <a:t>1ª prioridade • alvo 30/11/26</a:t>
                      </a:r>
                    </a:p>
                    <a:p>
                      <a:pPr algn="l"/>
                      <a:r>
                        <a:rPr sz="1425" b="1">
                          <a:solidFill>
                            <a:srgbClr val="1B5EAD"/>
                          </a:solidFill>
                          <a:latin typeface="Arial"/>
                          <a:ea typeface="Arial"/>
                          <a:cs typeface="Arial"/>
                        </a:rPr>
                        <a:t>Testes ponta a ponta: nov.</a:t>
                      </a:r>
                    </a:p>
                  </a:txBody>
                  <a:tcPr anchor="ctr">
                    <a:solidFill>
                      <a:srgbClr val="E7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UP2DATA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dirty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Portal de </a:t>
                      </a:r>
                      <a:r>
                        <a:rPr sz="1425" b="0" dirty="0" err="1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Serviços</a:t>
                      </a:r>
                      <a:r>
                        <a:rPr sz="1425" b="0" dirty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;</a:t>
                      </a:r>
                    </a:p>
                    <a:p>
                      <a:pPr algn="l"/>
                      <a:r>
                        <a:rPr sz="1425" b="0" dirty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conciliar com CRM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607087"/>
                          </a:solidFill>
                          <a:latin typeface="Arial"/>
                          <a:ea typeface="Arial"/>
                          <a:cs typeface="Arial"/>
                        </a:rPr>
                        <a:t>A validar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Portal → Metranet;</a:t>
                      </a:r>
                    </a:p>
                    <a:p>
                      <a:pPr algn="l"/>
                      <a:r>
                        <a:rPr sz="142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revisar divergências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Reconciliar acessos BDS,</a:t>
                      </a:r>
                    </a:p>
                    <a:p>
                      <a:pPr algn="l"/>
                      <a:r>
                        <a:rPr sz="142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política de preços e CRM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Ordem e prazo a definir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Market Data –</a:t>
                      </a:r>
                    </a:p>
                    <a:p>
                      <a:pPr algn="l"/>
                      <a:r>
                        <a:rPr sz="1425" b="1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Histórico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Salesforce¹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607087"/>
                          </a:solidFill>
                          <a:latin typeface="Arial"/>
                          <a:ea typeface="Arial"/>
                          <a:cs typeface="Arial"/>
                        </a:rPr>
                        <a:t>A validar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Manual; automação</a:t>
                      </a:r>
                    </a:p>
                    <a:p>
                      <a:pPr algn="l"/>
                      <a:r>
                        <a:rPr sz="142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anterior a rever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Revisar regras de cálculo</a:t>
                      </a:r>
                    </a:p>
                    <a:p>
                      <a:pPr algn="l"/>
                      <a:r>
                        <a:rPr sz="142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e cobrança pontual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Ordem e prazo a definir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Datawise Reports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Salesforce¹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607087"/>
                          </a:solidFill>
                          <a:latin typeface="Arial"/>
                          <a:ea typeface="Arial"/>
                          <a:cs typeface="Arial"/>
                        </a:rPr>
                        <a:t>A validar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Vinculado à esteira B3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Separar o faturamento</a:t>
                      </a:r>
                    </a:p>
                    <a:p>
                      <a:pPr algn="l"/>
                      <a:r>
                        <a:rPr sz="142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preservando a integração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Ordem e prazo a definir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Smart Target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Salesforce¹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607087"/>
                          </a:solidFill>
                          <a:latin typeface="Arial"/>
                          <a:ea typeface="Arial"/>
                          <a:cs typeface="Arial"/>
                        </a:rPr>
                        <a:t>A validar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A validar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Detalhar fluxo e dependências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Ordem e prazo a definir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Monitora PIP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Salesforce¹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607087"/>
                          </a:solidFill>
                          <a:latin typeface="Arial"/>
                          <a:ea typeface="Arial"/>
                          <a:cs typeface="Arial"/>
                        </a:rPr>
                        <a:t>A validar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Arquivo diário</a:t>
                      </a:r>
                    </a:p>
                    <a:p>
                      <a:pPr algn="l"/>
                      <a:r>
                        <a:rPr sz="142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de consumo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Vincular consumo às</a:t>
                      </a:r>
                    </a:p>
                    <a:p>
                      <a:pPr algn="l"/>
                      <a:r>
                        <a:rPr sz="142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oportunidades do CRM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Ordem e prazo a definir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Monitora PIP –</a:t>
                      </a:r>
                    </a:p>
                    <a:p>
                      <a:pPr algn="l"/>
                      <a:r>
                        <a:rPr sz="1425" b="1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via Seeker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Salesforce¹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607087"/>
                          </a:solidFill>
                          <a:latin typeface="Arial"/>
                          <a:ea typeface="Arial"/>
                          <a:cs typeface="Arial"/>
                        </a:rPr>
                        <a:t>A validar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A validar por variante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Confirmar particularidades</a:t>
                      </a:r>
                    </a:p>
                    <a:p>
                      <a:pPr algn="l"/>
                      <a:r>
                        <a:rPr sz="142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da via Seeker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Ordem e prazo a definir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Market Surveillance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Salesforce¹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607087"/>
                          </a:solidFill>
                          <a:latin typeface="Arial"/>
                          <a:ea typeface="Arial"/>
                          <a:cs typeface="Arial"/>
                        </a:rPr>
                        <a:t>A validar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A validar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Detalhar fluxo e dependências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Ordem e prazo a definir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Indicadores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Salesforce¹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607087"/>
                          </a:solidFill>
                          <a:latin typeface="Arial"/>
                          <a:ea typeface="Arial"/>
                          <a:cs typeface="Arial"/>
                        </a:rPr>
                        <a:t>A validar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Manual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Validar base e requisitos</a:t>
                      </a:r>
                    </a:p>
                    <a:p>
                      <a:pPr algn="l"/>
                      <a:r>
                        <a:rPr sz="142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para automatização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dirty="0" err="1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Ordem</a:t>
                      </a:r>
                      <a:r>
                        <a:rPr sz="1425" b="0" dirty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 e </a:t>
                      </a:r>
                      <a:r>
                        <a:rPr sz="1425" b="0" dirty="0" err="1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prazo</a:t>
                      </a:r>
                      <a:r>
                        <a:rPr sz="1425" b="0" dirty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 a </a:t>
                      </a:r>
                      <a:r>
                        <a:rPr sz="1425" b="0" dirty="0" err="1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definir</a:t>
                      </a:r>
                      <a:endParaRPr sz="1425" b="0" dirty="0">
                        <a:solidFill>
                          <a:srgbClr val="24344A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Retângulo 6">
            <a:extLst>
              <a:ext uri="{FF2B5EF4-FFF2-40B4-BE49-F238E27FC236}">
                <a16:creationId xmlns:a16="http://schemas.microsoft.com/office/drawing/2014/main" id="{79A9A132-B072-418B-AA8C-A56B2E0F8B42}"/>
              </a:ext>
            </a:extLst>
          </p:cNvPr>
          <p:cNvSpPr>
            <a:spLocks noGrp="1"/>
          </p:cNvSpPr>
          <p:nvPr/>
        </p:nvSpPr>
        <p:spPr>
          <a:xfrm>
            <a:off x="571500" y="7677150"/>
            <a:ext cx="14097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575" b="1">
                <a:solidFill>
                  <a:srgbClr val="0B206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2067"/>
                </a:solidFill>
                <a:latin typeface="Arial"/>
                <a:ea typeface="Arial"/>
                <a:cs typeface="Arial"/>
              </a:rPr>
              <a:t>Horizonte discutido: meados de 2027 — estimativa a validar, condicionada à capacidade e à fila Trillia.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CFF5B00-3989-4CAE-9950-06B8FDE76033}"/>
              </a:ext>
            </a:extLst>
          </p:cNvPr>
          <p:cNvSpPr>
            <a:spLocks noGrp="1"/>
          </p:cNvSpPr>
          <p:nvPr/>
        </p:nvSpPr>
        <p:spPr>
          <a:xfrm>
            <a:off x="571500" y="8020050"/>
            <a:ext cx="14097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75" b="0">
                <a:solidFill>
                  <a:srgbClr val="60708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7"/>
                </a:solidFill>
                <a:latin typeface="Arial"/>
                <a:ea typeface="Arial"/>
                <a:cs typeface="Arial"/>
              </a:rPr>
              <a:t>Para fechar o roadmap: clientes, oportunidades e MRR por produto; atendimento/SLA; ordem de entrada e datas com as áreas.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FB3027A-11F6-4A2F-8DDB-E5EF83B2105B}"/>
              </a:ext>
            </a:extLst>
          </p:cNvPr>
          <p:cNvSpPr>
            <a:spLocks noGrp="1"/>
          </p:cNvSpPr>
          <p:nvPr/>
        </p:nvSpPr>
        <p:spPr>
          <a:xfrm>
            <a:off x="571500" y="8296275"/>
            <a:ext cx="14097000" cy="200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050" b="0">
                <a:solidFill>
                  <a:srgbClr val="60708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087"/>
                </a:solidFill>
                <a:latin typeface="Arial"/>
                <a:ea typeface="Arial"/>
                <a:cs typeface="Arial"/>
              </a:rPr>
              <a:t>¹ Presença no Salesforce citada de forma geral; não implica cadastro validado. Condução: PMO e áreas executoras | Apoio: Inteligência de Processos.</a:t>
            </a:r>
          </a:p>
        </p:txBody>
      </p:sp>
    </p:spTree>
    <p:extLst>
      <p:ext uri="{BB962C8B-B14F-4D97-AF65-F5344CB8AC3E}">
        <p14:creationId xmlns:p14="http://schemas.microsoft.com/office/powerpoint/2010/main" val="74340714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912</Words>
  <Application>Microsoft Office PowerPoint</Application>
  <DocSecurity>0</DocSecurity>
  <PresentationFormat>Personalizar</PresentationFormat>
  <Paragraphs>94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4" baseType="lpstr">
      <vt:lpstr>Arial</vt:lpstr>
      <vt:lpstr>Calibri</vt:lpstr>
      <vt:lpstr>ChatGPT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Lucas Diniz</cp:lastModifiedBy>
  <cp:revision>1</cp:revision>
  <dcterms:created xsi:type="dcterms:W3CDTF">2026-09-30T14:35:04Z</dcterms:created>
  <dcterms:modified xsi:type="dcterms:W3CDTF">2026-09-30T14:43:02Z</dcterms:modified>
</cp:coreProperties>
</file>