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Dores levantadas com as áreas e o que já está em execução. Divergências inclui casos de não faturamento. Alta customização é ponto Trillia (Neurotech), não Capital.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Bilhetagem única inclui Listados e Balcão. Evolução produto a produto, Capital tratado dentro de Trillia. Nova governança: nenhum produto é cadastrado no Salesforce sem fluxo de faturamento.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Agrupado por sistema. Orçamento definido em 11/09 e aprovado em 17/09; desenvolvimento do novo Metranet inicia após a aprovação, 1ª entrega 30/10. Ajuste no SAP e comunicação aos clientes ficam para outubro — setembro ainda fatura no modelo atual. Ao ligar o Metranet Trillia, desligar o CSNet para não cobrar em duplicidade.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Dinâmica pedida pela Gabi: mostrar tempos internos (orçamento, aprovação) e do time Metranet. Sprint mensal via Jira, pool de 40h da consultoria. Vitor levanta backlog x horas para avaliar suficiência. SAP precisa estar pronto para receber o novo cadastro.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Pedido do Mario via Stein: estimativa para os demais produtos. Ondas são proposta para validar em sessão com Igor, Coutinho e Stein. Volumes por produto a levantar (Ops, clientes, MRR).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Estimativa: Capital na nova esteira até meados de 2027. Ciclo ~3 meses por produto (2,5 sem aprovação de orçamento). Começar pelos manuais (mesmo modelo do Plus); produtos com sistema alimentando o faturamento são correção de processo. Execução sequencial: mesmas pessoas de Comercial, Produtos e Faturamento.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Foto atual para comparar antes e depois da nova esteira. Valores ainda em validação; extração por material no SAP em andamento.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Uso interno — não levar para a reunião executiva.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3E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714375"/>
            <a:ext cx="693986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spc="-75" kern="0" dirty="0">
                <a:solidFill>
                  <a:srgbClr val="0B1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[B]³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608386" y="533400"/>
            <a:ext cx="4740086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500" i="1" dirty="0">
                <a:solidFill>
                  <a:srgbClr val="0B1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Trillia – Evolução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12456914" y="847725"/>
            <a:ext cx="124509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B1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Cenário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3930610" y="847725"/>
            <a:ext cx="215214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B1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Em andamento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6191905" y="847725"/>
            <a:ext cx="146750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A97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Evolução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62000" y="1647825"/>
            <a:ext cx="7235130" cy="38100"/>
          </a:xfrm>
          <a:prstGeom prst="rect">
            <a:avLst/>
          </a:prstGeom>
          <a:solidFill>
            <a:srgbClr val="5B6F95"/>
          </a:solidFill>
          <a:ln/>
        </p:spPr>
      </p:sp>
      <p:sp>
        <p:nvSpPr>
          <p:cNvPr id="8" name="Text 6"/>
          <p:cNvSpPr/>
          <p:nvPr/>
        </p:nvSpPr>
        <p:spPr>
          <a:xfrm>
            <a:off x="762000" y="1952625"/>
            <a:ext cx="41523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5B6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253430" y="1914525"/>
            <a:ext cx="1404476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1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Cenário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762000" y="2505075"/>
            <a:ext cx="795864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5B6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Principais dores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62000" y="2886075"/>
            <a:ext cx="225921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839"/>
              </a:lnSpc>
              <a:buNone/>
            </a:pPr>
            <a:r>
              <a:rPr lang="en-US" sz="1950" dirty="0">
                <a:solidFill>
                  <a:srgbClr val="5B6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064121" y="2886075"/>
            <a:ext cx="7601917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839"/>
              </a:lnSpc>
              <a:buNone/>
            </a:pPr>
            <a:r>
              <a:rPr lang="en-US" sz="1950" dirty="0">
                <a:solidFill>
                  <a:srgbClr val="1B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Esteiras de faturamento fragmentadas e diferentes por produto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762000" y="3328988"/>
            <a:ext cx="225921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839"/>
              </a:lnSpc>
              <a:buNone/>
            </a:pPr>
            <a:r>
              <a:rPr lang="en-US" sz="1950" dirty="0">
                <a:solidFill>
                  <a:srgbClr val="5B6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064121" y="3328988"/>
            <a:ext cx="487613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839"/>
              </a:lnSpc>
              <a:buNone/>
            </a:pPr>
            <a:r>
              <a:rPr lang="en-US" sz="1950" dirty="0">
                <a:solidFill>
                  <a:srgbClr val="1B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Divergências e ausência de faturamento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762000" y="3771900"/>
            <a:ext cx="225921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839"/>
              </a:lnSpc>
              <a:buNone/>
            </a:pPr>
            <a:r>
              <a:rPr lang="en-US" sz="1950" dirty="0">
                <a:solidFill>
                  <a:srgbClr val="5B6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1064121" y="3771900"/>
            <a:ext cx="2362513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839"/>
              </a:lnSpc>
              <a:buNone/>
            </a:pPr>
            <a:r>
              <a:rPr lang="en-US" sz="1950" dirty="0">
                <a:solidFill>
                  <a:srgbClr val="1B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Boletos cancelados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762000" y="4214813"/>
            <a:ext cx="225921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839"/>
              </a:lnSpc>
              <a:buNone/>
            </a:pPr>
            <a:r>
              <a:rPr lang="en-US" sz="1950" dirty="0">
                <a:solidFill>
                  <a:srgbClr val="5B6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1064121" y="4214813"/>
            <a:ext cx="5356458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839"/>
              </a:lnSpc>
              <a:buNone/>
            </a:pPr>
            <a:r>
              <a:rPr lang="en-US" sz="1950" dirty="0">
                <a:solidFill>
                  <a:srgbClr val="1B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Visibilidade parcial da jornada ponta a ponta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762000" y="4657725"/>
            <a:ext cx="225921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839"/>
              </a:lnSpc>
              <a:buNone/>
            </a:pPr>
            <a:r>
              <a:rPr lang="en-US" sz="1950" dirty="0">
                <a:solidFill>
                  <a:srgbClr val="5B6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1064121" y="4657725"/>
            <a:ext cx="6420579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839"/>
              </a:lnSpc>
              <a:buNone/>
            </a:pPr>
            <a:r>
              <a:rPr lang="en-US" sz="1950" dirty="0">
                <a:solidFill>
                  <a:srgbClr val="1B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Faturamento, arquivos e conferências ainda manuais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762000" y="5100638"/>
            <a:ext cx="225921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839"/>
              </a:lnSpc>
              <a:buNone/>
            </a:pPr>
            <a:r>
              <a:rPr lang="en-US" sz="1950" dirty="0">
                <a:solidFill>
                  <a:srgbClr val="5B6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1064121" y="5100638"/>
            <a:ext cx="5361042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839"/>
              </a:lnSpc>
              <a:buNone/>
            </a:pPr>
            <a:r>
              <a:rPr lang="en-US" sz="1950" dirty="0">
                <a:solidFill>
                  <a:srgbClr val="1B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Papéis e responsabilidades pouco explícitos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762000" y="5543550"/>
            <a:ext cx="225921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839"/>
              </a:lnSpc>
              <a:buNone/>
            </a:pPr>
            <a:r>
              <a:rPr lang="en-US" sz="1950" dirty="0">
                <a:solidFill>
                  <a:srgbClr val="5B6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</a:t>
            </a:r>
            <a:endParaRPr lang="en-US" sz="1950" dirty="0"/>
          </a:p>
        </p:txBody>
      </p:sp>
      <p:sp>
        <p:nvSpPr>
          <p:cNvPr id="24" name="Text 22"/>
          <p:cNvSpPr/>
          <p:nvPr/>
        </p:nvSpPr>
        <p:spPr>
          <a:xfrm>
            <a:off x="1064121" y="5543550"/>
            <a:ext cx="2392472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839"/>
              </a:lnSpc>
              <a:buNone/>
            </a:pPr>
            <a:r>
              <a:rPr lang="en-US" sz="1950" dirty="0">
                <a:solidFill>
                  <a:srgbClr val="1B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Falta de priorização</a:t>
            </a:r>
            <a:endParaRPr lang="en-US" sz="1950" dirty="0"/>
          </a:p>
        </p:txBody>
      </p:sp>
      <p:sp>
        <p:nvSpPr>
          <p:cNvPr id="25" name="Text 23"/>
          <p:cNvSpPr/>
          <p:nvPr/>
        </p:nvSpPr>
        <p:spPr>
          <a:xfrm>
            <a:off x="762000" y="5986463"/>
            <a:ext cx="225921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839"/>
              </a:lnSpc>
              <a:buNone/>
            </a:pPr>
            <a:r>
              <a:rPr lang="en-US" sz="1950" dirty="0">
                <a:solidFill>
                  <a:srgbClr val="5B6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</a:t>
            </a:r>
            <a:endParaRPr lang="en-US" sz="1950" dirty="0"/>
          </a:p>
        </p:txBody>
      </p:sp>
      <p:sp>
        <p:nvSpPr>
          <p:cNvPr id="26" name="Text 24"/>
          <p:cNvSpPr/>
          <p:nvPr/>
        </p:nvSpPr>
        <p:spPr>
          <a:xfrm>
            <a:off x="1064121" y="5986463"/>
            <a:ext cx="7141000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839"/>
              </a:lnSpc>
              <a:buNone/>
            </a:pPr>
            <a:r>
              <a:rPr lang="en-US" sz="1950" dirty="0">
                <a:solidFill>
                  <a:srgbClr val="1B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Alta customização por contrato (Trillia, ex.: Neurotech) → regras de faturamento mais complexas</a:t>
            </a:r>
            <a:endParaRPr lang="en-US" sz="1950" dirty="0"/>
          </a:p>
        </p:txBody>
      </p:sp>
      <p:sp>
        <p:nvSpPr>
          <p:cNvPr id="27" name="Text 25"/>
          <p:cNvSpPr/>
          <p:nvPr/>
        </p:nvSpPr>
        <p:spPr>
          <a:xfrm>
            <a:off x="762000" y="6738938"/>
            <a:ext cx="225921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839"/>
              </a:lnSpc>
              <a:buNone/>
            </a:pPr>
            <a:r>
              <a:rPr lang="en-US" sz="1950" dirty="0">
                <a:solidFill>
                  <a:srgbClr val="5B6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</a:t>
            </a:r>
            <a:endParaRPr lang="en-US" sz="1950" dirty="0"/>
          </a:p>
        </p:txBody>
      </p:sp>
      <p:sp>
        <p:nvSpPr>
          <p:cNvPr id="28" name="Text 26"/>
          <p:cNvSpPr/>
          <p:nvPr/>
        </p:nvSpPr>
        <p:spPr>
          <a:xfrm>
            <a:off x="1064121" y="6738938"/>
            <a:ext cx="7141000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839"/>
              </a:lnSpc>
              <a:buNone/>
            </a:pPr>
            <a:r>
              <a:rPr lang="en-US" sz="1950" dirty="0">
                <a:solidFill>
                  <a:srgbClr val="1B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Atendimento de Capital apartado do fluxo Trillia: sem SLA claro, Comercial e CS onerados</a:t>
            </a:r>
            <a:endParaRPr lang="en-US" sz="1950" dirty="0"/>
          </a:p>
        </p:txBody>
      </p:sp>
      <p:sp>
        <p:nvSpPr>
          <p:cNvPr id="29" name="Shape 27"/>
          <p:cNvSpPr/>
          <p:nvPr/>
        </p:nvSpPr>
        <p:spPr>
          <a:xfrm>
            <a:off x="8682930" y="1647825"/>
            <a:ext cx="8843070" cy="38100"/>
          </a:xfrm>
          <a:prstGeom prst="rect">
            <a:avLst/>
          </a:prstGeom>
          <a:solidFill>
            <a:srgbClr val="B4651B"/>
          </a:solidFill>
          <a:ln/>
        </p:spPr>
      </p:sp>
      <p:sp>
        <p:nvSpPr>
          <p:cNvPr id="30" name="Text 28"/>
          <p:cNvSpPr/>
          <p:nvPr/>
        </p:nvSpPr>
        <p:spPr>
          <a:xfrm>
            <a:off x="8682930" y="1952625"/>
            <a:ext cx="41523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B465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9174361" y="1914525"/>
            <a:ext cx="2703686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1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andamento</a:t>
            </a:r>
            <a:endParaRPr lang="en-US" sz="2700" dirty="0"/>
          </a:p>
        </p:txBody>
      </p:sp>
      <p:sp>
        <p:nvSpPr>
          <p:cNvPr id="32" name="Text 30"/>
          <p:cNvSpPr/>
          <p:nvPr/>
        </p:nvSpPr>
        <p:spPr>
          <a:xfrm>
            <a:off x="8682930" y="2505075"/>
            <a:ext cx="972737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B465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de atuação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8682930" y="2886075"/>
            <a:ext cx="225921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839"/>
              </a:lnSpc>
              <a:buNone/>
            </a:pPr>
            <a:r>
              <a:rPr lang="en-US" sz="1950" dirty="0">
                <a:solidFill>
                  <a:srgbClr val="B465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</a:t>
            </a:r>
            <a:endParaRPr lang="en-US" sz="1950" dirty="0"/>
          </a:p>
        </p:txBody>
      </p:sp>
      <p:sp>
        <p:nvSpPr>
          <p:cNvPr id="34" name="Text 32"/>
          <p:cNvSpPr/>
          <p:nvPr/>
        </p:nvSpPr>
        <p:spPr>
          <a:xfrm>
            <a:off x="8985052" y="2886075"/>
            <a:ext cx="8797177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839"/>
              </a:lnSpc>
              <a:buNone/>
            </a:pPr>
            <a:r>
              <a:rPr lang="en-US" sz="1950" dirty="0">
                <a:solidFill>
                  <a:srgbClr val="1B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 do fluxo de faturamento (Advisia): Salesforce › Metranet Trillia › SAP</a:t>
            </a:r>
            <a:endParaRPr lang="en-US" sz="1950" dirty="0"/>
          </a:p>
        </p:txBody>
      </p:sp>
      <p:sp>
        <p:nvSpPr>
          <p:cNvPr id="35" name="Text 33"/>
          <p:cNvSpPr/>
          <p:nvPr/>
        </p:nvSpPr>
        <p:spPr>
          <a:xfrm>
            <a:off x="8682930" y="3619500"/>
            <a:ext cx="225921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839"/>
              </a:lnSpc>
              <a:buNone/>
            </a:pPr>
            <a:r>
              <a:rPr lang="en-US" sz="1950" dirty="0">
                <a:solidFill>
                  <a:srgbClr val="B465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</a:t>
            </a:r>
            <a:endParaRPr lang="en-US" sz="1950" dirty="0"/>
          </a:p>
        </p:txBody>
      </p:sp>
      <p:sp>
        <p:nvSpPr>
          <p:cNvPr id="36" name="Text 34"/>
          <p:cNvSpPr/>
          <p:nvPr/>
        </p:nvSpPr>
        <p:spPr>
          <a:xfrm>
            <a:off x="8985052" y="3619500"/>
            <a:ext cx="8797177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839"/>
              </a:lnSpc>
              <a:buNone/>
            </a:pPr>
            <a:r>
              <a:rPr lang="en-US" sz="1950" dirty="0">
                <a:solidFill>
                  <a:srgbClr val="1B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Conexão das entregas entre as áreas; papéis e responsabilidades mapeados, em consolidação</a:t>
            </a:r>
            <a:endParaRPr lang="en-US" sz="1950" dirty="0"/>
          </a:p>
        </p:txBody>
      </p:sp>
      <p:sp>
        <p:nvSpPr>
          <p:cNvPr id="37" name="Text 35"/>
          <p:cNvSpPr/>
          <p:nvPr/>
        </p:nvSpPr>
        <p:spPr>
          <a:xfrm>
            <a:off x="8682930" y="4352925"/>
            <a:ext cx="225921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839"/>
              </a:lnSpc>
              <a:buNone/>
            </a:pPr>
            <a:r>
              <a:rPr lang="en-US" sz="1950" dirty="0">
                <a:solidFill>
                  <a:srgbClr val="B465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</a:t>
            </a:r>
            <a:endParaRPr lang="en-US" sz="1950" dirty="0"/>
          </a:p>
        </p:txBody>
      </p:sp>
      <p:sp>
        <p:nvSpPr>
          <p:cNvPr id="38" name="Text 36"/>
          <p:cNvSpPr/>
          <p:nvPr/>
        </p:nvSpPr>
        <p:spPr>
          <a:xfrm>
            <a:off x="8985052" y="4352925"/>
            <a:ext cx="8797177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839"/>
              </a:lnSpc>
              <a:buNone/>
            </a:pPr>
            <a:r>
              <a:rPr lang="en-US" sz="1950" dirty="0">
                <a:solidFill>
                  <a:srgbClr val="1B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Datawise+ como 1º caso: menor esforço e maior impacto; esteira 100% manual</a:t>
            </a:r>
            <a:endParaRPr lang="en-US" sz="1950" dirty="0"/>
          </a:p>
        </p:txBody>
      </p:sp>
      <p:sp>
        <p:nvSpPr>
          <p:cNvPr id="39" name="Shape 37"/>
          <p:cNvSpPr/>
          <p:nvPr/>
        </p:nvSpPr>
        <p:spPr>
          <a:xfrm>
            <a:off x="8987730" y="5162550"/>
            <a:ext cx="2744391" cy="10001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0" name="Text 38"/>
          <p:cNvSpPr/>
          <p:nvPr/>
        </p:nvSpPr>
        <p:spPr>
          <a:xfrm>
            <a:off x="9178230" y="5295900"/>
            <a:ext cx="259973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1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</a:t>
            </a:r>
            <a:endParaRPr lang="en-US" sz="3000" dirty="0"/>
          </a:p>
        </p:txBody>
      </p:sp>
      <p:sp>
        <p:nvSpPr>
          <p:cNvPr id="41" name="Text 39"/>
          <p:cNvSpPr/>
          <p:nvPr/>
        </p:nvSpPr>
        <p:spPr>
          <a:xfrm>
            <a:off x="9178230" y="5762625"/>
            <a:ext cx="259973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4A5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clientes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11884521" y="5162550"/>
            <a:ext cx="2744539" cy="10001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3" name="Text 41"/>
          <p:cNvSpPr/>
          <p:nvPr/>
        </p:nvSpPr>
        <p:spPr>
          <a:xfrm>
            <a:off x="12075021" y="5295900"/>
            <a:ext cx="2599893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1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235</a:t>
            </a:r>
            <a:endParaRPr lang="en-US" sz="3000" dirty="0"/>
          </a:p>
        </p:txBody>
      </p:sp>
      <p:sp>
        <p:nvSpPr>
          <p:cNvPr id="44" name="Text 42"/>
          <p:cNvSpPr/>
          <p:nvPr/>
        </p:nvSpPr>
        <p:spPr>
          <a:xfrm>
            <a:off x="12075021" y="5762625"/>
            <a:ext cx="259989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4A5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oportunidades</a:t>
            </a:r>
            <a:endParaRPr lang="en-US" sz="1800" dirty="0"/>
          </a:p>
        </p:txBody>
      </p:sp>
      <p:sp>
        <p:nvSpPr>
          <p:cNvPr id="45" name="Shape 43"/>
          <p:cNvSpPr/>
          <p:nvPr/>
        </p:nvSpPr>
        <p:spPr>
          <a:xfrm>
            <a:off x="14781461" y="5162550"/>
            <a:ext cx="2744391" cy="10001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6" name="Text 44"/>
          <p:cNvSpPr/>
          <p:nvPr/>
        </p:nvSpPr>
        <p:spPr>
          <a:xfrm>
            <a:off x="14971961" y="5295900"/>
            <a:ext cx="259973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1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R$ 10,2M</a:t>
            </a:r>
            <a:endParaRPr lang="en-US" sz="3000" dirty="0"/>
          </a:p>
        </p:txBody>
      </p:sp>
      <p:sp>
        <p:nvSpPr>
          <p:cNvPr id="47" name="Text 45"/>
          <p:cNvSpPr/>
          <p:nvPr/>
        </p:nvSpPr>
        <p:spPr>
          <a:xfrm>
            <a:off x="14971961" y="5762625"/>
            <a:ext cx="259973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4A5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faturado (YTD)</a:t>
            </a:r>
            <a:endParaRPr lang="en-US" sz="1800" dirty="0"/>
          </a:p>
        </p:txBody>
      </p:sp>
      <p:sp>
        <p:nvSpPr>
          <p:cNvPr id="48" name="Text 46"/>
          <p:cNvSpPr/>
          <p:nvPr/>
        </p:nvSpPr>
        <p:spPr>
          <a:xfrm>
            <a:off x="8682930" y="6429375"/>
            <a:ext cx="972737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B465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Entregas</a:t>
            </a:r>
            <a:endParaRPr lang="en-US" sz="1800" dirty="0"/>
          </a:p>
        </p:txBody>
      </p:sp>
      <p:sp>
        <p:nvSpPr>
          <p:cNvPr id="49" name="Text 47"/>
          <p:cNvSpPr/>
          <p:nvPr/>
        </p:nvSpPr>
        <p:spPr>
          <a:xfrm>
            <a:off x="8682930" y="6810375"/>
            <a:ext cx="351681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839"/>
              </a:lnSpc>
              <a:buNone/>
            </a:pPr>
            <a:r>
              <a:rPr lang="en-US" sz="1950" b="1" dirty="0">
                <a:solidFill>
                  <a:srgbClr val="B465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950" dirty="0"/>
          </a:p>
        </p:txBody>
      </p:sp>
      <p:sp>
        <p:nvSpPr>
          <p:cNvPr id="50" name="Text 48"/>
          <p:cNvSpPr/>
          <p:nvPr/>
        </p:nvSpPr>
        <p:spPr>
          <a:xfrm>
            <a:off x="9110811" y="6810375"/>
            <a:ext cx="4073128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839"/>
              </a:lnSpc>
              <a:buNone/>
            </a:pPr>
            <a:r>
              <a:rPr lang="en-US" sz="1950" dirty="0">
                <a:solidFill>
                  <a:srgbClr val="1B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Criação do novo Metranet – Trillia</a:t>
            </a:r>
            <a:endParaRPr lang="en-US" sz="1950" dirty="0"/>
          </a:p>
        </p:txBody>
      </p:sp>
      <p:sp>
        <p:nvSpPr>
          <p:cNvPr id="51" name="Text 49"/>
          <p:cNvSpPr/>
          <p:nvPr/>
        </p:nvSpPr>
        <p:spPr>
          <a:xfrm>
            <a:off x="8682930" y="7215188"/>
            <a:ext cx="351681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839"/>
              </a:lnSpc>
              <a:buNone/>
            </a:pPr>
            <a:r>
              <a:rPr lang="en-US" sz="1950" b="1" dirty="0">
                <a:solidFill>
                  <a:srgbClr val="B465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950" dirty="0"/>
          </a:p>
        </p:txBody>
      </p:sp>
      <p:sp>
        <p:nvSpPr>
          <p:cNvPr id="52" name="Text 50"/>
          <p:cNvSpPr/>
          <p:nvPr/>
        </p:nvSpPr>
        <p:spPr>
          <a:xfrm>
            <a:off x="9110811" y="7215188"/>
            <a:ext cx="8989695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839"/>
              </a:lnSpc>
              <a:buNone/>
            </a:pPr>
            <a:r>
              <a:rPr lang="en-US" sz="1950" dirty="0">
                <a:solidFill>
                  <a:srgbClr val="1B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Evolução da integração Salesforce › Metranet › SAP para produtos Capital</a:t>
            </a:r>
            <a:endParaRPr lang="en-US" sz="1950" dirty="0"/>
          </a:p>
        </p:txBody>
      </p:sp>
      <p:sp>
        <p:nvSpPr>
          <p:cNvPr id="53" name="Text 51"/>
          <p:cNvSpPr/>
          <p:nvPr/>
        </p:nvSpPr>
        <p:spPr>
          <a:xfrm>
            <a:off x="8682930" y="7620000"/>
            <a:ext cx="351681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839"/>
              </a:lnSpc>
              <a:buNone/>
            </a:pPr>
            <a:r>
              <a:rPr lang="en-US" sz="1950" b="1" dirty="0">
                <a:solidFill>
                  <a:srgbClr val="B465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950" dirty="0"/>
          </a:p>
        </p:txBody>
      </p:sp>
      <p:sp>
        <p:nvSpPr>
          <p:cNvPr id="54" name="Text 52"/>
          <p:cNvSpPr/>
          <p:nvPr/>
        </p:nvSpPr>
        <p:spPr>
          <a:xfrm>
            <a:off x="9110811" y="7620000"/>
            <a:ext cx="9183365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839"/>
              </a:lnSpc>
              <a:buNone/>
            </a:pPr>
            <a:r>
              <a:rPr lang="en-US" sz="1950" dirty="0">
                <a:solidFill>
                  <a:srgbClr val="1B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Força-tarefa de revisão de oportunidades Salesforce (NW e NT): ~210 Ops*</a:t>
            </a:r>
            <a:endParaRPr lang="en-US" sz="1950" dirty="0"/>
          </a:p>
        </p:txBody>
      </p:sp>
      <p:sp>
        <p:nvSpPr>
          <p:cNvPr id="55" name="Text 53"/>
          <p:cNvSpPr/>
          <p:nvPr/>
        </p:nvSpPr>
        <p:spPr>
          <a:xfrm>
            <a:off x="8682930" y="8024812"/>
            <a:ext cx="351681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839"/>
              </a:lnSpc>
              <a:buNone/>
            </a:pPr>
            <a:r>
              <a:rPr lang="en-US" sz="1950" b="1" dirty="0">
                <a:solidFill>
                  <a:srgbClr val="B465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950" dirty="0"/>
          </a:p>
        </p:txBody>
      </p:sp>
      <p:sp>
        <p:nvSpPr>
          <p:cNvPr id="56" name="Text 54"/>
          <p:cNvSpPr/>
          <p:nvPr/>
        </p:nvSpPr>
        <p:spPr>
          <a:xfrm>
            <a:off x="9110811" y="8024812"/>
            <a:ext cx="6246555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839"/>
              </a:lnSpc>
              <a:buNone/>
            </a:pPr>
            <a:r>
              <a:rPr lang="en-US" sz="1950" dirty="0">
                <a:solidFill>
                  <a:srgbClr val="1B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Revisão das oportunidades Salesforce – Datawise+</a:t>
            </a:r>
            <a:endParaRPr lang="en-US" sz="1950" dirty="0"/>
          </a:p>
        </p:txBody>
      </p:sp>
      <p:sp>
        <p:nvSpPr>
          <p:cNvPr id="57" name="Text 55"/>
          <p:cNvSpPr/>
          <p:nvPr/>
        </p:nvSpPr>
        <p:spPr>
          <a:xfrm>
            <a:off x="8682930" y="8429625"/>
            <a:ext cx="351681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839"/>
              </a:lnSpc>
              <a:buNone/>
            </a:pPr>
            <a:r>
              <a:rPr lang="en-US" sz="1950" b="1" dirty="0">
                <a:solidFill>
                  <a:srgbClr val="B465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950" dirty="0"/>
          </a:p>
        </p:txBody>
      </p:sp>
      <p:sp>
        <p:nvSpPr>
          <p:cNvPr id="58" name="Text 56"/>
          <p:cNvSpPr/>
          <p:nvPr/>
        </p:nvSpPr>
        <p:spPr>
          <a:xfrm>
            <a:off x="9110811" y="8429625"/>
            <a:ext cx="6422871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839"/>
              </a:lnSpc>
              <a:buNone/>
            </a:pPr>
            <a:r>
              <a:rPr lang="en-US" sz="1950" dirty="0">
                <a:solidFill>
                  <a:srgbClr val="1B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Revisão de SKUs e nomenclaturas SAP – Datawise+</a:t>
            </a:r>
            <a:endParaRPr lang="en-US" sz="1950" dirty="0"/>
          </a:p>
        </p:txBody>
      </p:sp>
      <p:sp>
        <p:nvSpPr>
          <p:cNvPr id="59" name="Text 57"/>
          <p:cNvSpPr/>
          <p:nvPr/>
        </p:nvSpPr>
        <p:spPr>
          <a:xfrm>
            <a:off x="762000" y="9639300"/>
            <a:ext cx="230586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78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volume a confirmar</a:t>
            </a:r>
            <a:endParaRPr lang="en-US" sz="1800" dirty="0"/>
          </a:p>
        </p:txBody>
      </p:sp>
      <p:sp>
        <p:nvSpPr>
          <p:cNvPr id="60" name="Text 58"/>
          <p:cNvSpPr/>
          <p:nvPr/>
        </p:nvSpPr>
        <p:spPr>
          <a:xfrm>
            <a:off x="11899404" y="9639300"/>
            <a:ext cx="618925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78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INFORMAÇÃO INTERNA – INTERNAL INFORMATION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3E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714375"/>
            <a:ext cx="693986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spc="-75" kern="0" dirty="0">
                <a:solidFill>
                  <a:srgbClr val="0B1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[B]³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608386" y="533400"/>
            <a:ext cx="4740086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500" i="1" dirty="0">
                <a:solidFill>
                  <a:srgbClr val="0B1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Trillia – Evolução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12456914" y="847725"/>
            <a:ext cx="124509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A97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Cenário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3930610" y="847725"/>
            <a:ext cx="215214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A97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Em andamento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6191905" y="847725"/>
            <a:ext cx="146750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B1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Evolução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62000" y="1647825"/>
            <a:ext cx="16764000" cy="38100"/>
          </a:xfrm>
          <a:prstGeom prst="rect">
            <a:avLst/>
          </a:prstGeom>
          <a:solidFill>
            <a:srgbClr val="1E7A55"/>
          </a:solidFill>
          <a:ln/>
        </p:spPr>
      </p:sp>
      <p:sp>
        <p:nvSpPr>
          <p:cNvPr id="8" name="Text 6"/>
          <p:cNvSpPr/>
          <p:nvPr/>
        </p:nvSpPr>
        <p:spPr>
          <a:xfrm>
            <a:off x="762000" y="1952625"/>
            <a:ext cx="41523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1E7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253430" y="1914525"/>
            <a:ext cx="167705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1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Evolução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762000" y="2505075"/>
            <a:ext cx="1016939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7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Direcionamento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62000" y="2905125"/>
            <a:ext cx="225921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839"/>
              </a:lnSpc>
              <a:buNone/>
            </a:pPr>
            <a:r>
              <a:rPr lang="en-US" sz="1950" dirty="0">
                <a:solidFill>
                  <a:srgbClr val="1E7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064121" y="2905125"/>
            <a:ext cx="9293706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839"/>
              </a:lnSpc>
              <a:buNone/>
            </a:pPr>
            <a:r>
              <a:rPr lang="en-US" sz="1950" dirty="0">
                <a:solidFill>
                  <a:srgbClr val="1B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Validação ponta a ponta antes da produção, com teste em produção paralela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762000" y="3386138"/>
            <a:ext cx="225921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839"/>
              </a:lnSpc>
              <a:buNone/>
            </a:pPr>
            <a:r>
              <a:rPr lang="en-US" sz="1950" dirty="0">
                <a:solidFill>
                  <a:srgbClr val="1E7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064121" y="3386138"/>
            <a:ext cx="8450595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839"/>
              </a:lnSpc>
              <a:buNone/>
            </a:pPr>
            <a:r>
              <a:rPr lang="en-US" sz="1950" dirty="0">
                <a:solidFill>
                  <a:srgbClr val="1B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Acompanhamento contínuo do cronograma, dependências e entregas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762000" y="3867150"/>
            <a:ext cx="225921" cy="1266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839"/>
              </a:lnSpc>
              <a:buNone/>
            </a:pPr>
            <a:r>
              <a:rPr lang="en-US" sz="1950" dirty="0">
                <a:solidFill>
                  <a:srgbClr val="1E7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1064121" y="3867150"/>
            <a:ext cx="9211068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839"/>
              </a:lnSpc>
              <a:buNone/>
            </a:pPr>
            <a:r>
              <a:rPr lang="en-US" sz="1950" dirty="0">
                <a:solidFill>
                  <a:srgbClr val="1B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Bilhetagem única para Trillia (Listados e Balcão), trazendo Capital Markets para a mesma esteira de Neoway, Neurotech, Pdtec, Datastock e UIF</a:t>
            </a:r>
            <a:endParaRPr lang="en-US" sz="1950" dirty="0"/>
          </a:p>
        </p:txBody>
      </p:sp>
      <p:sp>
        <p:nvSpPr>
          <p:cNvPr id="17" name="Shape 15"/>
          <p:cNvSpPr/>
          <p:nvPr/>
        </p:nvSpPr>
        <p:spPr>
          <a:xfrm>
            <a:off x="1064121" y="4619625"/>
            <a:ext cx="1575495" cy="4762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1273671" y="4714875"/>
            <a:ext cx="123259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143"/>
              </a:lnSpc>
              <a:buNone/>
            </a:pPr>
            <a:r>
              <a:rPr lang="en-US" sz="1800" b="1" dirty="0">
                <a:solidFill>
                  <a:srgbClr val="0B1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Salesforce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2753916" y="4714875"/>
            <a:ext cx="1524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143"/>
              </a:lnSpc>
              <a:buNone/>
            </a:pPr>
            <a:r>
              <a:rPr lang="en-US" sz="1800" b="1" dirty="0">
                <a:solidFill>
                  <a:srgbClr val="0B1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2944416" y="4619625"/>
            <a:ext cx="2032546" cy="4762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3153966" y="4714875"/>
            <a:ext cx="168964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143"/>
              </a:lnSpc>
              <a:buNone/>
            </a:pPr>
            <a:r>
              <a:rPr lang="en-US" sz="1800" b="1" dirty="0">
                <a:solidFill>
                  <a:srgbClr val="0B1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Metranet Trillia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091261" y="4714875"/>
            <a:ext cx="1524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143"/>
              </a:lnSpc>
              <a:buNone/>
            </a:pPr>
            <a:r>
              <a:rPr lang="en-US" sz="1800" b="1" dirty="0">
                <a:solidFill>
                  <a:srgbClr val="0B1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5281761" y="4619625"/>
            <a:ext cx="889248" cy="4762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5491311" y="4714875"/>
            <a:ext cx="546348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143"/>
              </a:lnSpc>
              <a:buNone/>
            </a:pPr>
            <a:r>
              <a:rPr lang="en-US" sz="1800" b="1" dirty="0">
                <a:solidFill>
                  <a:srgbClr val="0B1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SAP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62000" y="5267325"/>
            <a:ext cx="225921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839"/>
              </a:lnSpc>
              <a:buNone/>
            </a:pPr>
            <a:r>
              <a:rPr lang="en-US" sz="1950" dirty="0">
                <a:solidFill>
                  <a:srgbClr val="1E7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</a:t>
            </a:r>
            <a:endParaRPr lang="en-US" sz="1950" dirty="0"/>
          </a:p>
        </p:txBody>
      </p:sp>
      <p:sp>
        <p:nvSpPr>
          <p:cNvPr id="26" name="Text 24"/>
          <p:cNvSpPr/>
          <p:nvPr/>
        </p:nvSpPr>
        <p:spPr>
          <a:xfrm>
            <a:off x="1064121" y="5267325"/>
            <a:ext cx="8813706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839"/>
              </a:lnSpc>
              <a:buNone/>
            </a:pPr>
            <a:r>
              <a:rPr lang="en-US" sz="1950" dirty="0">
                <a:solidFill>
                  <a:srgbClr val="1B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Evolução produto a produto: Capital Markets na nova esteira até jul/2027</a:t>
            </a:r>
            <a:endParaRPr lang="en-US" sz="1950" dirty="0"/>
          </a:p>
        </p:txBody>
      </p:sp>
      <p:sp>
        <p:nvSpPr>
          <p:cNvPr id="27" name="Text 25"/>
          <p:cNvSpPr/>
          <p:nvPr/>
        </p:nvSpPr>
        <p:spPr>
          <a:xfrm>
            <a:off x="762000" y="5748338"/>
            <a:ext cx="225921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839"/>
              </a:lnSpc>
              <a:buNone/>
            </a:pPr>
            <a:r>
              <a:rPr lang="en-US" sz="1950" dirty="0">
                <a:solidFill>
                  <a:srgbClr val="1E7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</a:t>
            </a:r>
            <a:endParaRPr lang="en-US" sz="1950" dirty="0"/>
          </a:p>
        </p:txBody>
      </p:sp>
      <p:sp>
        <p:nvSpPr>
          <p:cNvPr id="28" name="Text 26"/>
          <p:cNvSpPr/>
          <p:nvPr/>
        </p:nvSpPr>
        <p:spPr>
          <a:xfrm>
            <a:off x="1064121" y="5748338"/>
            <a:ext cx="9211068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839"/>
              </a:lnSpc>
              <a:buNone/>
            </a:pPr>
            <a:r>
              <a:rPr lang="en-US" sz="1950" dirty="0">
                <a:solidFill>
                  <a:srgbClr val="1B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Governança: novo produto só é cadastrado no Salesforce com fluxo de faturamento validado no Metranet e no SAP</a:t>
            </a:r>
            <a:endParaRPr lang="en-US" sz="1950" dirty="0"/>
          </a:p>
        </p:txBody>
      </p:sp>
      <p:sp>
        <p:nvSpPr>
          <p:cNvPr id="29" name="Text 27"/>
          <p:cNvSpPr/>
          <p:nvPr/>
        </p:nvSpPr>
        <p:spPr>
          <a:xfrm>
            <a:off x="762000" y="6538913"/>
            <a:ext cx="225921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839"/>
              </a:lnSpc>
              <a:buNone/>
            </a:pPr>
            <a:r>
              <a:rPr lang="en-US" sz="1950" dirty="0">
                <a:solidFill>
                  <a:srgbClr val="1E7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</a:t>
            </a:r>
            <a:endParaRPr lang="en-US" sz="1950" dirty="0"/>
          </a:p>
        </p:txBody>
      </p:sp>
      <p:sp>
        <p:nvSpPr>
          <p:cNvPr id="30" name="Text 28"/>
          <p:cNvSpPr/>
          <p:nvPr/>
        </p:nvSpPr>
        <p:spPr>
          <a:xfrm>
            <a:off x="1064121" y="6538913"/>
            <a:ext cx="9426639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839"/>
              </a:lnSpc>
              <a:buNone/>
            </a:pPr>
            <a:r>
              <a:rPr lang="en-US" sz="1950" dirty="0">
                <a:solidFill>
                  <a:srgbClr val="1B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Atendimento unificado Capital + Trillia, com canal e SLA de resposta definidos</a:t>
            </a:r>
            <a:endParaRPr lang="en-US" sz="1950" dirty="0"/>
          </a:p>
        </p:txBody>
      </p:sp>
      <p:sp>
        <p:nvSpPr>
          <p:cNvPr id="31" name="Shape 29"/>
          <p:cNvSpPr/>
          <p:nvPr/>
        </p:nvSpPr>
        <p:spPr>
          <a:xfrm>
            <a:off x="10692705" y="2505075"/>
            <a:ext cx="6833295" cy="47815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11035605" y="2809875"/>
            <a:ext cx="676224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7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 esperado após implantação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11035605" y="3248025"/>
            <a:ext cx="261789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839"/>
              </a:lnSpc>
              <a:buNone/>
            </a:pPr>
            <a:r>
              <a:rPr lang="en-US" sz="1950" b="1" dirty="0">
                <a:solidFill>
                  <a:srgbClr val="1E7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950" dirty="0"/>
          </a:p>
        </p:txBody>
      </p:sp>
      <p:sp>
        <p:nvSpPr>
          <p:cNvPr id="34" name="Text 32"/>
          <p:cNvSpPr/>
          <p:nvPr/>
        </p:nvSpPr>
        <p:spPr>
          <a:xfrm>
            <a:off x="11354544" y="3248025"/>
            <a:ext cx="4876458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839"/>
              </a:lnSpc>
              <a:buNone/>
            </a:pPr>
            <a:r>
              <a:rPr lang="en-US" sz="1950" dirty="0">
                <a:solidFill>
                  <a:srgbClr val="1B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Jornada rastreável da venda à cobrança</a:t>
            </a:r>
            <a:endParaRPr lang="en-US" sz="1950" dirty="0"/>
          </a:p>
        </p:txBody>
      </p:sp>
      <p:sp>
        <p:nvSpPr>
          <p:cNvPr id="35" name="Text 33"/>
          <p:cNvSpPr/>
          <p:nvPr/>
        </p:nvSpPr>
        <p:spPr>
          <a:xfrm>
            <a:off x="11035605" y="3690937"/>
            <a:ext cx="261789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839"/>
              </a:lnSpc>
              <a:buNone/>
            </a:pPr>
            <a:r>
              <a:rPr lang="en-US" sz="1950" b="1" dirty="0">
                <a:solidFill>
                  <a:srgbClr val="1E7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950" dirty="0"/>
          </a:p>
        </p:txBody>
      </p:sp>
      <p:sp>
        <p:nvSpPr>
          <p:cNvPr id="36" name="Text 34"/>
          <p:cNvSpPr/>
          <p:nvPr/>
        </p:nvSpPr>
        <p:spPr>
          <a:xfrm>
            <a:off x="11354544" y="3690937"/>
            <a:ext cx="4604206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839"/>
              </a:lnSpc>
              <a:buNone/>
            </a:pPr>
            <a:r>
              <a:rPr lang="en-US" sz="1950" dirty="0">
                <a:solidFill>
                  <a:srgbClr val="1B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Cobrança validada antes da produção</a:t>
            </a:r>
            <a:endParaRPr lang="en-US" sz="1950" dirty="0"/>
          </a:p>
        </p:txBody>
      </p:sp>
      <p:sp>
        <p:nvSpPr>
          <p:cNvPr id="37" name="Text 35"/>
          <p:cNvSpPr/>
          <p:nvPr/>
        </p:nvSpPr>
        <p:spPr>
          <a:xfrm>
            <a:off x="11035605" y="4133850"/>
            <a:ext cx="261789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839"/>
              </a:lnSpc>
              <a:buNone/>
            </a:pPr>
            <a:r>
              <a:rPr lang="en-US" sz="1950" b="1" dirty="0">
                <a:solidFill>
                  <a:srgbClr val="1E7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950" dirty="0"/>
          </a:p>
        </p:txBody>
      </p:sp>
      <p:sp>
        <p:nvSpPr>
          <p:cNvPr id="38" name="Text 36"/>
          <p:cNvSpPr/>
          <p:nvPr/>
        </p:nvSpPr>
        <p:spPr>
          <a:xfrm>
            <a:off x="11354544" y="4133850"/>
            <a:ext cx="4255175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839"/>
              </a:lnSpc>
              <a:buNone/>
            </a:pPr>
            <a:r>
              <a:rPr lang="en-US" sz="1950" dirty="0">
                <a:solidFill>
                  <a:srgbClr val="1B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Menos ajustes e retrabalho manual</a:t>
            </a:r>
            <a:endParaRPr lang="en-US" sz="1950" dirty="0"/>
          </a:p>
        </p:txBody>
      </p:sp>
      <p:sp>
        <p:nvSpPr>
          <p:cNvPr id="39" name="Text 37"/>
          <p:cNvSpPr/>
          <p:nvPr/>
        </p:nvSpPr>
        <p:spPr>
          <a:xfrm>
            <a:off x="11035605" y="4576763"/>
            <a:ext cx="261789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839"/>
              </a:lnSpc>
              <a:buNone/>
            </a:pPr>
            <a:r>
              <a:rPr lang="en-US" sz="1950" b="1" dirty="0">
                <a:solidFill>
                  <a:srgbClr val="1E7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950" dirty="0"/>
          </a:p>
        </p:txBody>
      </p:sp>
      <p:sp>
        <p:nvSpPr>
          <p:cNvPr id="40" name="Text 38"/>
          <p:cNvSpPr/>
          <p:nvPr/>
        </p:nvSpPr>
        <p:spPr>
          <a:xfrm>
            <a:off x="11354544" y="4576763"/>
            <a:ext cx="5936159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839"/>
              </a:lnSpc>
              <a:buNone/>
            </a:pPr>
            <a:r>
              <a:rPr lang="en-US" sz="1950" dirty="0">
                <a:solidFill>
                  <a:srgbClr val="1B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Menor risco de divergência e de não faturamento</a:t>
            </a:r>
            <a:endParaRPr lang="en-US" sz="1950" dirty="0"/>
          </a:p>
        </p:txBody>
      </p:sp>
      <p:sp>
        <p:nvSpPr>
          <p:cNvPr id="41" name="Text 39"/>
          <p:cNvSpPr/>
          <p:nvPr/>
        </p:nvSpPr>
        <p:spPr>
          <a:xfrm>
            <a:off x="11035605" y="5019675"/>
            <a:ext cx="261789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839"/>
              </a:lnSpc>
              <a:buNone/>
            </a:pPr>
            <a:r>
              <a:rPr lang="en-US" sz="1950" b="1" dirty="0">
                <a:solidFill>
                  <a:srgbClr val="1E7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950" dirty="0"/>
          </a:p>
        </p:txBody>
      </p:sp>
      <p:sp>
        <p:nvSpPr>
          <p:cNvPr id="42" name="Text 40"/>
          <p:cNvSpPr/>
          <p:nvPr/>
        </p:nvSpPr>
        <p:spPr>
          <a:xfrm>
            <a:off x="11354544" y="5019675"/>
            <a:ext cx="5345817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839"/>
              </a:lnSpc>
              <a:buNone/>
            </a:pPr>
            <a:r>
              <a:rPr lang="en-US" sz="1950" dirty="0">
                <a:solidFill>
                  <a:srgbClr val="1B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Relatório de itens recebidos e não faturados</a:t>
            </a:r>
            <a:endParaRPr lang="en-US" sz="1950" dirty="0"/>
          </a:p>
        </p:txBody>
      </p:sp>
      <p:sp>
        <p:nvSpPr>
          <p:cNvPr id="43" name="Text 41"/>
          <p:cNvSpPr/>
          <p:nvPr/>
        </p:nvSpPr>
        <p:spPr>
          <a:xfrm>
            <a:off x="11035605" y="5462588"/>
            <a:ext cx="261789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839"/>
              </a:lnSpc>
              <a:buNone/>
            </a:pPr>
            <a:r>
              <a:rPr lang="en-US" sz="1950" b="1" dirty="0">
                <a:solidFill>
                  <a:srgbClr val="1E7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950" dirty="0"/>
          </a:p>
        </p:txBody>
      </p:sp>
      <p:sp>
        <p:nvSpPr>
          <p:cNvPr id="44" name="Text 42"/>
          <p:cNvSpPr/>
          <p:nvPr/>
        </p:nvSpPr>
        <p:spPr>
          <a:xfrm>
            <a:off x="11354544" y="5462588"/>
            <a:ext cx="4709636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839"/>
              </a:lnSpc>
              <a:buNone/>
            </a:pPr>
            <a:r>
              <a:rPr lang="en-US" sz="1950" dirty="0">
                <a:solidFill>
                  <a:srgbClr val="1B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Indicadores e responsabilidades claros</a:t>
            </a:r>
            <a:endParaRPr lang="en-US" sz="1950" dirty="0"/>
          </a:p>
        </p:txBody>
      </p:sp>
      <p:sp>
        <p:nvSpPr>
          <p:cNvPr id="45" name="Text 43"/>
          <p:cNvSpPr/>
          <p:nvPr/>
        </p:nvSpPr>
        <p:spPr>
          <a:xfrm>
            <a:off x="11035605" y="5905500"/>
            <a:ext cx="261789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839"/>
              </a:lnSpc>
              <a:buNone/>
            </a:pPr>
            <a:r>
              <a:rPr lang="en-US" sz="1950" b="1" dirty="0">
                <a:solidFill>
                  <a:srgbClr val="1E7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950" dirty="0"/>
          </a:p>
        </p:txBody>
      </p:sp>
      <p:sp>
        <p:nvSpPr>
          <p:cNvPr id="46" name="Text 44"/>
          <p:cNvSpPr/>
          <p:nvPr/>
        </p:nvSpPr>
        <p:spPr>
          <a:xfrm>
            <a:off x="11354544" y="5905500"/>
            <a:ext cx="6003413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839"/>
              </a:lnSpc>
              <a:buNone/>
            </a:pPr>
            <a:r>
              <a:rPr lang="en-US" sz="1950" dirty="0">
                <a:solidFill>
                  <a:srgbClr val="1B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Redução de dores na jornada de vendas e atendimento</a:t>
            </a:r>
            <a:endParaRPr lang="en-US" sz="1950" dirty="0"/>
          </a:p>
        </p:txBody>
      </p:sp>
      <p:sp>
        <p:nvSpPr>
          <p:cNvPr id="47" name="Text 45"/>
          <p:cNvSpPr/>
          <p:nvPr/>
        </p:nvSpPr>
        <p:spPr>
          <a:xfrm>
            <a:off x="11035605" y="6715125"/>
            <a:ext cx="676224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1E7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Benefícios medidos via indicadores antes × depois</a:t>
            </a:r>
            <a:endParaRPr lang="en-US" sz="1800" dirty="0"/>
          </a:p>
        </p:txBody>
      </p:sp>
      <p:sp>
        <p:nvSpPr>
          <p:cNvPr id="48" name="Text 46"/>
          <p:cNvSpPr/>
          <p:nvPr/>
        </p:nvSpPr>
        <p:spPr>
          <a:xfrm>
            <a:off x="11899404" y="9639300"/>
            <a:ext cx="618925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78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INFORMAÇÃO INTERNA – INTERNAL INFORMATION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3E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609600"/>
            <a:ext cx="693986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spc="-75" kern="0" dirty="0">
                <a:solidFill>
                  <a:srgbClr val="0B1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[B]³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608386" y="457200"/>
            <a:ext cx="11967270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0B1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Cronograma de atividades – Datawise Plus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762000" y="1381125"/>
            <a:ext cx="16764000" cy="73437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381125"/>
            <a:ext cx="16764000" cy="800100"/>
          </a:xfrm>
          <a:prstGeom prst="rect">
            <a:avLst/>
          </a:prstGeom>
          <a:solidFill>
            <a:srgbClr val="0B1E5B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800225"/>
            <a:ext cx="11049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247900" y="1800225"/>
            <a:ext cx="440436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ATIVIDADE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19900" y="1800225"/>
            <a:ext cx="21526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RESPONSÁVEL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048750" y="1381125"/>
            <a:ext cx="9525" cy="419100"/>
          </a:xfrm>
          <a:prstGeom prst="rect">
            <a:avLst/>
          </a:prstGeom>
          <a:solidFill>
            <a:srgbClr val="2A3F86"/>
          </a:solidFill>
          <a:ln/>
        </p:spPr>
      </p:sp>
      <p:sp>
        <p:nvSpPr>
          <p:cNvPr id="10" name="Text 8"/>
          <p:cNvSpPr/>
          <p:nvPr/>
        </p:nvSpPr>
        <p:spPr>
          <a:xfrm>
            <a:off x="8928006" y="1457325"/>
            <a:ext cx="286592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1663660" y="1457325"/>
            <a:ext cx="9525" cy="266700"/>
          </a:xfrm>
          <a:prstGeom prst="rect">
            <a:avLst/>
          </a:prstGeom>
          <a:solidFill>
            <a:srgbClr val="2A3F86"/>
          </a:solidFill>
          <a:ln/>
        </p:spPr>
      </p:sp>
      <p:sp>
        <p:nvSpPr>
          <p:cNvPr id="12" name="Text 10"/>
          <p:cNvSpPr/>
          <p:nvPr/>
        </p:nvSpPr>
        <p:spPr>
          <a:xfrm>
            <a:off x="11542916" y="1457325"/>
            <a:ext cx="285639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4269045" y="1457325"/>
            <a:ext cx="9525" cy="266700"/>
          </a:xfrm>
          <a:prstGeom prst="rect">
            <a:avLst/>
          </a:prstGeom>
          <a:solidFill>
            <a:srgbClr val="2A3F86"/>
          </a:solidFill>
          <a:ln/>
        </p:spPr>
      </p:sp>
      <p:sp>
        <p:nvSpPr>
          <p:cNvPr id="14" name="Text 12"/>
          <p:cNvSpPr/>
          <p:nvPr/>
        </p:nvSpPr>
        <p:spPr>
          <a:xfrm>
            <a:off x="14115730" y="1457325"/>
            <a:ext cx="357296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9048750" y="1800225"/>
            <a:ext cx="8477250" cy="381000"/>
          </a:xfrm>
          <a:prstGeom prst="rect">
            <a:avLst/>
          </a:prstGeom>
          <a:solidFill>
            <a:srgbClr val="2462B5"/>
          </a:solidFill>
          <a:ln/>
        </p:spPr>
      </p:sp>
      <p:sp>
        <p:nvSpPr>
          <p:cNvPr id="16" name="Text 14"/>
          <p:cNvSpPr/>
          <p:nvPr/>
        </p:nvSpPr>
        <p:spPr>
          <a:xfrm>
            <a:off x="9010650" y="1857375"/>
            <a:ext cx="72821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662666" y="1857375"/>
            <a:ext cx="72836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314831" y="1857375"/>
            <a:ext cx="72821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966847" y="1857375"/>
            <a:ext cx="72836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1619012" y="1857375"/>
            <a:ext cx="72821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2271028" y="1857375"/>
            <a:ext cx="72836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2923193" y="1857375"/>
            <a:ext cx="72821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3575209" y="1857375"/>
            <a:ext cx="72836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4227373" y="1857375"/>
            <a:ext cx="72821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4879389" y="1857375"/>
            <a:ext cx="72836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5531554" y="1857375"/>
            <a:ext cx="72821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6183570" y="1857375"/>
            <a:ext cx="72836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6835735" y="1857375"/>
            <a:ext cx="72836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762000" y="3800475"/>
            <a:ext cx="16764000" cy="19050"/>
          </a:xfrm>
          <a:prstGeom prst="rect">
            <a:avLst/>
          </a:prstGeom>
          <a:solidFill>
            <a:srgbClr val="0B1E5B"/>
          </a:solidFill>
          <a:ln/>
        </p:spPr>
      </p:sp>
      <p:sp>
        <p:nvSpPr>
          <p:cNvPr id="30" name="Shape 28"/>
          <p:cNvSpPr/>
          <p:nvPr/>
        </p:nvSpPr>
        <p:spPr>
          <a:xfrm>
            <a:off x="762000" y="2181225"/>
            <a:ext cx="1333500" cy="1619250"/>
          </a:xfrm>
          <a:prstGeom prst="rect">
            <a:avLst/>
          </a:prstGeom>
          <a:solidFill>
            <a:srgbClr val="F0B26B"/>
          </a:solidFill>
          <a:ln/>
        </p:spPr>
      </p:sp>
      <p:sp>
        <p:nvSpPr>
          <p:cNvPr id="31" name="Text 29"/>
          <p:cNvSpPr/>
          <p:nvPr/>
        </p:nvSpPr>
        <p:spPr>
          <a:xfrm>
            <a:off x="914400" y="2295525"/>
            <a:ext cx="1104900" cy="1428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B1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Metranet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2095500" y="2714625"/>
            <a:ext cx="15430500" cy="9525"/>
          </a:xfrm>
          <a:prstGeom prst="rect">
            <a:avLst/>
          </a:prstGeom>
          <a:solidFill>
            <a:srgbClr val="D3DEEC"/>
          </a:solidFill>
          <a:ln/>
        </p:spPr>
      </p:sp>
      <p:sp>
        <p:nvSpPr>
          <p:cNvPr id="33" name="Text 31"/>
          <p:cNvSpPr/>
          <p:nvPr/>
        </p:nvSpPr>
        <p:spPr>
          <a:xfrm>
            <a:off x="2247900" y="2322165"/>
            <a:ext cx="4724400" cy="2894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286"/>
              </a:lnSpc>
              <a:buNone/>
            </a:pPr>
            <a:r>
              <a:rPr lang="en-US" sz="1800" dirty="0">
                <a:solidFill>
                  <a:srgbClr val="1B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Definir e aprovar orçamento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6819900" y="2314575"/>
            <a:ext cx="231457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4A5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Leandro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9048750" y="2181225"/>
            <a:ext cx="8477250" cy="533400"/>
          </a:xfrm>
          <a:prstGeom prst="rect">
            <a:avLst/>
          </a:prstGeom>
          <a:gradFill rotWithShape="1">
            <a:gsLst>
              <a:gs pos="0">
                <a:srgbClr val="D3DEEC">
                  <a:alpha val="100000"/>
                </a:srgbClr>
              </a:gs>
              <a:gs pos="100000">
                <a:srgbClr val="D3DEEC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36" name="Shape 34"/>
          <p:cNvSpPr/>
          <p:nvPr/>
        </p:nvSpPr>
        <p:spPr>
          <a:xfrm>
            <a:off x="9105900" y="2343150"/>
            <a:ext cx="1189881" cy="209550"/>
          </a:xfrm>
          <a:prstGeom prst="roundRect">
            <a:avLst>
              <a:gd name="adj" fmla="val 50000"/>
            </a:avLst>
          </a:prstGeom>
          <a:solidFill>
            <a:srgbClr val="0B1E5B"/>
          </a:solidFill>
          <a:ln/>
        </p:spPr>
      </p:sp>
      <p:sp>
        <p:nvSpPr>
          <p:cNvPr id="37" name="Text 35"/>
          <p:cNvSpPr/>
          <p:nvPr/>
        </p:nvSpPr>
        <p:spPr>
          <a:xfrm>
            <a:off x="10391031" y="2314575"/>
            <a:ext cx="139649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B1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17/09*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2095500" y="3257550"/>
            <a:ext cx="15430500" cy="9525"/>
          </a:xfrm>
          <a:prstGeom prst="rect">
            <a:avLst/>
          </a:prstGeom>
          <a:solidFill>
            <a:srgbClr val="D3DEEC"/>
          </a:solidFill>
          <a:ln/>
        </p:spPr>
      </p:sp>
      <p:sp>
        <p:nvSpPr>
          <p:cNvPr id="39" name="Text 37"/>
          <p:cNvSpPr/>
          <p:nvPr/>
        </p:nvSpPr>
        <p:spPr>
          <a:xfrm>
            <a:off x="2247900" y="2865090"/>
            <a:ext cx="4724400" cy="2894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286"/>
              </a:lnSpc>
              <a:buNone/>
            </a:pPr>
            <a:r>
              <a:rPr lang="en-US" sz="1800" dirty="0">
                <a:solidFill>
                  <a:srgbClr val="1B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Construir novo Metranet – Trillia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6819900" y="2857500"/>
            <a:ext cx="231457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4A5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Vitor Lima / Living</a:t>
            </a:r>
            <a:endParaRPr lang="en-US" sz="1800" dirty="0"/>
          </a:p>
        </p:txBody>
      </p:sp>
      <p:sp>
        <p:nvSpPr>
          <p:cNvPr id="41" name="Shape 39"/>
          <p:cNvSpPr/>
          <p:nvPr/>
        </p:nvSpPr>
        <p:spPr>
          <a:xfrm>
            <a:off x="9048750" y="2724150"/>
            <a:ext cx="8477250" cy="533400"/>
          </a:xfrm>
          <a:prstGeom prst="rect">
            <a:avLst/>
          </a:prstGeom>
          <a:gradFill rotWithShape="1">
            <a:gsLst>
              <a:gs pos="0">
                <a:srgbClr val="D3DEEC">
                  <a:alpha val="100000"/>
                </a:srgbClr>
              </a:gs>
              <a:gs pos="100000">
                <a:srgbClr val="D3DEEC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42" name="Shape 40"/>
          <p:cNvSpPr/>
          <p:nvPr/>
        </p:nvSpPr>
        <p:spPr>
          <a:xfrm>
            <a:off x="10410081" y="2886075"/>
            <a:ext cx="3798243" cy="209550"/>
          </a:xfrm>
          <a:prstGeom prst="roundRect">
            <a:avLst>
              <a:gd name="adj" fmla="val 50000"/>
            </a:avLst>
          </a:prstGeom>
          <a:solidFill>
            <a:srgbClr val="D9822B"/>
          </a:solidFill>
          <a:ln/>
        </p:spPr>
      </p:sp>
      <p:sp>
        <p:nvSpPr>
          <p:cNvPr id="43" name="Text 41"/>
          <p:cNvSpPr/>
          <p:nvPr/>
        </p:nvSpPr>
        <p:spPr>
          <a:xfrm>
            <a:off x="14303573" y="2857500"/>
            <a:ext cx="211371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B465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30/10 · 1ª entrega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2247900" y="3408015"/>
            <a:ext cx="4724400" cy="2894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286"/>
              </a:lnSpc>
              <a:buNone/>
            </a:pPr>
            <a:r>
              <a:rPr lang="en-US" sz="1800" dirty="0">
                <a:solidFill>
                  <a:srgbClr val="1B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Integrar Salesforce ao Metranet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6819900" y="3400425"/>
            <a:ext cx="231457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4A5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Marija</a:t>
            </a:r>
            <a:endParaRPr lang="en-US" sz="1800" dirty="0"/>
          </a:p>
        </p:txBody>
      </p:sp>
      <p:sp>
        <p:nvSpPr>
          <p:cNvPr id="46" name="Shape 44"/>
          <p:cNvSpPr/>
          <p:nvPr/>
        </p:nvSpPr>
        <p:spPr>
          <a:xfrm>
            <a:off x="9048750" y="3267075"/>
            <a:ext cx="8477250" cy="533400"/>
          </a:xfrm>
          <a:prstGeom prst="rect">
            <a:avLst/>
          </a:prstGeom>
          <a:gradFill rotWithShape="1">
            <a:gsLst>
              <a:gs pos="0">
                <a:srgbClr val="D3DEEC">
                  <a:alpha val="100000"/>
                </a:srgbClr>
              </a:gs>
              <a:gs pos="100000">
                <a:srgbClr val="D3DEEC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47" name="Shape 45"/>
          <p:cNvSpPr/>
          <p:nvPr/>
        </p:nvSpPr>
        <p:spPr>
          <a:xfrm>
            <a:off x="9105900" y="3429000"/>
            <a:ext cx="2494062" cy="209550"/>
          </a:xfrm>
          <a:prstGeom prst="roundRect">
            <a:avLst>
              <a:gd name="adj" fmla="val 50000"/>
            </a:avLst>
          </a:prstGeom>
          <a:solidFill>
            <a:srgbClr val="0B1E5B"/>
          </a:solidFill>
          <a:ln/>
        </p:spPr>
      </p:sp>
      <p:sp>
        <p:nvSpPr>
          <p:cNvPr id="48" name="Text 46"/>
          <p:cNvSpPr/>
          <p:nvPr/>
        </p:nvSpPr>
        <p:spPr>
          <a:xfrm>
            <a:off x="11695212" y="3400425"/>
            <a:ext cx="139649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B1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02/10</a:t>
            </a:r>
            <a:endParaRPr lang="en-US" sz="1800" dirty="0"/>
          </a:p>
        </p:txBody>
      </p:sp>
      <p:sp>
        <p:nvSpPr>
          <p:cNvPr id="49" name="Shape 47"/>
          <p:cNvSpPr/>
          <p:nvPr/>
        </p:nvSpPr>
        <p:spPr>
          <a:xfrm>
            <a:off x="762000" y="4352925"/>
            <a:ext cx="16764000" cy="19050"/>
          </a:xfrm>
          <a:prstGeom prst="rect">
            <a:avLst/>
          </a:prstGeom>
          <a:solidFill>
            <a:srgbClr val="0B1E5B"/>
          </a:solidFill>
          <a:ln/>
        </p:spPr>
      </p:sp>
      <p:sp>
        <p:nvSpPr>
          <p:cNvPr id="50" name="Shape 48"/>
          <p:cNvSpPr/>
          <p:nvPr/>
        </p:nvSpPr>
        <p:spPr>
          <a:xfrm>
            <a:off x="762000" y="3819525"/>
            <a:ext cx="1333500" cy="533400"/>
          </a:xfrm>
          <a:prstGeom prst="rect">
            <a:avLst/>
          </a:prstGeom>
          <a:solidFill>
            <a:srgbClr val="9CC3EE"/>
          </a:solidFill>
          <a:ln/>
        </p:spPr>
      </p:sp>
      <p:sp>
        <p:nvSpPr>
          <p:cNvPr id="51" name="Text 49"/>
          <p:cNvSpPr/>
          <p:nvPr/>
        </p:nvSpPr>
        <p:spPr>
          <a:xfrm>
            <a:off x="914400" y="3933825"/>
            <a:ext cx="11049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B1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Salesforce</a:t>
            </a:r>
            <a:endParaRPr lang="en-US" sz="1800" dirty="0"/>
          </a:p>
        </p:txBody>
      </p:sp>
      <p:sp>
        <p:nvSpPr>
          <p:cNvPr id="52" name="Text 50"/>
          <p:cNvSpPr/>
          <p:nvPr/>
        </p:nvSpPr>
        <p:spPr>
          <a:xfrm>
            <a:off x="2247900" y="3960465"/>
            <a:ext cx="4724400" cy="2894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286"/>
              </a:lnSpc>
              <a:buNone/>
            </a:pPr>
            <a:r>
              <a:rPr lang="en-US" sz="1800" dirty="0">
                <a:solidFill>
                  <a:srgbClr val="1B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Validar oportunidades e rateios</a:t>
            </a:r>
            <a:endParaRPr lang="en-US" sz="1800" dirty="0"/>
          </a:p>
        </p:txBody>
      </p:sp>
      <p:sp>
        <p:nvSpPr>
          <p:cNvPr id="53" name="Text 51"/>
          <p:cNvSpPr/>
          <p:nvPr/>
        </p:nvSpPr>
        <p:spPr>
          <a:xfrm>
            <a:off x="6819900" y="3952875"/>
            <a:ext cx="231457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4A5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Flavia</a:t>
            </a:r>
            <a:endParaRPr lang="en-US" sz="1800" dirty="0"/>
          </a:p>
        </p:txBody>
      </p:sp>
      <p:sp>
        <p:nvSpPr>
          <p:cNvPr id="54" name="Shape 52"/>
          <p:cNvSpPr/>
          <p:nvPr/>
        </p:nvSpPr>
        <p:spPr>
          <a:xfrm>
            <a:off x="9048750" y="3819525"/>
            <a:ext cx="8477250" cy="533400"/>
          </a:xfrm>
          <a:prstGeom prst="rect">
            <a:avLst/>
          </a:prstGeom>
          <a:gradFill rotWithShape="1">
            <a:gsLst>
              <a:gs pos="0">
                <a:srgbClr val="D3DEEC">
                  <a:alpha val="100000"/>
                </a:srgbClr>
              </a:gs>
              <a:gs pos="100000">
                <a:srgbClr val="D3DEEC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55" name="Shape 53"/>
          <p:cNvSpPr/>
          <p:nvPr/>
        </p:nvSpPr>
        <p:spPr>
          <a:xfrm>
            <a:off x="9105900" y="3981450"/>
            <a:ext cx="2494062" cy="209550"/>
          </a:xfrm>
          <a:prstGeom prst="roundRect">
            <a:avLst>
              <a:gd name="adj" fmla="val 50000"/>
            </a:avLst>
          </a:prstGeom>
          <a:solidFill>
            <a:srgbClr val="0B1E5B"/>
          </a:solidFill>
          <a:ln/>
        </p:spPr>
      </p:sp>
      <p:sp>
        <p:nvSpPr>
          <p:cNvPr id="56" name="Text 54"/>
          <p:cNvSpPr/>
          <p:nvPr/>
        </p:nvSpPr>
        <p:spPr>
          <a:xfrm>
            <a:off x="11695212" y="3952875"/>
            <a:ext cx="139649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B1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02/10</a:t>
            </a:r>
            <a:endParaRPr lang="en-US" sz="1800" dirty="0"/>
          </a:p>
        </p:txBody>
      </p:sp>
      <p:sp>
        <p:nvSpPr>
          <p:cNvPr id="57" name="Shape 55"/>
          <p:cNvSpPr/>
          <p:nvPr/>
        </p:nvSpPr>
        <p:spPr>
          <a:xfrm>
            <a:off x="762000" y="5991225"/>
            <a:ext cx="16764000" cy="19050"/>
          </a:xfrm>
          <a:prstGeom prst="rect">
            <a:avLst/>
          </a:prstGeom>
          <a:solidFill>
            <a:srgbClr val="0B1E5B"/>
          </a:solidFill>
          <a:ln/>
        </p:spPr>
      </p:sp>
      <p:sp>
        <p:nvSpPr>
          <p:cNvPr id="58" name="Shape 56"/>
          <p:cNvSpPr/>
          <p:nvPr/>
        </p:nvSpPr>
        <p:spPr>
          <a:xfrm>
            <a:off x="762000" y="4371975"/>
            <a:ext cx="1333500" cy="1619250"/>
          </a:xfrm>
          <a:prstGeom prst="rect">
            <a:avLst/>
          </a:prstGeom>
          <a:solidFill>
            <a:srgbClr val="A9D8C2"/>
          </a:solidFill>
          <a:ln/>
        </p:spPr>
      </p:sp>
      <p:sp>
        <p:nvSpPr>
          <p:cNvPr id="59" name="Text 57"/>
          <p:cNvSpPr/>
          <p:nvPr/>
        </p:nvSpPr>
        <p:spPr>
          <a:xfrm>
            <a:off x="914400" y="4486275"/>
            <a:ext cx="1104900" cy="1428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B1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SAP</a:t>
            </a:r>
            <a:endParaRPr lang="en-US" sz="1800" dirty="0"/>
          </a:p>
        </p:txBody>
      </p:sp>
      <p:sp>
        <p:nvSpPr>
          <p:cNvPr id="60" name="Shape 58"/>
          <p:cNvSpPr/>
          <p:nvPr/>
        </p:nvSpPr>
        <p:spPr>
          <a:xfrm>
            <a:off x="2095500" y="4905375"/>
            <a:ext cx="15430500" cy="9525"/>
          </a:xfrm>
          <a:prstGeom prst="rect">
            <a:avLst/>
          </a:prstGeom>
          <a:solidFill>
            <a:srgbClr val="D3DEEC"/>
          </a:solidFill>
          <a:ln/>
        </p:spPr>
      </p:sp>
      <p:sp>
        <p:nvSpPr>
          <p:cNvPr id="61" name="Text 59"/>
          <p:cNvSpPr/>
          <p:nvPr/>
        </p:nvSpPr>
        <p:spPr>
          <a:xfrm>
            <a:off x="2247900" y="4512915"/>
            <a:ext cx="4724400" cy="2894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286"/>
              </a:lnSpc>
              <a:buNone/>
            </a:pPr>
            <a:r>
              <a:rPr lang="en-US" sz="1800" dirty="0">
                <a:solidFill>
                  <a:srgbClr val="1B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Revisar materiais e SKUs</a:t>
            </a:r>
            <a:endParaRPr lang="en-US" sz="1800" dirty="0"/>
          </a:p>
        </p:txBody>
      </p:sp>
      <p:sp>
        <p:nvSpPr>
          <p:cNvPr id="62" name="Text 60"/>
          <p:cNvSpPr/>
          <p:nvPr/>
        </p:nvSpPr>
        <p:spPr>
          <a:xfrm>
            <a:off x="6819900" y="4505325"/>
            <a:ext cx="231457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4A5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Phelipe</a:t>
            </a:r>
            <a:endParaRPr lang="en-US" sz="1800" dirty="0"/>
          </a:p>
        </p:txBody>
      </p:sp>
      <p:sp>
        <p:nvSpPr>
          <p:cNvPr id="63" name="Shape 61"/>
          <p:cNvSpPr/>
          <p:nvPr/>
        </p:nvSpPr>
        <p:spPr>
          <a:xfrm>
            <a:off x="9048750" y="4371975"/>
            <a:ext cx="8477250" cy="533400"/>
          </a:xfrm>
          <a:prstGeom prst="rect">
            <a:avLst/>
          </a:prstGeom>
          <a:gradFill rotWithShape="1">
            <a:gsLst>
              <a:gs pos="0">
                <a:srgbClr val="D3DEEC">
                  <a:alpha val="100000"/>
                </a:srgbClr>
              </a:gs>
              <a:gs pos="100000">
                <a:srgbClr val="D3DEEC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64" name="Shape 62"/>
          <p:cNvSpPr/>
          <p:nvPr/>
        </p:nvSpPr>
        <p:spPr>
          <a:xfrm>
            <a:off x="9757916" y="4533900"/>
            <a:ext cx="1842046" cy="209550"/>
          </a:xfrm>
          <a:prstGeom prst="roundRect">
            <a:avLst>
              <a:gd name="adj" fmla="val 50000"/>
            </a:avLst>
          </a:prstGeom>
          <a:solidFill>
            <a:srgbClr val="0B1E5B"/>
          </a:solidFill>
          <a:ln/>
        </p:spPr>
      </p:sp>
      <p:sp>
        <p:nvSpPr>
          <p:cNvPr id="65" name="Text 63"/>
          <p:cNvSpPr/>
          <p:nvPr/>
        </p:nvSpPr>
        <p:spPr>
          <a:xfrm>
            <a:off x="11695212" y="4505325"/>
            <a:ext cx="139649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B1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02/10</a:t>
            </a:r>
            <a:endParaRPr lang="en-US" sz="1800" dirty="0"/>
          </a:p>
        </p:txBody>
      </p:sp>
      <p:sp>
        <p:nvSpPr>
          <p:cNvPr id="66" name="Shape 64"/>
          <p:cNvSpPr/>
          <p:nvPr/>
        </p:nvSpPr>
        <p:spPr>
          <a:xfrm>
            <a:off x="2095500" y="5448300"/>
            <a:ext cx="15430500" cy="9525"/>
          </a:xfrm>
          <a:prstGeom prst="rect">
            <a:avLst/>
          </a:prstGeom>
          <a:solidFill>
            <a:srgbClr val="D3DEEC"/>
          </a:solidFill>
          <a:ln/>
        </p:spPr>
      </p:sp>
      <p:sp>
        <p:nvSpPr>
          <p:cNvPr id="67" name="Text 65"/>
          <p:cNvSpPr/>
          <p:nvPr/>
        </p:nvSpPr>
        <p:spPr>
          <a:xfrm>
            <a:off x="2247900" y="4930229"/>
            <a:ext cx="4404360" cy="5408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286"/>
              </a:lnSpc>
              <a:buNone/>
            </a:pPr>
            <a:r>
              <a:rPr lang="en-US" sz="1800" dirty="0">
                <a:solidFill>
                  <a:srgbClr val="1B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Ajustar materiais no SAP + comunicar clientes</a:t>
            </a:r>
            <a:endParaRPr lang="en-US" sz="1800" dirty="0"/>
          </a:p>
        </p:txBody>
      </p:sp>
      <p:sp>
        <p:nvSpPr>
          <p:cNvPr id="68" name="Text 66"/>
          <p:cNvSpPr/>
          <p:nvPr/>
        </p:nvSpPr>
        <p:spPr>
          <a:xfrm>
            <a:off x="6819900" y="5048250"/>
            <a:ext cx="231457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4A5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Atendimento / SAP</a:t>
            </a:r>
            <a:endParaRPr lang="en-US" sz="1800" dirty="0"/>
          </a:p>
        </p:txBody>
      </p:sp>
      <p:sp>
        <p:nvSpPr>
          <p:cNvPr id="69" name="Shape 67"/>
          <p:cNvSpPr/>
          <p:nvPr/>
        </p:nvSpPr>
        <p:spPr>
          <a:xfrm>
            <a:off x="9048750" y="4914900"/>
            <a:ext cx="8477250" cy="533400"/>
          </a:xfrm>
          <a:prstGeom prst="rect">
            <a:avLst/>
          </a:prstGeom>
          <a:gradFill rotWithShape="1">
            <a:gsLst>
              <a:gs pos="0">
                <a:srgbClr val="D3DEEC">
                  <a:alpha val="100000"/>
                </a:srgbClr>
              </a:gs>
              <a:gs pos="100000">
                <a:srgbClr val="D3DEEC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70" name="Shape 68"/>
          <p:cNvSpPr/>
          <p:nvPr/>
        </p:nvSpPr>
        <p:spPr>
          <a:xfrm>
            <a:off x="11714262" y="5076825"/>
            <a:ext cx="2494062" cy="209550"/>
          </a:xfrm>
          <a:prstGeom prst="roundRect">
            <a:avLst>
              <a:gd name="adj" fmla="val 50000"/>
            </a:avLst>
          </a:prstGeom>
          <a:solidFill>
            <a:srgbClr val="0B1E5B"/>
          </a:solidFill>
          <a:ln/>
        </p:spPr>
      </p:sp>
      <p:sp>
        <p:nvSpPr>
          <p:cNvPr id="71" name="Text 69"/>
          <p:cNvSpPr/>
          <p:nvPr/>
        </p:nvSpPr>
        <p:spPr>
          <a:xfrm>
            <a:off x="14303573" y="5048250"/>
            <a:ext cx="139649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B1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30/10</a:t>
            </a:r>
            <a:endParaRPr lang="en-US" sz="1800" dirty="0"/>
          </a:p>
        </p:txBody>
      </p:sp>
      <p:sp>
        <p:nvSpPr>
          <p:cNvPr id="72" name="Text 70"/>
          <p:cNvSpPr/>
          <p:nvPr/>
        </p:nvSpPr>
        <p:spPr>
          <a:xfrm>
            <a:off x="2247900" y="5473154"/>
            <a:ext cx="4404360" cy="5408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286"/>
              </a:lnSpc>
              <a:buNone/>
            </a:pPr>
            <a:r>
              <a:rPr lang="en-US" sz="1800" dirty="0">
                <a:solidFill>
                  <a:srgbClr val="1B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Configurar local da fatura – Capital Markets</a:t>
            </a:r>
            <a:endParaRPr lang="en-US" sz="1800" dirty="0"/>
          </a:p>
        </p:txBody>
      </p:sp>
      <p:sp>
        <p:nvSpPr>
          <p:cNvPr id="73" name="Text 71"/>
          <p:cNvSpPr/>
          <p:nvPr/>
        </p:nvSpPr>
        <p:spPr>
          <a:xfrm>
            <a:off x="6819900" y="5591175"/>
            <a:ext cx="231457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4A5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Tiago Talarico</a:t>
            </a:r>
            <a:endParaRPr lang="en-US" sz="1800" dirty="0"/>
          </a:p>
        </p:txBody>
      </p:sp>
      <p:sp>
        <p:nvSpPr>
          <p:cNvPr id="74" name="Shape 72"/>
          <p:cNvSpPr/>
          <p:nvPr/>
        </p:nvSpPr>
        <p:spPr>
          <a:xfrm>
            <a:off x="9048750" y="5457825"/>
            <a:ext cx="8477250" cy="533400"/>
          </a:xfrm>
          <a:prstGeom prst="rect">
            <a:avLst/>
          </a:prstGeom>
          <a:gradFill rotWithShape="1">
            <a:gsLst>
              <a:gs pos="0">
                <a:srgbClr val="D3DEEC">
                  <a:alpha val="100000"/>
                </a:srgbClr>
              </a:gs>
              <a:gs pos="100000">
                <a:srgbClr val="D3DEEC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75" name="Shape 73"/>
          <p:cNvSpPr/>
          <p:nvPr/>
        </p:nvSpPr>
        <p:spPr>
          <a:xfrm>
            <a:off x="9105900" y="5619750"/>
            <a:ext cx="2494062" cy="209550"/>
          </a:xfrm>
          <a:prstGeom prst="roundRect">
            <a:avLst>
              <a:gd name="adj" fmla="val 50000"/>
            </a:avLst>
          </a:prstGeom>
          <a:solidFill>
            <a:srgbClr val="0B1E5B"/>
          </a:solidFill>
          <a:ln/>
        </p:spPr>
      </p:sp>
      <p:sp>
        <p:nvSpPr>
          <p:cNvPr id="76" name="Text 74"/>
          <p:cNvSpPr/>
          <p:nvPr/>
        </p:nvSpPr>
        <p:spPr>
          <a:xfrm>
            <a:off x="11695212" y="5591175"/>
            <a:ext cx="139649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B1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02/10*</a:t>
            </a:r>
            <a:endParaRPr lang="en-US" sz="1800" dirty="0"/>
          </a:p>
        </p:txBody>
      </p:sp>
      <p:sp>
        <p:nvSpPr>
          <p:cNvPr id="77" name="Shape 75"/>
          <p:cNvSpPr/>
          <p:nvPr/>
        </p:nvSpPr>
        <p:spPr>
          <a:xfrm>
            <a:off x="762000" y="7086600"/>
            <a:ext cx="16764000" cy="19050"/>
          </a:xfrm>
          <a:prstGeom prst="rect">
            <a:avLst/>
          </a:prstGeom>
          <a:solidFill>
            <a:srgbClr val="0B1E5B"/>
          </a:solidFill>
          <a:ln/>
        </p:spPr>
      </p:sp>
      <p:sp>
        <p:nvSpPr>
          <p:cNvPr id="78" name="Shape 76"/>
          <p:cNvSpPr/>
          <p:nvPr/>
        </p:nvSpPr>
        <p:spPr>
          <a:xfrm>
            <a:off x="762000" y="6010275"/>
            <a:ext cx="1333500" cy="1076325"/>
          </a:xfrm>
          <a:prstGeom prst="rect">
            <a:avLst/>
          </a:prstGeom>
          <a:solidFill>
            <a:srgbClr val="C9D2E6"/>
          </a:solidFill>
          <a:ln/>
        </p:spPr>
      </p:sp>
      <p:sp>
        <p:nvSpPr>
          <p:cNvPr id="79" name="Text 77"/>
          <p:cNvSpPr/>
          <p:nvPr/>
        </p:nvSpPr>
        <p:spPr>
          <a:xfrm>
            <a:off x="914400" y="6124575"/>
            <a:ext cx="1104900" cy="885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B1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Gestão</a:t>
            </a:r>
            <a:endParaRPr lang="en-US" sz="1800" dirty="0"/>
          </a:p>
        </p:txBody>
      </p:sp>
      <p:sp>
        <p:nvSpPr>
          <p:cNvPr id="80" name="Shape 78"/>
          <p:cNvSpPr/>
          <p:nvPr/>
        </p:nvSpPr>
        <p:spPr>
          <a:xfrm>
            <a:off x="2095500" y="6543675"/>
            <a:ext cx="15430500" cy="9525"/>
          </a:xfrm>
          <a:prstGeom prst="rect">
            <a:avLst/>
          </a:prstGeom>
          <a:solidFill>
            <a:srgbClr val="D3DEEC"/>
          </a:solidFill>
          <a:ln/>
        </p:spPr>
      </p:sp>
      <p:sp>
        <p:nvSpPr>
          <p:cNvPr id="81" name="Text 79"/>
          <p:cNvSpPr/>
          <p:nvPr/>
        </p:nvSpPr>
        <p:spPr>
          <a:xfrm>
            <a:off x="2247900" y="6025604"/>
            <a:ext cx="4404360" cy="5408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286"/>
              </a:lnSpc>
              <a:buNone/>
            </a:pPr>
            <a:r>
              <a:rPr lang="en-US" sz="1800" dirty="0">
                <a:solidFill>
                  <a:srgbClr val="1B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Papéis e responsabilidades + formalização</a:t>
            </a:r>
            <a:endParaRPr lang="en-US" sz="1800" dirty="0"/>
          </a:p>
        </p:txBody>
      </p:sp>
      <p:sp>
        <p:nvSpPr>
          <p:cNvPr id="82" name="Text 80"/>
          <p:cNvSpPr/>
          <p:nvPr/>
        </p:nvSpPr>
        <p:spPr>
          <a:xfrm>
            <a:off x="6819900" y="6143625"/>
            <a:ext cx="231457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4A5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Lucas</a:t>
            </a:r>
            <a:endParaRPr lang="en-US" sz="1800" dirty="0"/>
          </a:p>
        </p:txBody>
      </p:sp>
      <p:sp>
        <p:nvSpPr>
          <p:cNvPr id="83" name="Shape 81"/>
          <p:cNvSpPr/>
          <p:nvPr/>
        </p:nvSpPr>
        <p:spPr>
          <a:xfrm>
            <a:off x="9048750" y="6010275"/>
            <a:ext cx="8477250" cy="533400"/>
          </a:xfrm>
          <a:prstGeom prst="rect">
            <a:avLst/>
          </a:prstGeom>
          <a:gradFill rotWithShape="1">
            <a:gsLst>
              <a:gs pos="0">
                <a:srgbClr val="D3DEEC">
                  <a:alpha val="100000"/>
                </a:srgbClr>
              </a:gs>
              <a:gs pos="100000">
                <a:srgbClr val="D3DEEC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84" name="Shape 82"/>
          <p:cNvSpPr/>
          <p:nvPr/>
        </p:nvSpPr>
        <p:spPr>
          <a:xfrm>
            <a:off x="9105900" y="6172200"/>
            <a:ext cx="2494062" cy="209550"/>
          </a:xfrm>
          <a:prstGeom prst="roundRect">
            <a:avLst>
              <a:gd name="adj" fmla="val 50000"/>
            </a:avLst>
          </a:prstGeom>
          <a:solidFill>
            <a:srgbClr val="0B1E5B"/>
          </a:solidFill>
          <a:ln/>
        </p:spPr>
      </p:sp>
      <p:sp>
        <p:nvSpPr>
          <p:cNvPr id="85" name="Text 83"/>
          <p:cNvSpPr/>
          <p:nvPr/>
        </p:nvSpPr>
        <p:spPr>
          <a:xfrm>
            <a:off x="11695212" y="6143625"/>
            <a:ext cx="139649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B1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02/10</a:t>
            </a:r>
            <a:endParaRPr lang="en-US" sz="1800" dirty="0"/>
          </a:p>
        </p:txBody>
      </p:sp>
      <p:sp>
        <p:nvSpPr>
          <p:cNvPr id="86" name="Text 84"/>
          <p:cNvSpPr/>
          <p:nvPr/>
        </p:nvSpPr>
        <p:spPr>
          <a:xfrm>
            <a:off x="2247900" y="6694140"/>
            <a:ext cx="4724400" cy="2894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286"/>
              </a:lnSpc>
              <a:buNone/>
            </a:pPr>
            <a:r>
              <a:rPr lang="en-US" sz="1800" dirty="0">
                <a:solidFill>
                  <a:srgbClr val="1B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Priorizar próximos produtos Capital</a:t>
            </a:r>
            <a:endParaRPr lang="en-US" sz="1800" dirty="0"/>
          </a:p>
        </p:txBody>
      </p:sp>
      <p:sp>
        <p:nvSpPr>
          <p:cNvPr id="87" name="Text 85"/>
          <p:cNvSpPr/>
          <p:nvPr/>
        </p:nvSpPr>
        <p:spPr>
          <a:xfrm>
            <a:off x="6819900" y="6686550"/>
            <a:ext cx="231457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4A5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Lucas / Igor / Stein</a:t>
            </a:r>
            <a:endParaRPr lang="en-US" sz="1800" dirty="0"/>
          </a:p>
        </p:txBody>
      </p:sp>
      <p:sp>
        <p:nvSpPr>
          <p:cNvPr id="88" name="Shape 86"/>
          <p:cNvSpPr/>
          <p:nvPr/>
        </p:nvSpPr>
        <p:spPr>
          <a:xfrm>
            <a:off x="9048750" y="6553200"/>
            <a:ext cx="8477250" cy="533400"/>
          </a:xfrm>
          <a:prstGeom prst="rect">
            <a:avLst/>
          </a:prstGeom>
          <a:gradFill rotWithShape="1">
            <a:gsLst>
              <a:gs pos="0">
                <a:srgbClr val="D3DEEC">
                  <a:alpha val="100000"/>
                </a:srgbClr>
              </a:gs>
              <a:gs pos="100000">
                <a:srgbClr val="D3DEEC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89" name="Shape 87"/>
          <p:cNvSpPr/>
          <p:nvPr/>
        </p:nvSpPr>
        <p:spPr>
          <a:xfrm>
            <a:off x="11714262" y="6715125"/>
            <a:ext cx="537716" cy="209550"/>
          </a:xfrm>
          <a:prstGeom prst="roundRect">
            <a:avLst>
              <a:gd name="adj" fmla="val 50000"/>
            </a:avLst>
          </a:prstGeom>
          <a:solidFill>
            <a:srgbClr val="0B1E5B"/>
          </a:solidFill>
          <a:ln/>
        </p:spPr>
      </p:sp>
      <p:sp>
        <p:nvSpPr>
          <p:cNvPr id="90" name="Text 88"/>
          <p:cNvSpPr/>
          <p:nvPr/>
        </p:nvSpPr>
        <p:spPr>
          <a:xfrm>
            <a:off x="12347228" y="6686550"/>
            <a:ext cx="139649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B1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05/10*</a:t>
            </a:r>
            <a:endParaRPr lang="en-US" sz="1800" dirty="0"/>
          </a:p>
        </p:txBody>
      </p:sp>
      <p:sp>
        <p:nvSpPr>
          <p:cNvPr id="91" name="Shape 89"/>
          <p:cNvSpPr/>
          <p:nvPr/>
        </p:nvSpPr>
        <p:spPr>
          <a:xfrm>
            <a:off x="762000" y="7105650"/>
            <a:ext cx="1333500" cy="1619250"/>
          </a:xfrm>
          <a:prstGeom prst="rect">
            <a:avLst/>
          </a:prstGeom>
          <a:solidFill>
            <a:srgbClr val="FFE79A"/>
          </a:solidFill>
          <a:ln/>
        </p:spPr>
      </p:sp>
      <p:sp>
        <p:nvSpPr>
          <p:cNvPr id="92" name="Text 90"/>
          <p:cNvSpPr/>
          <p:nvPr/>
        </p:nvSpPr>
        <p:spPr>
          <a:xfrm>
            <a:off x="914400" y="7219950"/>
            <a:ext cx="1104900" cy="1428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B1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Go-live</a:t>
            </a:r>
            <a:endParaRPr lang="en-US" sz="1800" dirty="0"/>
          </a:p>
        </p:txBody>
      </p:sp>
      <p:sp>
        <p:nvSpPr>
          <p:cNvPr id="93" name="Shape 91"/>
          <p:cNvSpPr/>
          <p:nvPr/>
        </p:nvSpPr>
        <p:spPr>
          <a:xfrm>
            <a:off x="2095500" y="7639050"/>
            <a:ext cx="15430500" cy="9525"/>
          </a:xfrm>
          <a:prstGeom prst="rect">
            <a:avLst/>
          </a:prstGeom>
          <a:solidFill>
            <a:srgbClr val="D3DEEC"/>
          </a:solidFill>
          <a:ln/>
        </p:spPr>
      </p:sp>
      <p:sp>
        <p:nvSpPr>
          <p:cNvPr id="94" name="Text 92"/>
          <p:cNvSpPr/>
          <p:nvPr/>
        </p:nvSpPr>
        <p:spPr>
          <a:xfrm>
            <a:off x="2247900" y="7246590"/>
            <a:ext cx="4724400" cy="2894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286"/>
              </a:lnSpc>
              <a:buNone/>
            </a:pPr>
            <a:r>
              <a:rPr lang="en-US" sz="1800" dirty="0">
                <a:solidFill>
                  <a:srgbClr val="1B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Testes ponta a ponta + produção paralela</a:t>
            </a:r>
            <a:endParaRPr lang="en-US" sz="1800" dirty="0"/>
          </a:p>
        </p:txBody>
      </p:sp>
      <p:sp>
        <p:nvSpPr>
          <p:cNvPr id="95" name="Text 93"/>
          <p:cNvSpPr/>
          <p:nvPr/>
        </p:nvSpPr>
        <p:spPr>
          <a:xfrm>
            <a:off x="6819900" y="7105650"/>
            <a:ext cx="215265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4A5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Marija / Vitor / Talarico</a:t>
            </a:r>
            <a:endParaRPr lang="en-US" sz="1800" dirty="0"/>
          </a:p>
        </p:txBody>
      </p:sp>
      <p:sp>
        <p:nvSpPr>
          <p:cNvPr id="96" name="Shape 94"/>
          <p:cNvSpPr/>
          <p:nvPr/>
        </p:nvSpPr>
        <p:spPr>
          <a:xfrm>
            <a:off x="9048750" y="7105650"/>
            <a:ext cx="8477250" cy="533400"/>
          </a:xfrm>
          <a:prstGeom prst="rect">
            <a:avLst/>
          </a:prstGeom>
          <a:gradFill rotWithShape="1">
            <a:gsLst>
              <a:gs pos="0">
                <a:srgbClr val="D3DEEC">
                  <a:alpha val="100000"/>
                </a:srgbClr>
              </a:gs>
              <a:gs pos="100000">
                <a:srgbClr val="D3DEEC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97" name="Shape 95"/>
          <p:cNvSpPr/>
          <p:nvPr/>
        </p:nvSpPr>
        <p:spPr>
          <a:xfrm>
            <a:off x="14322623" y="7239000"/>
            <a:ext cx="2494062" cy="266700"/>
          </a:xfrm>
          <a:prstGeom prst="roundRect">
            <a:avLst>
              <a:gd name="adj" fmla="val 50000"/>
            </a:avLst>
          </a:prstGeom>
          <a:solidFill>
            <a:srgbClr val="2462B5"/>
          </a:solidFill>
          <a:ln/>
        </p:spPr>
      </p:sp>
      <p:sp>
        <p:nvSpPr>
          <p:cNvPr id="98" name="Text 96"/>
          <p:cNvSpPr/>
          <p:nvPr/>
        </p:nvSpPr>
        <p:spPr>
          <a:xfrm>
            <a:off x="14197920" y="7239000"/>
            <a:ext cx="274346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TESTES</a:t>
            </a:r>
            <a:endParaRPr lang="en-US" sz="1800" dirty="0"/>
          </a:p>
        </p:txBody>
      </p:sp>
      <p:sp>
        <p:nvSpPr>
          <p:cNvPr id="99" name="Shape 97"/>
          <p:cNvSpPr/>
          <p:nvPr/>
        </p:nvSpPr>
        <p:spPr>
          <a:xfrm>
            <a:off x="2095500" y="8181975"/>
            <a:ext cx="15430500" cy="9525"/>
          </a:xfrm>
          <a:prstGeom prst="rect">
            <a:avLst/>
          </a:prstGeom>
          <a:solidFill>
            <a:srgbClr val="D3DEEC"/>
          </a:solidFill>
          <a:ln/>
        </p:spPr>
      </p:sp>
      <p:sp>
        <p:nvSpPr>
          <p:cNvPr id="100" name="Text 98"/>
          <p:cNvSpPr/>
          <p:nvPr/>
        </p:nvSpPr>
        <p:spPr>
          <a:xfrm>
            <a:off x="2247900" y="7789515"/>
            <a:ext cx="4724400" cy="2894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286"/>
              </a:lnSpc>
              <a:buNone/>
            </a:pPr>
            <a:r>
              <a:rPr lang="en-US" sz="1800" dirty="0">
                <a:solidFill>
                  <a:srgbClr val="1B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Desligar Metranet CSNet e ligar Trillia</a:t>
            </a:r>
            <a:endParaRPr lang="en-US" sz="1800" dirty="0"/>
          </a:p>
        </p:txBody>
      </p:sp>
      <p:sp>
        <p:nvSpPr>
          <p:cNvPr id="101" name="Text 99"/>
          <p:cNvSpPr/>
          <p:nvPr/>
        </p:nvSpPr>
        <p:spPr>
          <a:xfrm>
            <a:off x="6819900" y="7781925"/>
            <a:ext cx="231457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4A5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Igor / Vitor</a:t>
            </a:r>
            <a:endParaRPr lang="en-US" sz="1800" dirty="0"/>
          </a:p>
        </p:txBody>
      </p:sp>
      <p:sp>
        <p:nvSpPr>
          <p:cNvPr id="102" name="Shape 100"/>
          <p:cNvSpPr/>
          <p:nvPr/>
        </p:nvSpPr>
        <p:spPr>
          <a:xfrm>
            <a:off x="9048750" y="7648575"/>
            <a:ext cx="8477250" cy="533400"/>
          </a:xfrm>
          <a:prstGeom prst="rect">
            <a:avLst/>
          </a:prstGeom>
          <a:gradFill rotWithShape="1">
            <a:gsLst>
              <a:gs pos="0">
                <a:srgbClr val="D3DEEC">
                  <a:alpha val="100000"/>
                </a:srgbClr>
              </a:gs>
              <a:gs pos="100000">
                <a:srgbClr val="D3DEEC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103" name="Text 101"/>
          <p:cNvSpPr/>
          <p:nvPr/>
        </p:nvSpPr>
        <p:spPr>
          <a:xfrm>
            <a:off x="14187223" y="7648575"/>
            <a:ext cx="2591363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00" dirty="0">
                <a:solidFill>
                  <a:srgbClr val="4A5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cobrança em duplicidade</a:t>
            </a:r>
            <a:endParaRPr lang="en-US" sz="1800" dirty="0"/>
          </a:p>
        </p:txBody>
      </p:sp>
      <p:sp>
        <p:nvSpPr>
          <p:cNvPr id="104" name="Shape 102"/>
          <p:cNvSpPr/>
          <p:nvPr/>
        </p:nvSpPr>
        <p:spPr>
          <a:xfrm>
            <a:off x="16930985" y="7810500"/>
            <a:ext cx="537865" cy="209550"/>
          </a:xfrm>
          <a:prstGeom prst="roundRect">
            <a:avLst>
              <a:gd name="adj" fmla="val 50000"/>
            </a:avLst>
          </a:prstGeom>
          <a:solidFill>
            <a:srgbClr val="0B1E5B"/>
          </a:solidFill>
          <a:ln/>
        </p:spPr>
      </p:sp>
      <p:sp>
        <p:nvSpPr>
          <p:cNvPr id="105" name="Shape 103"/>
          <p:cNvSpPr/>
          <p:nvPr/>
        </p:nvSpPr>
        <p:spPr>
          <a:xfrm>
            <a:off x="2095500" y="8191500"/>
            <a:ext cx="15430500" cy="533400"/>
          </a:xfrm>
          <a:prstGeom prst="rect">
            <a:avLst/>
          </a:prstGeom>
          <a:solidFill>
            <a:srgbClr val="FFF6D6"/>
          </a:solidFill>
          <a:ln/>
        </p:spPr>
      </p:sp>
      <p:sp>
        <p:nvSpPr>
          <p:cNvPr id="106" name="Text 104"/>
          <p:cNvSpPr/>
          <p:nvPr/>
        </p:nvSpPr>
        <p:spPr>
          <a:xfrm>
            <a:off x="2247900" y="8310562"/>
            <a:ext cx="47244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0B1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GO-LIVE DATAWISE PLUS</a:t>
            </a:r>
            <a:endParaRPr lang="en-US" sz="1950" dirty="0"/>
          </a:p>
        </p:txBody>
      </p:sp>
      <p:sp>
        <p:nvSpPr>
          <p:cNvPr id="107" name="Shape 105"/>
          <p:cNvSpPr/>
          <p:nvPr/>
        </p:nvSpPr>
        <p:spPr>
          <a:xfrm>
            <a:off x="9048750" y="8191500"/>
            <a:ext cx="8477250" cy="533400"/>
          </a:xfrm>
          <a:prstGeom prst="rect">
            <a:avLst/>
          </a:prstGeom>
          <a:gradFill rotWithShape="1">
            <a:gsLst>
              <a:gs pos="0">
                <a:srgbClr val="E8DDB2">
                  <a:alpha val="100000"/>
                </a:srgbClr>
              </a:gs>
              <a:gs pos="100000">
                <a:srgbClr val="E8DDB2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108" name="Text 106"/>
          <p:cNvSpPr/>
          <p:nvPr/>
        </p:nvSpPr>
        <p:spPr>
          <a:xfrm>
            <a:off x="14721855" y="8310562"/>
            <a:ext cx="203768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950" b="1" dirty="0">
                <a:solidFill>
                  <a:srgbClr val="0B1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30/11</a:t>
            </a:r>
            <a:endParaRPr lang="en-US" sz="1950" dirty="0"/>
          </a:p>
        </p:txBody>
      </p:sp>
      <p:sp>
        <p:nvSpPr>
          <p:cNvPr id="109" name="Shape 107"/>
          <p:cNvSpPr/>
          <p:nvPr/>
        </p:nvSpPr>
        <p:spPr>
          <a:xfrm rot="2700000">
            <a:off x="17085618" y="8343900"/>
            <a:ext cx="228600" cy="228600"/>
          </a:xfrm>
          <a:prstGeom prst="rect">
            <a:avLst/>
          </a:prstGeom>
          <a:solidFill>
            <a:srgbClr val="D9822B"/>
          </a:solidFill>
          <a:ln/>
        </p:spPr>
      </p:sp>
      <p:sp>
        <p:nvSpPr>
          <p:cNvPr id="110" name="Text 108"/>
          <p:cNvSpPr/>
          <p:nvPr/>
        </p:nvSpPr>
        <p:spPr>
          <a:xfrm>
            <a:off x="762000" y="8877300"/>
            <a:ext cx="1056312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78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data a confirmar · Ajuste no SAP fica para outubro; setembro segue faturado no modelo atual</a:t>
            </a:r>
            <a:endParaRPr lang="en-US" sz="1800" dirty="0"/>
          </a:p>
        </p:txBody>
      </p:sp>
      <p:sp>
        <p:nvSpPr>
          <p:cNvPr id="111" name="Text 109"/>
          <p:cNvSpPr/>
          <p:nvPr/>
        </p:nvSpPr>
        <p:spPr>
          <a:xfrm>
            <a:off x="14909602" y="8877300"/>
            <a:ext cx="287803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78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INFORMAÇÃO INTERNA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3E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685800"/>
            <a:ext cx="693986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spc="-75" kern="0" dirty="0">
                <a:solidFill>
                  <a:srgbClr val="0B1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[B]³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608386" y="533400"/>
            <a:ext cx="12031935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0B1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Desenvolvimento Metranet e dependências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762000" y="1304925"/>
            <a:ext cx="184404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4A5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orçamento ao go-live: tempos internos e do time de desenvolvimento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2103090" y="2247900"/>
            <a:ext cx="14081820" cy="38100"/>
          </a:xfrm>
          <a:prstGeom prst="rect">
            <a:avLst/>
          </a:prstGeom>
          <a:solidFill>
            <a:srgbClr val="9DB0CF"/>
          </a:solidFill>
          <a:ln/>
        </p:spPr>
      </p:sp>
      <p:sp>
        <p:nvSpPr>
          <p:cNvPr id="6" name="Shape 4"/>
          <p:cNvSpPr/>
          <p:nvPr/>
        </p:nvSpPr>
        <p:spPr>
          <a:xfrm>
            <a:off x="1958876" y="2066925"/>
            <a:ext cx="400050" cy="400050"/>
          </a:xfrm>
          <a:prstGeom prst="ellipse">
            <a:avLst/>
          </a:prstGeom>
          <a:solidFill>
            <a:srgbClr val="0B1E5B"/>
          </a:solidFill>
          <a:ln/>
        </p:spPr>
      </p:sp>
      <p:sp>
        <p:nvSpPr>
          <p:cNvPr id="7" name="Text 5"/>
          <p:cNvSpPr/>
          <p:nvPr/>
        </p:nvSpPr>
        <p:spPr>
          <a:xfrm>
            <a:off x="1794421" y="2600325"/>
            <a:ext cx="72896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B1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11/09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061703" y="3038475"/>
            <a:ext cx="2194545" cy="312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2857"/>
              </a:lnSpc>
              <a:buNone/>
            </a:pPr>
            <a:r>
              <a:rPr lang="en-US" sz="1800" dirty="0">
                <a:solidFill>
                  <a:srgbClr val="1B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Orçamento definido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752826" y="2066925"/>
            <a:ext cx="400050" cy="400050"/>
          </a:xfrm>
          <a:prstGeom prst="ellipse">
            <a:avLst/>
          </a:prstGeom>
          <a:solidFill>
            <a:srgbClr val="0B1E5B"/>
          </a:solidFill>
          <a:ln/>
        </p:spPr>
      </p:sp>
      <p:sp>
        <p:nvSpPr>
          <p:cNvPr id="10" name="Text 8"/>
          <p:cNvSpPr/>
          <p:nvPr/>
        </p:nvSpPr>
        <p:spPr>
          <a:xfrm>
            <a:off x="4529138" y="2600325"/>
            <a:ext cx="847427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B1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17/09*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3771677" y="3038475"/>
            <a:ext cx="2362349" cy="312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2857"/>
              </a:lnSpc>
              <a:buNone/>
            </a:pPr>
            <a:r>
              <a:rPr lang="en-US" sz="1800" dirty="0">
                <a:solidFill>
                  <a:srgbClr val="1B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Orçamento aprovado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546925" y="2066925"/>
            <a:ext cx="400050" cy="400050"/>
          </a:xfrm>
          <a:prstGeom prst="ellipse">
            <a:avLst/>
          </a:prstGeom>
          <a:solidFill>
            <a:srgbClr val="D9822B"/>
          </a:solidFill>
          <a:ln/>
        </p:spPr>
      </p:sp>
      <p:sp>
        <p:nvSpPr>
          <p:cNvPr id="13" name="Text 11"/>
          <p:cNvSpPr/>
          <p:nvPr/>
        </p:nvSpPr>
        <p:spPr>
          <a:xfrm>
            <a:off x="7464177" y="2600325"/>
            <a:ext cx="565547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B465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set*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6293197" y="3038475"/>
            <a:ext cx="2907506" cy="312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2857"/>
              </a:lnSpc>
              <a:buNone/>
            </a:pPr>
            <a:r>
              <a:rPr lang="en-US" sz="1800" dirty="0">
                <a:solidFill>
                  <a:srgbClr val="1B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Início do desenvolvimento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0340876" y="2066925"/>
            <a:ext cx="400050" cy="400050"/>
          </a:xfrm>
          <a:prstGeom prst="ellipse">
            <a:avLst/>
          </a:prstGeom>
          <a:solidFill>
            <a:srgbClr val="D9822B"/>
          </a:solidFill>
          <a:ln/>
        </p:spPr>
      </p:sp>
      <p:sp>
        <p:nvSpPr>
          <p:cNvPr id="16" name="Text 14"/>
          <p:cNvSpPr/>
          <p:nvPr/>
        </p:nvSpPr>
        <p:spPr>
          <a:xfrm>
            <a:off x="10169128" y="2600325"/>
            <a:ext cx="74369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B465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30/10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9306185" y="3038475"/>
            <a:ext cx="2469579" cy="312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2857"/>
              </a:lnSpc>
              <a:buNone/>
            </a:pPr>
            <a:r>
              <a:rPr lang="en-US" sz="1800" dirty="0">
                <a:solidFill>
                  <a:srgbClr val="1B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1ª entrega para testes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3134826" y="2066925"/>
            <a:ext cx="400050" cy="400050"/>
          </a:xfrm>
          <a:prstGeom prst="ellipse">
            <a:avLst/>
          </a:prstGeom>
          <a:solidFill>
            <a:srgbClr val="2462B5"/>
          </a:solidFill>
          <a:ln/>
        </p:spPr>
      </p:sp>
      <p:sp>
        <p:nvSpPr>
          <p:cNvPr id="19" name="Text 17"/>
          <p:cNvSpPr/>
          <p:nvPr/>
        </p:nvSpPr>
        <p:spPr>
          <a:xfrm>
            <a:off x="13059668" y="2600325"/>
            <a:ext cx="55036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462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11896041" y="3038475"/>
            <a:ext cx="2877769" cy="586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2857"/>
              </a:lnSpc>
              <a:buNone/>
            </a:pPr>
            <a:r>
              <a:rPr lang="en-US" sz="1800" dirty="0">
                <a:solidFill>
                  <a:srgbClr val="1B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Testes ponta a ponta e produção paralela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5928925" y="2066925"/>
            <a:ext cx="400050" cy="400050"/>
          </a:xfrm>
          <a:prstGeom prst="ellipse">
            <a:avLst/>
          </a:prstGeom>
          <a:solidFill>
            <a:srgbClr val="1E7A55"/>
          </a:solidFill>
          <a:ln/>
        </p:spPr>
      </p:sp>
      <p:sp>
        <p:nvSpPr>
          <p:cNvPr id="22" name="Text 20"/>
          <p:cNvSpPr/>
          <p:nvPr/>
        </p:nvSpPr>
        <p:spPr>
          <a:xfrm>
            <a:off x="15764470" y="2600325"/>
            <a:ext cx="72896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E7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30/11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14899154" y="3038475"/>
            <a:ext cx="2459593" cy="312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2857"/>
              </a:lnSpc>
              <a:buNone/>
            </a:pPr>
            <a:r>
              <a:rPr lang="en-US" sz="1800" dirty="0">
                <a:solidFill>
                  <a:srgbClr val="1B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Go-live Datawise Plus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762000" y="4196655"/>
            <a:ext cx="5384750" cy="278085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1066800" y="4501455"/>
            <a:ext cx="525266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0B1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Ciclo de entrega</a:t>
            </a:r>
            <a:endParaRPr lang="en-US" sz="2250" dirty="0"/>
          </a:p>
        </p:txBody>
      </p:sp>
      <p:sp>
        <p:nvSpPr>
          <p:cNvPr id="26" name="Text 24"/>
          <p:cNvSpPr/>
          <p:nvPr/>
        </p:nvSpPr>
        <p:spPr>
          <a:xfrm>
            <a:off x="1066800" y="4977705"/>
            <a:ext cx="4918405" cy="9636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714"/>
              </a:lnSpc>
              <a:buNone/>
            </a:pPr>
            <a:r>
              <a:rPr lang="en-US" sz="1800" dirty="0">
                <a:solidFill>
                  <a:srgbClr val="1B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mensal: áreas registram demandas no Jira, priorização no fim do mês e versão entregue no mês seguinte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066800" y="6055668"/>
            <a:ext cx="5252665" cy="346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714"/>
              </a:lnSpc>
              <a:buNone/>
            </a:pPr>
            <a:r>
              <a:rPr lang="en-US" sz="1800" dirty="0">
                <a:solidFill>
                  <a:srgbClr val="4A5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Fora do ciclo apenas em caso emergencial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6451550" y="4196655"/>
            <a:ext cx="5384750" cy="278085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6756350" y="4501455"/>
            <a:ext cx="525266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0B1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Capacidade</a:t>
            </a:r>
            <a:endParaRPr lang="en-US" sz="2250" dirty="0"/>
          </a:p>
        </p:txBody>
      </p:sp>
      <p:sp>
        <p:nvSpPr>
          <p:cNvPr id="30" name="Text 28"/>
          <p:cNvSpPr/>
          <p:nvPr/>
        </p:nvSpPr>
        <p:spPr>
          <a:xfrm>
            <a:off x="6756350" y="4977705"/>
            <a:ext cx="4918405" cy="9636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714"/>
              </a:lnSpc>
              <a:buNone/>
            </a:pPr>
            <a:r>
              <a:rPr lang="en-US" sz="1800" dirty="0">
                <a:solidFill>
                  <a:srgbClr val="1B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Pool de 40h/mês da consultoria (suporte, desenvolvimento e evolução) por ambiente Trillia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6756350" y="6055668"/>
            <a:ext cx="4918405" cy="6551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714"/>
              </a:lnSpc>
              <a:buNone/>
            </a:pPr>
            <a:r>
              <a:rPr lang="en-US" sz="1800" dirty="0">
                <a:solidFill>
                  <a:srgbClr val="4A5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Metranet Trillia com orçamento adicional aprovado; backlog × horas em levantamento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12141101" y="4196655"/>
            <a:ext cx="5384750" cy="278085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Text 31"/>
          <p:cNvSpPr/>
          <p:nvPr/>
        </p:nvSpPr>
        <p:spPr>
          <a:xfrm>
            <a:off x="12445901" y="4501455"/>
            <a:ext cx="525266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0B1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Dependências</a:t>
            </a:r>
            <a:endParaRPr lang="en-US" sz="2250" dirty="0"/>
          </a:p>
        </p:txBody>
      </p:sp>
      <p:sp>
        <p:nvSpPr>
          <p:cNvPr id="34" name="Text 32"/>
          <p:cNvSpPr/>
          <p:nvPr/>
        </p:nvSpPr>
        <p:spPr>
          <a:xfrm>
            <a:off x="12445901" y="4977705"/>
            <a:ext cx="4918405" cy="6551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714"/>
              </a:lnSpc>
              <a:buNone/>
            </a:pPr>
            <a:r>
              <a:rPr lang="en-US" sz="1800" dirty="0">
                <a:solidFill>
                  <a:srgbClr val="1B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SAP preparado para receber o novo cadastro (SKUs e variáveis) junto com o Metranet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12445901" y="5747147"/>
            <a:ext cx="4918405" cy="6551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714"/>
              </a:lnSpc>
              <a:buNone/>
            </a:pPr>
            <a:r>
              <a:rPr lang="en-US" sz="1800" dirty="0">
                <a:solidFill>
                  <a:srgbClr val="4A5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Janela de faturamento: entrega após o fechamento só impacta o mês seguinte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762000" y="9639300"/>
            <a:ext cx="444016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78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datas a confirmar com Leandro e Vitor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11899404" y="9639300"/>
            <a:ext cx="618925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78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INFORMAÇÃO INTERNA – INTERNAL INFORMATION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3E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609600"/>
            <a:ext cx="693986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spc="-75" kern="0" dirty="0">
                <a:solidFill>
                  <a:srgbClr val="0B1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[B]³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608386" y="457200"/>
            <a:ext cx="11736601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0B1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Capital Markets – visão produto a produto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762000" y="1343025"/>
            <a:ext cx="16764000" cy="72104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343025"/>
            <a:ext cx="16764000" cy="533400"/>
          </a:xfrm>
          <a:prstGeom prst="rect">
            <a:avLst/>
          </a:prstGeom>
          <a:solidFill>
            <a:srgbClr val="0B1E5B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476375"/>
            <a:ext cx="263842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PRODUTO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771900" y="1476375"/>
            <a:ext cx="322707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ESTEIRA ATUAL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200900" y="1476375"/>
            <a:ext cx="254031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963150" y="1476375"/>
            <a:ext cx="548354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COMPLEXIDADE PRINCIPAL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5582900" y="1476375"/>
            <a:ext cx="18669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ONDA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62000" y="1876425"/>
            <a:ext cx="16764000" cy="523875"/>
          </a:xfrm>
          <a:prstGeom prst="rect">
            <a:avLst/>
          </a:prstGeom>
          <a:solidFill>
            <a:srgbClr val="EAF2FB"/>
          </a:solidFill>
          <a:ln/>
        </p:spPr>
      </p:sp>
      <p:sp>
        <p:nvSpPr>
          <p:cNvPr id="12" name="Shape 10"/>
          <p:cNvSpPr/>
          <p:nvPr/>
        </p:nvSpPr>
        <p:spPr>
          <a:xfrm>
            <a:off x="762000" y="2390775"/>
            <a:ext cx="16764000" cy="9525"/>
          </a:xfrm>
          <a:prstGeom prst="rect">
            <a:avLst/>
          </a:prstGeom>
          <a:solidFill>
            <a:srgbClr val="D3DEEC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2000250"/>
            <a:ext cx="263842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B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Datawise Plus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771900" y="2000250"/>
            <a:ext cx="322707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B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(planilha)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200900" y="2000250"/>
            <a:ext cx="254031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B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235 Ops · R$ 10,2M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963150" y="2000250"/>
            <a:ext cx="548354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B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comercial, rateios e cadastro SAP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82900" y="2000250"/>
            <a:ext cx="18669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462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30/11/26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762000" y="2914650"/>
            <a:ext cx="16764000" cy="9525"/>
          </a:xfrm>
          <a:prstGeom prst="rect">
            <a:avLst/>
          </a:prstGeom>
          <a:solidFill>
            <a:srgbClr val="D3DEEC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2524125"/>
            <a:ext cx="263842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B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Indicadores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3771900" y="2524125"/>
            <a:ext cx="322707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B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200900" y="2524125"/>
            <a:ext cx="254031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78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levantar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963150" y="2524125"/>
            <a:ext cx="548354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B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Validar base e requisitos de automação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5582900" y="2524125"/>
            <a:ext cx="18669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B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762000" y="3571875"/>
            <a:ext cx="16764000" cy="9525"/>
          </a:xfrm>
          <a:prstGeom prst="rect">
            <a:avLst/>
          </a:prstGeom>
          <a:solidFill>
            <a:srgbClr val="D3DEEC"/>
          </a:solidFill>
          <a:ln/>
        </p:spPr>
      </p:sp>
      <p:sp>
        <p:nvSpPr>
          <p:cNvPr id="25" name="Text 23"/>
          <p:cNvSpPr/>
          <p:nvPr/>
        </p:nvSpPr>
        <p:spPr>
          <a:xfrm>
            <a:off x="914400" y="3114675"/>
            <a:ext cx="263842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B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Data – Histórico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3771900" y="2981325"/>
            <a:ext cx="322707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B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Manual; automação perdida na migração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200900" y="3114675"/>
            <a:ext cx="254031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78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levantar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9963150" y="3114675"/>
            <a:ext cx="548354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B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Regras de cálculo (linhas/MB) e cobrança one-shot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5582900" y="3114675"/>
            <a:ext cx="18669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B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762000" y="4095750"/>
            <a:ext cx="16764000" cy="9525"/>
          </a:xfrm>
          <a:prstGeom prst="rect">
            <a:avLst/>
          </a:prstGeom>
          <a:solidFill>
            <a:srgbClr val="D3DEEC"/>
          </a:solidFill>
          <a:ln/>
        </p:spPr>
      </p:sp>
      <p:sp>
        <p:nvSpPr>
          <p:cNvPr id="31" name="Text 29"/>
          <p:cNvSpPr/>
          <p:nvPr/>
        </p:nvSpPr>
        <p:spPr>
          <a:xfrm>
            <a:off x="914400" y="3705225"/>
            <a:ext cx="263842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B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 PIP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3771900" y="3705225"/>
            <a:ext cx="322707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B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Arquivo diário de consumo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7200900" y="3705225"/>
            <a:ext cx="254031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78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levantar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9963150" y="3705225"/>
            <a:ext cx="548354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B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Vincular consumo às Ops do CRM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15582900" y="3705225"/>
            <a:ext cx="18669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B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762000" y="4619625"/>
            <a:ext cx="16764000" cy="9525"/>
          </a:xfrm>
          <a:prstGeom prst="rect">
            <a:avLst/>
          </a:prstGeom>
          <a:solidFill>
            <a:srgbClr val="D3DEEC"/>
          </a:solidFill>
          <a:ln/>
        </p:spPr>
      </p:sp>
      <p:sp>
        <p:nvSpPr>
          <p:cNvPr id="37" name="Text 35"/>
          <p:cNvSpPr/>
          <p:nvPr/>
        </p:nvSpPr>
        <p:spPr>
          <a:xfrm>
            <a:off x="914400" y="4229100"/>
            <a:ext cx="263842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B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 PIP – Seeker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3771900" y="4229100"/>
            <a:ext cx="322707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78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validar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7200900" y="4229100"/>
            <a:ext cx="254031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78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levantar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9963150" y="4229100"/>
            <a:ext cx="548354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B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Particularidades da via Seeker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15582900" y="4229100"/>
            <a:ext cx="18669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B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762000" y="5143500"/>
            <a:ext cx="16764000" cy="9525"/>
          </a:xfrm>
          <a:prstGeom prst="rect">
            <a:avLst/>
          </a:prstGeom>
          <a:solidFill>
            <a:srgbClr val="D3DEEC"/>
          </a:solidFill>
          <a:ln/>
        </p:spPr>
      </p:sp>
      <p:sp>
        <p:nvSpPr>
          <p:cNvPr id="43" name="Text 41"/>
          <p:cNvSpPr/>
          <p:nvPr/>
        </p:nvSpPr>
        <p:spPr>
          <a:xfrm>
            <a:off x="914400" y="4752975"/>
            <a:ext cx="263842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B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Target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3771900" y="4752975"/>
            <a:ext cx="322707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B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Salesforce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7200900" y="4752975"/>
            <a:ext cx="254031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78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levantar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9963150" y="4752975"/>
            <a:ext cx="548354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B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Detalhar fluxo e dependências</a:t>
            </a:r>
            <a:endParaRPr lang="en-US" sz="1800" dirty="0"/>
          </a:p>
        </p:txBody>
      </p:sp>
      <p:sp>
        <p:nvSpPr>
          <p:cNvPr id="47" name="Text 45"/>
          <p:cNvSpPr/>
          <p:nvPr/>
        </p:nvSpPr>
        <p:spPr>
          <a:xfrm>
            <a:off x="15582900" y="4752975"/>
            <a:ext cx="18669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B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48" name="Shape 46"/>
          <p:cNvSpPr/>
          <p:nvPr/>
        </p:nvSpPr>
        <p:spPr>
          <a:xfrm>
            <a:off x="762000" y="5667375"/>
            <a:ext cx="16764000" cy="9525"/>
          </a:xfrm>
          <a:prstGeom prst="rect">
            <a:avLst/>
          </a:prstGeom>
          <a:solidFill>
            <a:srgbClr val="D3DEEC"/>
          </a:solidFill>
          <a:ln/>
        </p:spPr>
      </p:sp>
      <p:sp>
        <p:nvSpPr>
          <p:cNvPr id="49" name="Text 47"/>
          <p:cNvSpPr/>
          <p:nvPr/>
        </p:nvSpPr>
        <p:spPr>
          <a:xfrm>
            <a:off x="914400" y="5276850"/>
            <a:ext cx="263842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B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Surveillance</a:t>
            </a:r>
            <a:endParaRPr lang="en-US" sz="1800" dirty="0"/>
          </a:p>
        </p:txBody>
      </p:sp>
      <p:sp>
        <p:nvSpPr>
          <p:cNvPr id="50" name="Text 48"/>
          <p:cNvSpPr/>
          <p:nvPr/>
        </p:nvSpPr>
        <p:spPr>
          <a:xfrm>
            <a:off x="3771900" y="5276850"/>
            <a:ext cx="322707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B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Salesforce</a:t>
            </a:r>
            <a:endParaRPr lang="en-US" sz="1800" dirty="0"/>
          </a:p>
        </p:txBody>
      </p:sp>
      <p:sp>
        <p:nvSpPr>
          <p:cNvPr id="51" name="Text 49"/>
          <p:cNvSpPr/>
          <p:nvPr/>
        </p:nvSpPr>
        <p:spPr>
          <a:xfrm>
            <a:off x="7200900" y="5276850"/>
            <a:ext cx="254031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78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levantar</a:t>
            </a:r>
            <a:endParaRPr lang="en-US" sz="1800" dirty="0"/>
          </a:p>
        </p:txBody>
      </p:sp>
      <p:sp>
        <p:nvSpPr>
          <p:cNvPr id="52" name="Text 50"/>
          <p:cNvSpPr/>
          <p:nvPr/>
        </p:nvSpPr>
        <p:spPr>
          <a:xfrm>
            <a:off x="9963150" y="5276850"/>
            <a:ext cx="548354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B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Detalhar fluxo e dependências</a:t>
            </a:r>
            <a:endParaRPr lang="en-US" sz="1800" dirty="0"/>
          </a:p>
        </p:txBody>
      </p:sp>
      <p:sp>
        <p:nvSpPr>
          <p:cNvPr id="53" name="Text 51"/>
          <p:cNvSpPr/>
          <p:nvPr/>
        </p:nvSpPr>
        <p:spPr>
          <a:xfrm>
            <a:off x="15582900" y="5276850"/>
            <a:ext cx="18669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B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54" name="Shape 52"/>
          <p:cNvSpPr/>
          <p:nvPr/>
        </p:nvSpPr>
        <p:spPr>
          <a:xfrm>
            <a:off x="762000" y="6191250"/>
            <a:ext cx="16764000" cy="9525"/>
          </a:xfrm>
          <a:prstGeom prst="rect">
            <a:avLst/>
          </a:prstGeom>
          <a:solidFill>
            <a:srgbClr val="D3DEEC"/>
          </a:solidFill>
          <a:ln/>
        </p:spPr>
      </p:sp>
      <p:sp>
        <p:nvSpPr>
          <p:cNvPr id="55" name="Text 53"/>
          <p:cNvSpPr/>
          <p:nvPr/>
        </p:nvSpPr>
        <p:spPr>
          <a:xfrm>
            <a:off x="914400" y="5800725"/>
            <a:ext cx="263842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B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Projeto customizado</a:t>
            </a:r>
            <a:endParaRPr lang="en-US" sz="1800" dirty="0"/>
          </a:p>
        </p:txBody>
      </p:sp>
      <p:sp>
        <p:nvSpPr>
          <p:cNvPr id="56" name="Text 54"/>
          <p:cNvSpPr/>
          <p:nvPr/>
        </p:nvSpPr>
        <p:spPr>
          <a:xfrm>
            <a:off x="3771900" y="5800725"/>
            <a:ext cx="322707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78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validar</a:t>
            </a:r>
            <a:endParaRPr lang="en-US" sz="1800" dirty="0"/>
          </a:p>
        </p:txBody>
      </p:sp>
      <p:sp>
        <p:nvSpPr>
          <p:cNvPr id="57" name="Text 55"/>
          <p:cNvSpPr/>
          <p:nvPr/>
        </p:nvSpPr>
        <p:spPr>
          <a:xfrm>
            <a:off x="7200900" y="5800725"/>
            <a:ext cx="254031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78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levantar</a:t>
            </a:r>
            <a:endParaRPr lang="en-US" sz="1800" dirty="0"/>
          </a:p>
        </p:txBody>
      </p:sp>
      <p:sp>
        <p:nvSpPr>
          <p:cNvPr id="58" name="Text 56"/>
          <p:cNvSpPr/>
          <p:nvPr/>
        </p:nvSpPr>
        <p:spPr>
          <a:xfrm>
            <a:off x="9963150" y="5800725"/>
            <a:ext cx="548354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B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Detalhar fluxo e dependências</a:t>
            </a:r>
            <a:endParaRPr lang="en-US" sz="1800" dirty="0"/>
          </a:p>
        </p:txBody>
      </p:sp>
      <p:sp>
        <p:nvSpPr>
          <p:cNvPr id="59" name="Text 57"/>
          <p:cNvSpPr/>
          <p:nvPr/>
        </p:nvSpPr>
        <p:spPr>
          <a:xfrm>
            <a:off x="15582900" y="5800725"/>
            <a:ext cx="18669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B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60" name="Shape 58"/>
          <p:cNvSpPr/>
          <p:nvPr/>
        </p:nvSpPr>
        <p:spPr>
          <a:xfrm>
            <a:off x="762000" y="6848475"/>
            <a:ext cx="16764000" cy="9525"/>
          </a:xfrm>
          <a:prstGeom prst="rect">
            <a:avLst/>
          </a:prstGeom>
          <a:solidFill>
            <a:srgbClr val="D3DEEC"/>
          </a:solidFill>
          <a:ln/>
        </p:spPr>
      </p:sp>
      <p:sp>
        <p:nvSpPr>
          <p:cNvPr id="61" name="Text 59"/>
          <p:cNvSpPr/>
          <p:nvPr/>
        </p:nvSpPr>
        <p:spPr>
          <a:xfrm>
            <a:off x="914400" y="6391275"/>
            <a:ext cx="263842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B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UP2DATA</a:t>
            </a:r>
            <a:endParaRPr lang="en-US" sz="1800" dirty="0"/>
          </a:p>
        </p:txBody>
      </p:sp>
      <p:sp>
        <p:nvSpPr>
          <p:cNvPr id="62" name="Text 60"/>
          <p:cNvSpPr/>
          <p:nvPr/>
        </p:nvSpPr>
        <p:spPr>
          <a:xfrm>
            <a:off x="3771900" y="6391275"/>
            <a:ext cx="322707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B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Portal de Serviços › Metranet</a:t>
            </a:r>
            <a:endParaRPr lang="en-US" sz="1800" dirty="0"/>
          </a:p>
        </p:txBody>
      </p:sp>
      <p:sp>
        <p:nvSpPr>
          <p:cNvPr id="63" name="Text 61"/>
          <p:cNvSpPr/>
          <p:nvPr/>
        </p:nvSpPr>
        <p:spPr>
          <a:xfrm>
            <a:off x="7200900" y="6391275"/>
            <a:ext cx="254031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78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levantar</a:t>
            </a:r>
            <a:endParaRPr lang="en-US" sz="1800" dirty="0"/>
          </a:p>
        </p:txBody>
      </p:sp>
      <p:sp>
        <p:nvSpPr>
          <p:cNvPr id="64" name="Text 62"/>
          <p:cNvSpPr/>
          <p:nvPr/>
        </p:nvSpPr>
        <p:spPr>
          <a:xfrm>
            <a:off x="9963150" y="6257925"/>
            <a:ext cx="5483543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B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Terceiro (BDS): acessos, política de preços do site e Ops no CRM</a:t>
            </a:r>
            <a:endParaRPr lang="en-US" sz="1800" dirty="0"/>
          </a:p>
        </p:txBody>
      </p:sp>
      <p:sp>
        <p:nvSpPr>
          <p:cNvPr id="65" name="Text 63"/>
          <p:cNvSpPr/>
          <p:nvPr/>
        </p:nvSpPr>
        <p:spPr>
          <a:xfrm>
            <a:off x="15582900" y="6391275"/>
            <a:ext cx="18669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B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66" name="Shape 64"/>
          <p:cNvSpPr/>
          <p:nvPr/>
        </p:nvSpPr>
        <p:spPr>
          <a:xfrm>
            <a:off x="762000" y="7505700"/>
            <a:ext cx="16764000" cy="9525"/>
          </a:xfrm>
          <a:prstGeom prst="rect">
            <a:avLst/>
          </a:prstGeom>
          <a:solidFill>
            <a:srgbClr val="D3DEEC"/>
          </a:solidFill>
          <a:ln/>
        </p:spPr>
      </p:sp>
      <p:sp>
        <p:nvSpPr>
          <p:cNvPr id="67" name="Text 65"/>
          <p:cNvSpPr/>
          <p:nvPr/>
        </p:nvSpPr>
        <p:spPr>
          <a:xfrm>
            <a:off x="914400" y="7048500"/>
            <a:ext cx="263842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B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Datawise Reports</a:t>
            </a:r>
            <a:endParaRPr lang="en-US" sz="1800" dirty="0"/>
          </a:p>
        </p:txBody>
      </p:sp>
      <p:sp>
        <p:nvSpPr>
          <p:cNvPr id="68" name="Text 66"/>
          <p:cNvSpPr/>
          <p:nvPr/>
        </p:nvSpPr>
        <p:spPr>
          <a:xfrm>
            <a:off x="3771900" y="7048500"/>
            <a:ext cx="322707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B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Vinculado à esteira B3</a:t>
            </a:r>
            <a:endParaRPr lang="en-US" sz="1800" dirty="0"/>
          </a:p>
        </p:txBody>
      </p:sp>
      <p:sp>
        <p:nvSpPr>
          <p:cNvPr id="69" name="Text 67"/>
          <p:cNvSpPr/>
          <p:nvPr/>
        </p:nvSpPr>
        <p:spPr>
          <a:xfrm>
            <a:off x="7200900" y="7048500"/>
            <a:ext cx="254031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B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~335 Ops* · R$ 14,3M</a:t>
            </a:r>
            <a:endParaRPr lang="en-US" sz="1800" dirty="0"/>
          </a:p>
        </p:txBody>
      </p:sp>
      <p:sp>
        <p:nvSpPr>
          <p:cNvPr id="70" name="Text 68"/>
          <p:cNvSpPr/>
          <p:nvPr/>
        </p:nvSpPr>
        <p:spPr>
          <a:xfrm>
            <a:off x="9963150" y="6915150"/>
            <a:ext cx="5483543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B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Apartar do faturamento B3 preservando a integração</a:t>
            </a:r>
            <a:endParaRPr lang="en-US" sz="1800" dirty="0"/>
          </a:p>
        </p:txBody>
      </p:sp>
      <p:sp>
        <p:nvSpPr>
          <p:cNvPr id="71" name="Text 69"/>
          <p:cNvSpPr/>
          <p:nvPr/>
        </p:nvSpPr>
        <p:spPr>
          <a:xfrm>
            <a:off x="15582900" y="7048500"/>
            <a:ext cx="18669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B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72" name="Shape 70"/>
          <p:cNvSpPr/>
          <p:nvPr/>
        </p:nvSpPr>
        <p:spPr>
          <a:xfrm>
            <a:off x="762000" y="7515225"/>
            <a:ext cx="16764000" cy="523875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73" name="Shape 71"/>
          <p:cNvSpPr/>
          <p:nvPr/>
        </p:nvSpPr>
        <p:spPr>
          <a:xfrm>
            <a:off x="762000" y="8029575"/>
            <a:ext cx="16764000" cy="9525"/>
          </a:xfrm>
          <a:prstGeom prst="rect">
            <a:avLst/>
          </a:prstGeom>
          <a:solidFill>
            <a:srgbClr val="D3DEEC"/>
          </a:solidFill>
          <a:ln/>
        </p:spPr>
      </p:sp>
      <p:sp>
        <p:nvSpPr>
          <p:cNvPr id="74" name="Text 72"/>
          <p:cNvSpPr/>
          <p:nvPr/>
        </p:nvSpPr>
        <p:spPr>
          <a:xfrm>
            <a:off x="914400" y="7639050"/>
            <a:ext cx="263842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B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CED</a:t>
            </a:r>
            <a:endParaRPr lang="en-US" sz="1800" dirty="0"/>
          </a:p>
        </p:txBody>
      </p:sp>
      <p:sp>
        <p:nvSpPr>
          <p:cNvPr id="75" name="Text 73"/>
          <p:cNvSpPr/>
          <p:nvPr/>
        </p:nvSpPr>
        <p:spPr>
          <a:xfrm>
            <a:off x="3771900" y="7639050"/>
            <a:ext cx="322707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B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Novo (set/26)</a:t>
            </a:r>
            <a:endParaRPr lang="en-US" sz="1800" dirty="0"/>
          </a:p>
        </p:txBody>
      </p:sp>
      <p:sp>
        <p:nvSpPr>
          <p:cNvPr id="76" name="Text 74"/>
          <p:cNvSpPr/>
          <p:nvPr/>
        </p:nvSpPr>
        <p:spPr>
          <a:xfrm>
            <a:off x="7200900" y="7639050"/>
            <a:ext cx="254031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78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levantar</a:t>
            </a:r>
            <a:endParaRPr lang="en-US" sz="1800" dirty="0"/>
          </a:p>
        </p:txBody>
      </p:sp>
      <p:sp>
        <p:nvSpPr>
          <p:cNvPr id="77" name="Text 75"/>
          <p:cNvSpPr/>
          <p:nvPr/>
        </p:nvSpPr>
        <p:spPr>
          <a:xfrm>
            <a:off x="9963150" y="7639050"/>
            <a:ext cx="548354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B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Termo de adesão, não contrato</a:t>
            </a:r>
            <a:endParaRPr lang="en-US" sz="1800" dirty="0"/>
          </a:p>
        </p:txBody>
      </p:sp>
      <p:sp>
        <p:nvSpPr>
          <p:cNvPr id="78" name="Text 76"/>
          <p:cNvSpPr/>
          <p:nvPr/>
        </p:nvSpPr>
        <p:spPr>
          <a:xfrm>
            <a:off x="15582900" y="7639050"/>
            <a:ext cx="18669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B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Governança</a:t>
            </a:r>
            <a:endParaRPr lang="en-US" sz="1800" dirty="0"/>
          </a:p>
        </p:txBody>
      </p:sp>
      <p:sp>
        <p:nvSpPr>
          <p:cNvPr id="79" name="Shape 77"/>
          <p:cNvSpPr/>
          <p:nvPr/>
        </p:nvSpPr>
        <p:spPr>
          <a:xfrm>
            <a:off x="762000" y="8039100"/>
            <a:ext cx="16764000" cy="514350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80" name="Text 78"/>
          <p:cNvSpPr/>
          <p:nvPr/>
        </p:nvSpPr>
        <p:spPr>
          <a:xfrm>
            <a:off x="914400" y="8162925"/>
            <a:ext cx="263842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B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Plataforma Renda Fixa</a:t>
            </a:r>
            <a:endParaRPr lang="en-US" sz="1800" dirty="0"/>
          </a:p>
        </p:txBody>
      </p:sp>
      <p:sp>
        <p:nvSpPr>
          <p:cNvPr id="81" name="Text 79"/>
          <p:cNvSpPr/>
          <p:nvPr/>
        </p:nvSpPr>
        <p:spPr>
          <a:xfrm>
            <a:off x="3771900" y="8162925"/>
            <a:ext cx="322707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B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Venda a partir de 2027</a:t>
            </a:r>
            <a:endParaRPr lang="en-US" sz="1800" dirty="0"/>
          </a:p>
        </p:txBody>
      </p:sp>
      <p:sp>
        <p:nvSpPr>
          <p:cNvPr id="82" name="Text 80"/>
          <p:cNvSpPr/>
          <p:nvPr/>
        </p:nvSpPr>
        <p:spPr>
          <a:xfrm>
            <a:off x="7200900" y="8162925"/>
            <a:ext cx="254031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78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800" dirty="0"/>
          </a:p>
        </p:txBody>
      </p:sp>
      <p:sp>
        <p:nvSpPr>
          <p:cNvPr id="83" name="Text 81"/>
          <p:cNvSpPr/>
          <p:nvPr/>
        </p:nvSpPr>
        <p:spPr>
          <a:xfrm>
            <a:off x="9963150" y="8162925"/>
            <a:ext cx="548354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B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Pavimentar fluxo antes da comercialização</a:t>
            </a:r>
            <a:endParaRPr lang="en-US" sz="1800" dirty="0"/>
          </a:p>
        </p:txBody>
      </p:sp>
      <p:sp>
        <p:nvSpPr>
          <p:cNvPr id="84" name="Text 82"/>
          <p:cNvSpPr/>
          <p:nvPr/>
        </p:nvSpPr>
        <p:spPr>
          <a:xfrm>
            <a:off x="15582900" y="8162925"/>
            <a:ext cx="18669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B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Governança</a:t>
            </a:r>
            <a:endParaRPr lang="en-US" sz="1800" dirty="0"/>
          </a:p>
        </p:txBody>
      </p:sp>
      <p:sp>
        <p:nvSpPr>
          <p:cNvPr id="85" name="Text 83"/>
          <p:cNvSpPr/>
          <p:nvPr/>
        </p:nvSpPr>
        <p:spPr>
          <a:xfrm>
            <a:off x="762000" y="8686800"/>
            <a:ext cx="795749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78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Valores faturados YTD · * a confirmar · Ondas: proposta para validação</a:t>
            </a:r>
            <a:endParaRPr lang="en-US" sz="1800" dirty="0"/>
          </a:p>
        </p:txBody>
      </p:sp>
      <p:sp>
        <p:nvSpPr>
          <p:cNvPr id="86" name="Text 84"/>
          <p:cNvSpPr/>
          <p:nvPr/>
        </p:nvSpPr>
        <p:spPr>
          <a:xfrm>
            <a:off x="14909602" y="8686800"/>
            <a:ext cx="287803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78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INFORMAÇÃO INTERNA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3E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685800"/>
            <a:ext cx="693986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spc="-75" kern="0" dirty="0">
                <a:solidFill>
                  <a:srgbClr val="0B1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[B]³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608386" y="533400"/>
            <a:ext cx="13695566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0B1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Capital Markets – roadmap indicativo até jul/2027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762000" y="1685925"/>
            <a:ext cx="4048125" cy="1019175"/>
          </a:xfrm>
          <a:prstGeom prst="rect">
            <a:avLst/>
          </a:prstGeom>
          <a:solidFill>
            <a:srgbClr val="0B1E5B"/>
          </a:solidFill>
          <a:ln/>
        </p:spPr>
      </p:sp>
      <p:sp>
        <p:nvSpPr>
          <p:cNvPr id="5" name="Text 3"/>
          <p:cNvSpPr/>
          <p:nvPr/>
        </p:nvSpPr>
        <p:spPr>
          <a:xfrm>
            <a:off x="990600" y="1857375"/>
            <a:ext cx="395001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Onda 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90600" y="2181225"/>
            <a:ext cx="3950018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– nov/26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762000" y="2705100"/>
            <a:ext cx="4048125" cy="272772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990600" y="2933700"/>
            <a:ext cx="395001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B1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Datawise Plus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990600" y="3352800"/>
            <a:ext cx="3698653" cy="6322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429"/>
              </a:lnSpc>
              <a:buNone/>
            </a:pPr>
            <a:r>
              <a:rPr lang="en-US" sz="1800" dirty="0">
                <a:solidFill>
                  <a:srgbClr val="4A5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Esteira 100% manual; pavimenta o modelo para os demais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000625" y="1685925"/>
            <a:ext cx="4048125" cy="1019175"/>
          </a:xfrm>
          <a:prstGeom prst="rect">
            <a:avLst/>
          </a:prstGeom>
          <a:solidFill>
            <a:srgbClr val="2462B5"/>
          </a:solidFill>
          <a:ln/>
        </p:spPr>
      </p:sp>
      <p:sp>
        <p:nvSpPr>
          <p:cNvPr id="11" name="Text 9"/>
          <p:cNvSpPr/>
          <p:nvPr/>
        </p:nvSpPr>
        <p:spPr>
          <a:xfrm>
            <a:off x="5229225" y="1857375"/>
            <a:ext cx="395001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Onda 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229225" y="2181225"/>
            <a:ext cx="3950018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dez/26 – fev/27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5000625" y="2705100"/>
            <a:ext cx="4048125" cy="272772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5229225" y="2933700"/>
            <a:ext cx="395001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B1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Indicadores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5229225" y="3352800"/>
            <a:ext cx="395001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B1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Data – Histórico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5229225" y="3771900"/>
            <a:ext cx="3698653" cy="6322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429"/>
              </a:lnSpc>
              <a:buNone/>
            </a:pPr>
            <a:r>
              <a:rPr lang="en-US" sz="1800" dirty="0">
                <a:solidFill>
                  <a:srgbClr val="4A5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Produtos manuais; reaproveitam o modelo do Plus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9239250" y="1685925"/>
            <a:ext cx="4048125" cy="1019175"/>
          </a:xfrm>
          <a:prstGeom prst="rect">
            <a:avLst/>
          </a:prstGeom>
          <a:solidFill>
            <a:srgbClr val="4F86CF"/>
          </a:solidFill>
          <a:ln/>
        </p:spPr>
      </p:sp>
      <p:sp>
        <p:nvSpPr>
          <p:cNvPr id="18" name="Text 16"/>
          <p:cNvSpPr/>
          <p:nvPr/>
        </p:nvSpPr>
        <p:spPr>
          <a:xfrm>
            <a:off x="9467850" y="1857375"/>
            <a:ext cx="395001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Onda 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467850" y="2181225"/>
            <a:ext cx="3950018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 – mai/27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9239250" y="2705100"/>
            <a:ext cx="4048125" cy="272772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9467850" y="2933700"/>
            <a:ext cx="395001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B1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 PIP (+ Seeker)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9467850" y="3352800"/>
            <a:ext cx="395001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B1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Target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9467850" y="3771900"/>
            <a:ext cx="395001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B1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Surveillance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9467850" y="4191000"/>
            <a:ext cx="395001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B1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Projeto customizado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9467850" y="4610100"/>
            <a:ext cx="3698653" cy="6322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429"/>
              </a:lnSpc>
              <a:buNone/>
            </a:pPr>
            <a:r>
              <a:rPr lang="en-US" sz="1800" dirty="0">
                <a:solidFill>
                  <a:srgbClr val="4A5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Já alimentados por sistema; correção de processo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13477875" y="1685925"/>
            <a:ext cx="4048125" cy="1019175"/>
          </a:xfrm>
          <a:prstGeom prst="rect">
            <a:avLst/>
          </a:prstGeom>
          <a:solidFill>
            <a:srgbClr val="1E7A55"/>
          </a:solidFill>
          <a:ln/>
        </p:spPr>
      </p:sp>
      <p:sp>
        <p:nvSpPr>
          <p:cNvPr id="27" name="Text 25"/>
          <p:cNvSpPr/>
          <p:nvPr/>
        </p:nvSpPr>
        <p:spPr>
          <a:xfrm>
            <a:off x="13706475" y="1857375"/>
            <a:ext cx="395001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Onda 4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3706475" y="2181225"/>
            <a:ext cx="3950018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 – jul/27</a:t>
            </a:r>
            <a:endParaRPr lang="en-US" sz="2400" dirty="0"/>
          </a:p>
        </p:txBody>
      </p:sp>
      <p:sp>
        <p:nvSpPr>
          <p:cNvPr id="29" name="Shape 27"/>
          <p:cNvSpPr/>
          <p:nvPr/>
        </p:nvSpPr>
        <p:spPr>
          <a:xfrm>
            <a:off x="13477875" y="2705100"/>
            <a:ext cx="4048125" cy="272772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13706475" y="2933700"/>
            <a:ext cx="395001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B1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UP2DATA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13706475" y="3352800"/>
            <a:ext cx="395001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B1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Datawise Reports</a:t>
            </a:r>
            <a:endParaRPr lang="en-US" sz="2100" dirty="0"/>
          </a:p>
        </p:txBody>
      </p:sp>
      <p:sp>
        <p:nvSpPr>
          <p:cNvPr id="32" name="Text 30"/>
          <p:cNvSpPr/>
          <p:nvPr/>
        </p:nvSpPr>
        <p:spPr>
          <a:xfrm>
            <a:off x="13706475" y="3771900"/>
            <a:ext cx="3698653" cy="9292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429"/>
              </a:lnSpc>
              <a:buNone/>
            </a:pPr>
            <a:r>
              <a:rPr lang="en-US" sz="1800" dirty="0">
                <a:solidFill>
                  <a:srgbClr val="4A5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Maior complexidade: BDS / Portal de Serviços e separação do faturamento B3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762000" y="5890022"/>
            <a:ext cx="16764000" cy="19050"/>
          </a:xfrm>
          <a:prstGeom prst="rect">
            <a:avLst/>
          </a:prstGeom>
          <a:solidFill>
            <a:srgbClr val="9DB0CF"/>
          </a:solidFill>
          <a:ln/>
        </p:spPr>
      </p:sp>
      <p:sp>
        <p:nvSpPr>
          <p:cNvPr id="34" name="Text 32"/>
          <p:cNvSpPr/>
          <p:nvPr/>
        </p:nvSpPr>
        <p:spPr>
          <a:xfrm>
            <a:off x="762000" y="6175772"/>
            <a:ext cx="58674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0B1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~3 meses por ciclo</a:t>
            </a:r>
            <a:endParaRPr lang="en-US" sz="1950" dirty="0"/>
          </a:p>
        </p:txBody>
      </p:sp>
      <p:sp>
        <p:nvSpPr>
          <p:cNvPr id="35" name="Text 33"/>
          <p:cNvSpPr/>
          <p:nvPr/>
        </p:nvSpPr>
        <p:spPr>
          <a:xfrm>
            <a:off x="762000" y="6566297"/>
            <a:ext cx="5494020" cy="6322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429"/>
              </a:lnSpc>
              <a:buNone/>
            </a:pPr>
            <a:r>
              <a:rPr lang="en-US" sz="1800" dirty="0">
                <a:solidFill>
                  <a:srgbClr val="4A5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Levantamento, revisão de Ops, preços e materiais com o PM de cada produto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6477000" y="6175772"/>
            <a:ext cx="58674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0B1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Execução sequencial</a:t>
            </a:r>
            <a:endParaRPr lang="en-US" sz="1950" dirty="0"/>
          </a:p>
        </p:txBody>
      </p:sp>
      <p:sp>
        <p:nvSpPr>
          <p:cNvPr id="37" name="Text 35"/>
          <p:cNvSpPr/>
          <p:nvPr/>
        </p:nvSpPr>
        <p:spPr>
          <a:xfrm>
            <a:off x="6477000" y="6566297"/>
            <a:ext cx="5494020" cy="6322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429"/>
              </a:lnSpc>
              <a:buNone/>
            </a:pPr>
            <a:r>
              <a:rPr lang="en-US" sz="1800" dirty="0">
                <a:solidFill>
                  <a:srgbClr val="4A5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Mesmas pessoas em Comercial, Produtos e Faturamento, além do dia a dia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12192000" y="6175772"/>
            <a:ext cx="58674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B465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Fila única Trillia*</a:t>
            </a:r>
            <a:endParaRPr lang="en-US" sz="1950" dirty="0"/>
          </a:p>
        </p:txBody>
      </p:sp>
      <p:sp>
        <p:nvSpPr>
          <p:cNvPr id="39" name="Text 37"/>
          <p:cNvSpPr/>
          <p:nvPr/>
        </p:nvSpPr>
        <p:spPr>
          <a:xfrm>
            <a:off x="12192000" y="6566297"/>
            <a:ext cx="5494020" cy="6322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429"/>
              </a:lnSpc>
              <a:buNone/>
            </a:pPr>
            <a:r>
              <a:rPr lang="en-US" sz="1800" dirty="0">
                <a:solidFill>
                  <a:srgbClr val="4A5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Novas demandas (CED, projetos de jan/27, Neurotech) deslocam o cronograma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762000" y="9639300"/>
            <a:ext cx="714221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78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Ordem e prazos a validar em sessão com Igor, Coutinho e Stein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11899404" y="9639300"/>
            <a:ext cx="618925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78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INFORMAÇÃO INTERNA – INTERNAL INFORMATION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3E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685800"/>
            <a:ext cx="693986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spc="-75" kern="0" dirty="0">
                <a:solidFill>
                  <a:srgbClr val="0B1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[B]³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608386" y="533400"/>
            <a:ext cx="12243450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0B1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Indicadores – foto atual para antes × depois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762000" y="2124075"/>
            <a:ext cx="8039100" cy="28575"/>
          </a:xfrm>
          <a:prstGeom prst="rect">
            <a:avLst/>
          </a:prstGeom>
          <a:solidFill>
            <a:srgbClr val="0B1E5B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685925"/>
            <a:ext cx="828027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B1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Datawise Plus · base set/26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762000" y="2419350"/>
            <a:ext cx="3905250" cy="18478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1028700" y="2686050"/>
            <a:ext cx="3709035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0B1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R$ 10,2M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1028700" y="3467100"/>
            <a:ext cx="370903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4A5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faturado no ano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895850" y="2419350"/>
            <a:ext cx="3905250" cy="18478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5162550" y="2686050"/>
            <a:ext cx="3709035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0B1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5162550" y="3467100"/>
            <a:ext cx="3473006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4A5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ordens de venda criadas manualmente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62000" y="4495800"/>
            <a:ext cx="3905250" cy="15811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1028700" y="4762500"/>
            <a:ext cx="3709035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0B1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24%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1028700" y="5543550"/>
            <a:ext cx="370903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4A5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pago em atraso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895850" y="4495800"/>
            <a:ext cx="3905250" cy="15811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5162550" y="4762500"/>
            <a:ext cx="3709035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9DB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4800" dirty="0"/>
          </a:p>
        </p:txBody>
      </p:sp>
      <p:sp>
        <p:nvSpPr>
          <p:cNvPr id="17" name="Text 15"/>
          <p:cNvSpPr/>
          <p:nvPr/>
        </p:nvSpPr>
        <p:spPr>
          <a:xfrm>
            <a:off x="5162550" y="5543550"/>
            <a:ext cx="370903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4A5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faturas canceladas (a levantar)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486900" y="2124075"/>
            <a:ext cx="8039100" cy="28575"/>
          </a:xfrm>
          <a:prstGeom prst="rect">
            <a:avLst/>
          </a:prstGeom>
          <a:solidFill>
            <a:srgbClr val="0B1E5B"/>
          </a:solidFill>
          <a:ln/>
        </p:spPr>
      </p:sp>
      <p:sp>
        <p:nvSpPr>
          <p:cNvPr id="19" name="Text 17"/>
          <p:cNvSpPr/>
          <p:nvPr/>
        </p:nvSpPr>
        <p:spPr>
          <a:xfrm>
            <a:off x="9486900" y="1685925"/>
            <a:ext cx="828027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B1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Acompanhados por produto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9486900" y="2867025"/>
            <a:ext cx="8039100" cy="9525"/>
          </a:xfrm>
          <a:prstGeom prst="rect">
            <a:avLst/>
          </a:prstGeom>
          <a:solidFill>
            <a:srgbClr val="C3D1E5"/>
          </a:solidFill>
          <a:ln/>
        </p:spPr>
      </p:sp>
      <p:sp>
        <p:nvSpPr>
          <p:cNvPr id="21" name="Text 19"/>
          <p:cNvSpPr/>
          <p:nvPr/>
        </p:nvSpPr>
        <p:spPr>
          <a:xfrm>
            <a:off x="9486900" y="2419350"/>
            <a:ext cx="828027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B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Valor faturado</a:t>
            </a:r>
            <a:endParaRPr lang="en-US" sz="1950" dirty="0"/>
          </a:p>
        </p:txBody>
      </p:sp>
      <p:sp>
        <p:nvSpPr>
          <p:cNvPr id="22" name="Shape 20"/>
          <p:cNvSpPr/>
          <p:nvPr/>
        </p:nvSpPr>
        <p:spPr>
          <a:xfrm>
            <a:off x="9486900" y="3476625"/>
            <a:ext cx="8039100" cy="9525"/>
          </a:xfrm>
          <a:prstGeom prst="rect">
            <a:avLst/>
          </a:prstGeom>
          <a:solidFill>
            <a:srgbClr val="C3D1E5"/>
          </a:solidFill>
          <a:ln/>
        </p:spPr>
      </p:sp>
      <p:sp>
        <p:nvSpPr>
          <p:cNvPr id="23" name="Text 21"/>
          <p:cNvSpPr/>
          <p:nvPr/>
        </p:nvSpPr>
        <p:spPr>
          <a:xfrm>
            <a:off x="9486900" y="3028950"/>
            <a:ext cx="828027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B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Quantidade e valor de faturas canceladas</a:t>
            </a:r>
            <a:endParaRPr lang="en-US" sz="1950" dirty="0"/>
          </a:p>
        </p:txBody>
      </p:sp>
      <p:sp>
        <p:nvSpPr>
          <p:cNvPr id="24" name="Shape 22"/>
          <p:cNvSpPr/>
          <p:nvPr/>
        </p:nvSpPr>
        <p:spPr>
          <a:xfrm>
            <a:off x="9486900" y="4086225"/>
            <a:ext cx="8039100" cy="9525"/>
          </a:xfrm>
          <a:prstGeom prst="rect">
            <a:avLst/>
          </a:prstGeom>
          <a:solidFill>
            <a:srgbClr val="C3D1E5"/>
          </a:solidFill>
          <a:ln/>
        </p:spPr>
      </p:sp>
      <p:sp>
        <p:nvSpPr>
          <p:cNvPr id="25" name="Text 23"/>
          <p:cNvSpPr/>
          <p:nvPr/>
        </p:nvSpPr>
        <p:spPr>
          <a:xfrm>
            <a:off x="9486900" y="3638550"/>
            <a:ext cx="828027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B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 pago em atraso</a:t>
            </a:r>
            <a:endParaRPr lang="en-US" sz="1950" dirty="0"/>
          </a:p>
        </p:txBody>
      </p:sp>
      <p:sp>
        <p:nvSpPr>
          <p:cNvPr id="26" name="Shape 24"/>
          <p:cNvSpPr/>
          <p:nvPr/>
        </p:nvSpPr>
        <p:spPr>
          <a:xfrm>
            <a:off x="9486900" y="4695825"/>
            <a:ext cx="8039100" cy="9525"/>
          </a:xfrm>
          <a:prstGeom prst="rect">
            <a:avLst/>
          </a:prstGeom>
          <a:solidFill>
            <a:srgbClr val="C3D1E5"/>
          </a:solidFill>
          <a:ln/>
        </p:spPr>
      </p:sp>
      <p:sp>
        <p:nvSpPr>
          <p:cNvPr id="27" name="Text 25"/>
          <p:cNvSpPr/>
          <p:nvPr/>
        </p:nvSpPr>
        <p:spPr>
          <a:xfrm>
            <a:off x="9486900" y="4248150"/>
            <a:ext cx="828027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B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 de ordens de venda criadas manualmente</a:t>
            </a:r>
            <a:endParaRPr lang="en-US" sz="1950" dirty="0"/>
          </a:p>
        </p:txBody>
      </p:sp>
      <p:sp>
        <p:nvSpPr>
          <p:cNvPr id="28" name="Shape 26"/>
          <p:cNvSpPr/>
          <p:nvPr/>
        </p:nvSpPr>
        <p:spPr>
          <a:xfrm>
            <a:off x="9486900" y="5305425"/>
            <a:ext cx="8039100" cy="9525"/>
          </a:xfrm>
          <a:prstGeom prst="rect">
            <a:avLst/>
          </a:prstGeom>
          <a:solidFill>
            <a:srgbClr val="C3D1E5"/>
          </a:solidFill>
          <a:ln/>
        </p:spPr>
      </p:sp>
      <p:sp>
        <p:nvSpPr>
          <p:cNvPr id="29" name="Text 27"/>
          <p:cNvSpPr/>
          <p:nvPr/>
        </p:nvSpPr>
        <p:spPr>
          <a:xfrm>
            <a:off x="9486900" y="4857750"/>
            <a:ext cx="828027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B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Valor vendido e não faturado (one-shot e histórico)</a:t>
            </a:r>
            <a:endParaRPr lang="en-US" sz="1950" dirty="0"/>
          </a:p>
        </p:txBody>
      </p:sp>
      <p:sp>
        <p:nvSpPr>
          <p:cNvPr id="30" name="Shape 28"/>
          <p:cNvSpPr/>
          <p:nvPr/>
        </p:nvSpPr>
        <p:spPr>
          <a:xfrm>
            <a:off x="9486900" y="5915025"/>
            <a:ext cx="8039100" cy="9525"/>
          </a:xfrm>
          <a:prstGeom prst="rect">
            <a:avLst/>
          </a:prstGeom>
          <a:solidFill>
            <a:srgbClr val="C3D1E5"/>
          </a:solidFill>
          <a:ln/>
        </p:spPr>
      </p:sp>
      <p:sp>
        <p:nvSpPr>
          <p:cNvPr id="31" name="Text 29"/>
          <p:cNvSpPr/>
          <p:nvPr/>
        </p:nvSpPr>
        <p:spPr>
          <a:xfrm>
            <a:off x="9486900" y="5467350"/>
            <a:ext cx="828027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B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Oportunidades revisadas por produto</a:t>
            </a:r>
            <a:endParaRPr lang="en-US" sz="1950" dirty="0"/>
          </a:p>
        </p:txBody>
      </p:sp>
      <p:sp>
        <p:nvSpPr>
          <p:cNvPr id="32" name="Text 30"/>
          <p:cNvSpPr/>
          <p:nvPr/>
        </p:nvSpPr>
        <p:spPr>
          <a:xfrm>
            <a:off x="762000" y="9639300"/>
            <a:ext cx="728677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78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Valores em validação · extração SAP por material em andamento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11899404" y="9639300"/>
            <a:ext cx="618925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78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INFORMAÇÃO INTERNA – INTERNAL INFORMATION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E5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33400"/>
            <a:ext cx="11055236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Encaminhamentos da recorrência 29/09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15938302" y="819150"/>
            <a:ext cx="174646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0B2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USO INTERNO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62000" y="2247900"/>
            <a:ext cx="8039100" cy="9525"/>
          </a:xfrm>
          <a:prstGeom prst="rect">
            <a:avLst/>
          </a:prstGeom>
          <a:solidFill>
            <a:srgbClr val="2A3F86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781175"/>
            <a:ext cx="3651736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Validar escopo Capital × Trillia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6998806" y="1781175"/>
            <a:ext cx="1802294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950" dirty="0">
                <a:solidFill>
                  <a:srgbClr val="9CC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Rafa / Leandro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762000" y="2895600"/>
            <a:ext cx="8039100" cy="9525"/>
          </a:xfrm>
          <a:prstGeom prst="rect">
            <a:avLst/>
          </a:prstGeom>
          <a:solidFill>
            <a:srgbClr val="2A3F86"/>
          </a:solidFill>
          <a:ln/>
        </p:spPr>
      </p:sp>
      <p:sp>
        <p:nvSpPr>
          <p:cNvPr id="8" name="Text 6"/>
          <p:cNvSpPr/>
          <p:nvPr/>
        </p:nvSpPr>
        <p:spPr>
          <a:xfrm>
            <a:off x="762000" y="2428875"/>
            <a:ext cx="3937248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Estruturar atendimento unificado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6832476" y="2428875"/>
            <a:ext cx="1968624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950" dirty="0">
                <a:solidFill>
                  <a:srgbClr val="9CC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Lucas D. / Tiago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762000" y="3543300"/>
            <a:ext cx="8039100" cy="9525"/>
          </a:xfrm>
          <a:prstGeom prst="rect">
            <a:avLst/>
          </a:prstGeom>
          <a:solidFill>
            <a:srgbClr val="2A3F86"/>
          </a:solidFill>
          <a:ln/>
        </p:spPr>
      </p:sp>
      <p:sp>
        <p:nvSpPr>
          <p:cNvPr id="11" name="Text 9"/>
          <p:cNvSpPr/>
          <p:nvPr/>
        </p:nvSpPr>
        <p:spPr>
          <a:xfrm>
            <a:off x="762000" y="3076575"/>
            <a:ext cx="4598477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Alinhar cadastro SAP e local da fatura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6580197" y="3076575"/>
            <a:ext cx="222090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950" dirty="0">
                <a:solidFill>
                  <a:srgbClr val="9CC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Lucas S. / Talarico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762000" y="4191000"/>
            <a:ext cx="8039100" cy="9525"/>
          </a:xfrm>
          <a:prstGeom prst="rect">
            <a:avLst/>
          </a:prstGeom>
          <a:solidFill>
            <a:srgbClr val="2A3F86"/>
          </a:solidFill>
          <a:ln/>
        </p:spPr>
      </p:sp>
      <p:sp>
        <p:nvSpPr>
          <p:cNvPr id="14" name="Text 12"/>
          <p:cNvSpPr/>
          <p:nvPr/>
        </p:nvSpPr>
        <p:spPr>
          <a:xfrm>
            <a:off x="762000" y="3724275"/>
            <a:ext cx="514870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Sessão produto a produto (ordem e prazo)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6166172" y="3724275"/>
            <a:ext cx="2634928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950" dirty="0">
                <a:solidFill>
                  <a:srgbClr val="9CC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Igor / Coutinho / Stein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762000" y="4838700"/>
            <a:ext cx="8039100" cy="9525"/>
          </a:xfrm>
          <a:prstGeom prst="rect">
            <a:avLst/>
          </a:prstGeom>
          <a:solidFill>
            <a:srgbClr val="2A3F86"/>
          </a:solidFill>
          <a:ln/>
        </p:spPr>
      </p:sp>
      <p:sp>
        <p:nvSpPr>
          <p:cNvPr id="17" name="Text 15"/>
          <p:cNvSpPr/>
          <p:nvPr/>
        </p:nvSpPr>
        <p:spPr>
          <a:xfrm>
            <a:off x="762000" y="4371975"/>
            <a:ext cx="551182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Confirmar datas de orçamento e início do dev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7018943" y="4371975"/>
            <a:ext cx="1782157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950" dirty="0">
                <a:solidFill>
                  <a:srgbClr val="9CC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Leandro / Vitor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9486900" y="2247900"/>
            <a:ext cx="8039100" cy="9525"/>
          </a:xfrm>
          <a:prstGeom prst="rect">
            <a:avLst/>
          </a:prstGeom>
          <a:solidFill>
            <a:srgbClr val="2A3F86"/>
          </a:solidFill>
          <a:ln/>
        </p:spPr>
      </p:sp>
      <p:sp>
        <p:nvSpPr>
          <p:cNvPr id="20" name="Text 18"/>
          <p:cNvSpPr/>
          <p:nvPr/>
        </p:nvSpPr>
        <p:spPr>
          <a:xfrm>
            <a:off x="9486900" y="1781175"/>
            <a:ext cx="432393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Levantar backlog Jira × pool de 40h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16944975" y="1781175"/>
            <a:ext cx="58102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950" dirty="0">
                <a:solidFill>
                  <a:srgbClr val="9CC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Vitor</a:t>
            </a:r>
            <a:endParaRPr lang="en-US" sz="1950" dirty="0"/>
          </a:p>
        </p:txBody>
      </p:sp>
      <p:sp>
        <p:nvSpPr>
          <p:cNvPr id="22" name="Shape 20"/>
          <p:cNvSpPr/>
          <p:nvPr/>
        </p:nvSpPr>
        <p:spPr>
          <a:xfrm>
            <a:off x="9486900" y="2895600"/>
            <a:ext cx="8039100" cy="9525"/>
          </a:xfrm>
          <a:prstGeom prst="rect">
            <a:avLst/>
          </a:prstGeom>
          <a:solidFill>
            <a:srgbClr val="2A3F86"/>
          </a:solidFill>
          <a:ln/>
        </p:spPr>
      </p:sp>
      <p:sp>
        <p:nvSpPr>
          <p:cNvPr id="23" name="Text 21"/>
          <p:cNvSpPr/>
          <p:nvPr/>
        </p:nvSpPr>
        <p:spPr>
          <a:xfrm>
            <a:off x="9486900" y="2428875"/>
            <a:ext cx="3300904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Enviar famílias de produtos</a:t>
            </a:r>
            <a:endParaRPr lang="en-US" sz="1950" dirty="0"/>
          </a:p>
        </p:txBody>
      </p:sp>
      <p:sp>
        <p:nvSpPr>
          <p:cNvPr id="24" name="Text 22"/>
          <p:cNvSpPr/>
          <p:nvPr/>
        </p:nvSpPr>
        <p:spPr>
          <a:xfrm>
            <a:off x="15981551" y="2428875"/>
            <a:ext cx="154444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950" dirty="0">
                <a:solidFill>
                  <a:srgbClr val="9CC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Flavia / Allan</a:t>
            </a:r>
            <a:endParaRPr lang="en-US" sz="1950" dirty="0"/>
          </a:p>
        </p:txBody>
      </p:sp>
      <p:sp>
        <p:nvSpPr>
          <p:cNvPr id="25" name="Shape 23"/>
          <p:cNvSpPr/>
          <p:nvPr/>
        </p:nvSpPr>
        <p:spPr>
          <a:xfrm>
            <a:off x="9486900" y="3543300"/>
            <a:ext cx="8039100" cy="9525"/>
          </a:xfrm>
          <a:prstGeom prst="rect">
            <a:avLst/>
          </a:prstGeom>
          <a:solidFill>
            <a:srgbClr val="2A3F86"/>
          </a:solidFill>
          <a:ln/>
        </p:spPr>
      </p:sp>
      <p:sp>
        <p:nvSpPr>
          <p:cNvPr id="26" name="Text 24"/>
          <p:cNvSpPr/>
          <p:nvPr/>
        </p:nvSpPr>
        <p:spPr>
          <a:xfrm>
            <a:off x="9486900" y="3076575"/>
            <a:ext cx="4035147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Caso ANBIMA: Pipefy × Metranet</a:t>
            </a:r>
            <a:endParaRPr lang="en-US" sz="1950" dirty="0"/>
          </a:p>
        </p:txBody>
      </p:sp>
      <p:sp>
        <p:nvSpPr>
          <p:cNvPr id="27" name="Text 25"/>
          <p:cNvSpPr/>
          <p:nvPr/>
        </p:nvSpPr>
        <p:spPr>
          <a:xfrm>
            <a:off x="15572765" y="3076575"/>
            <a:ext cx="195323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950" dirty="0">
                <a:solidFill>
                  <a:srgbClr val="9CC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Flavia / Nathalia</a:t>
            </a:r>
            <a:endParaRPr lang="en-US" sz="1950" dirty="0"/>
          </a:p>
        </p:txBody>
      </p:sp>
      <p:sp>
        <p:nvSpPr>
          <p:cNvPr id="28" name="Shape 26"/>
          <p:cNvSpPr/>
          <p:nvPr/>
        </p:nvSpPr>
        <p:spPr>
          <a:xfrm>
            <a:off x="9486900" y="4191000"/>
            <a:ext cx="8039100" cy="9525"/>
          </a:xfrm>
          <a:prstGeom prst="rect">
            <a:avLst/>
          </a:prstGeom>
          <a:solidFill>
            <a:srgbClr val="2A3F86"/>
          </a:solidFill>
          <a:ln/>
        </p:spPr>
      </p:sp>
      <p:sp>
        <p:nvSpPr>
          <p:cNvPr id="29" name="Text 27"/>
          <p:cNvSpPr/>
          <p:nvPr/>
        </p:nvSpPr>
        <p:spPr>
          <a:xfrm>
            <a:off x="9486900" y="3724275"/>
            <a:ext cx="4755312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Checar faturamento one-shot de out/25</a:t>
            </a:r>
            <a:endParaRPr lang="en-US" sz="1950" dirty="0"/>
          </a:p>
        </p:txBody>
      </p:sp>
      <p:sp>
        <p:nvSpPr>
          <p:cNvPr id="30" name="Text 28"/>
          <p:cNvSpPr/>
          <p:nvPr/>
        </p:nvSpPr>
        <p:spPr>
          <a:xfrm>
            <a:off x="16623655" y="3724275"/>
            <a:ext cx="90234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950" dirty="0">
                <a:solidFill>
                  <a:srgbClr val="9CC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Phelipe</a:t>
            </a:r>
            <a:endParaRPr lang="en-US" sz="1950" dirty="0"/>
          </a:p>
        </p:txBody>
      </p:sp>
      <p:sp>
        <p:nvSpPr>
          <p:cNvPr id="31" name="Shape 29"/>
          <p:cNvSpPr/>
          <p:nvPr/>
        </p:nvSpPr>
        <p:spPr>
          <a:xfrm>
            <a:off x="9486900" y="4838700"/>
            <a:ext cx="8039100" cy="9525"/>
          </a:xfrm>
          <a:prstGeom prst="rect">
            <a:avLst/>
          </a:prstGeom>
          <a:solidFill>
            <a:srgbClr val="2A3F86"/>
          </a:solidFill>
          <a:ln/>
        </p:spPr>
      </p:sp>
      <p:sp>
        <p:nvSpPr>
          <p:cNvPr id="32" name="Text 30"/>
          <p:cNvSpPr/>
          <p:nvPr/>
        </p:nvSpPr>
        <p:spPr>
          <a:xfrm>
            <a:off x="9486900" y="4371975"/>
            <a:ext cx="5118422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Estratégia de testes em produção paralela</a:t>
            </a:r>
            <a:endParaRPr lang="en-US" sz="1950" dirty="0"/>
          </a:p>
        </p:txBody>
      </p:sp>
      <p:sp>
        <p:nvSpPr>
          <p:cNvPr id="33" name="Text 31"/>
          <p:cNvSpPr/>
          <p:nvPr/>
        </p:nvSpPr>
        <p:spPr>
          <a:xfrm>
            <a:off x="15829955" y="4371975"/>
            <a:ext cx="169604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950" dirty="0">
                <a:solidFill>
                  <a:srgbClr val="9CC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Nathalia / Igor</a:t>
            </a:r>
            <a:endParaRPr lang="en-US" sz="1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2026-10-06T02:26:30Z</dcterms:created>
  <dcterms:modified xsi:type="dcterms:W3CDTF">2026-10-06T02:26:30Z</dcterms:modified>
</cp:coreProperties>
</file>