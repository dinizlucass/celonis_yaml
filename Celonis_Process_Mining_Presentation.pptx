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Boas-vindas. Explicar o formato: uns 15 minutos de contexto sobre mineração de processos e depois a maior parte do tempo dentro da ferramenta.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Mineração de processos usa os registros que os sistemas já guardam para reconstruir o processo como ele realmente aconteceu. Não é entrevista nem workshop: são dados. Três usos principais: descobrir, verificar e melhorar.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cima, o processo como está no manual. Embaixo, o que os dados mostram: alterações de pedido, bloqueios, estornos, cobrança. Cada desvio custa tempo e dinheiro, e normalmente fica invisível porque cada área vê só a sua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onde vêm os dados: todo sistema registra quem fez o quê e quando. O Celonis se conecta a esses sistemas, extrai os registros periodicamente, organiza tudo num modelo e entrega aplicativos para cada área. Ninguém precisa digitar nada a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coração do modelo. Objetos são as coisas do negócio: pedido, entrega, fatura, pagamento, chamado. Eventos são o que acontece com eles, sempre com data e hora. Um mesmo evento pode tocar vários objetos, por isso vemos o processo inteiro e não só uma tabela.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Juntando objetos e eventos de todos os sistemas, temos um gêmeo digital: uma cópia viva do processo, atualizada continuamente. Serve para enxergar, para simular cenários e para todas as áreas falarem a partir dos mesmos números.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Enxergar não basta. Action Flows automatizam a resposta: quando algo acontece, uma ação dispara sozinha. O Process Copilot permite perguntar em linguagem natural e receber a resposta com base nos dados do processo.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vamos abrir a ferramenta. Primeiro o app de Contas a Receber, depois o de Atendimento.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444589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2C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CELONIS · PROCESS MINING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5552390" y="952500"/>
            <a:ext cx="19614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D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Outubro 2026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952500" y="3628132"/>
            <a:ext cx="266700" cy="266700"/>
          </a:xfrm>
          <a:prstGeom prst="ellipse">
            <a:avLst/>
          </a:prstGeom>
          <a:solidFill>
            <a:srgbClr val="2C5BD6"/>
          </a:solidFill>
          <a:ln/>
        </p:spPr>
      </p:sp>
      <p:sp>
        <p:nvSpPr>
          <p:cNvPr id="5" name="Shape 3"/>
          <p:cNvSpPr/>
          <p:nvPr/>
        </p:nvSpPr>
        <p:spPr>
          <a:xfrm>
            <a:off x="1219200" y="3747195"/>
            <a:ext cx="1143000" cy="28575"/>
          </a:xfrm>
          <a:prstGeom prst="rect">
            <a:avLst/>
          </a:prstGeom>
          <a:solidFill>
            <a:srgbClr val="2C5BD6"/>
          </a:solidFill>
          <a:ln/>
        </p:spPr>
      </p:sp>
      <p:sp>
        <p:nvSpPr>
          <p:cNvPr id="6" name="Shape 4"/>
          <p:cNvSpPr/>
          <p:nvPr/>
        </p:nvSpPr>
        <p:spPr>
          <a:xfrm>
            <a:off x="2362200" y="3628132"/>
            <a:ext cx="266700" cy="266700"/>
          </a:xfrm>
          <a:prstGeom prst="ellipse">
            <a:avLst/>
          </a:prstGeom>
          <a:solidFill>
            <a:srgbClr val="2C5BD6"/>
          </a:solidFill>
          <a:ln/>
        </p:spPr>
      </p:sp>
      <p:sp>
        <p:nvSpPr>
          <p:cNvPr id="7" name="Shape 5"/>
          <p:cNvSpPr/>
          <p:nvPr/>
        </p:nvSpPr>
        <p:spPr>
          <a:xfrm>
            <a:off x="2628900" y="3747195"/>
            <a:ext cx="1143000" cy="28575"/>
          </a:xfrm>
          <a:prstGeom prst="rect">
            <a:avLst/>
          </a:prstGeom>
          <a:solidFill>
            <a:srgbClr val="2C5BD6"/>
          </a:solidFill>
          <a:ln/>
        </p:spPr>
      </p:sp>
      <p:sp>
        <p:nvSpPr>
          <p:cNvPr id="8" name="Shape 6"/>
          <p:cNvSpPr/>
          <p:nvPr/>
        </p:nvSpPr>
        <p:spPr>
          <a:xfrm>
            <a:off x="3771900" y="3628132"/>
            <a:ext cx="266700" cy="266700"/>
          </a:xfrm>
          <a:prstGeom prst="ellipse">
            <a:avLst/>
          </a:prstGeom>
          <a:solidFill>
            <a:srgbClr val="2C5BD6"/>
          </a:solidFill>
          <a:ln/>
        </p:spPr>
      </p:sp>
      <p:sp>
        <p:nvSpPr>
          <p:cNvPr id="9" name="Shape 7"/>
          <p:cNvSpPr/>
          <p:nvPr/>
        </p:nvSpPr>
        <p:spPr>
          <a:xfrm>
            <a:off x="4038600" y="3747195"/>
            <a:ext cx="1143000" cy="28575"/>
          </a:xfrm>
          <a:prstGeom prst="rect">
            <a:avLst/>
          </a:prstGeom>
          <a:solidFill>
            <a:srgbClr val="C9C6BE"/>
          </a:solidFill>
          <a:ln/>
        </p:spPr>
      </p:sp>
      <p:sp>
        <p:nvSpPr>
          <p:cNvPr id="10" name="Shape 8"/>
          <p:cNvSpPr/>
          <p:nvPr/>
        </p:nvSpPr>
        <p:spPr>
          <a:xfrm>
            <a:off x="5181600" y="3628132"/>
            <a:ext cx="266700" cy="266700"/>
          </a:xfrm>
          <a:prstGeom prst="ellipse">
            <a:avLst/>
          </a:prstGeom>
          <a:ln w="28575">
            <a:solidFill>
              <a:srgbClr val="C9C6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" y="4275832"/>
            <a:ext cx="1802130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719"/>
              </a:lnSpc>
              <a:buNone/>
            </a:pPr>
            <a:r>
              <a:rPr lang="en-US" sz="11250" spc="-225" kern="0" dirty="0">
                <a:solidFill>
                  <a:srgbClr val="1A1C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Inteligência de Processos</a:t>
            </a:r>
            <a:endParaRPr lang="en-US" sz="11250" dirty="0"/>
          </a:p>
        </p:txBody>
      </p:sp>
      <p:sp>
        <p:nvSpPr>
          <p:cNvPr id="12" name="Text 10"/>
          <p:cNvSpPr/>
          <p:nvPr/>
        </p:nvSpPr>
        <p:spPr>
          <a:xfrm>
            <a:off x="952500" y="6085582"/>
            <a:ext cx="1362075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00"/>
              </a:lnSpc>
              <a:buNone/>
            </a:pPr>
            <a:r>
              <a:rPr lang="en-US" sz="3300" dirty="0">
                <a:solidFill>
                  <a:srgbClr val="4A4C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introdução à mineração de processos com Celonis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952500" y="8982075"/>
            <a:ext cx="180213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para a área de negócio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2C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CONCEITO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43050"/>
            <a:ext cx="14716125" cy="1546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85"/>
              </a:lnSpc>
              <a:buNone/>
            </a:pPr>
            <a:r>
              <a:rPr lang="en-US" sz="5400" spc="-54" kern="0" dirty="0">
                <a:solidFill>
                  <a:srgbClr val="1A1C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Mineração de processos mostra como o trabalho realmente acontece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6928545"/>
            <a:ext cx="5079950" cy="28575"/>
          </a:xfrm>
          <a:prstGeom prst="rect">
            <a:avLst/>
          </a:prstGeom>
          <a:solidFill>
            <a:srgbClr val="1A1C20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7261920"/>
            <a:ext cx="55879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C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7804845"/>
            <a:ext cx="5587945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A1C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Descobrir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52500" y="8671620"/>
            <a:ext cx="5232349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4A4C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Reconstruir o fluxo real a partir dos registros dos sistemas.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603950" y="6928545"/>
            <a:ext cx="5079950" cy="28575"/>
          </a:xfrm>
          <a:prstGeom prst="rect">
            <a:avLst/>
          </a:prstGeom>
          <a:solidFill>
            <a:srgbClr val="1A1C20"/>
          </a:solidFill>
          <a:ln/>
        </p:spPr>
      </p:sp>
      <p:sp>
        <p:nvSpPr>
          <p:cNvPr id="9" name="Text 7"/>
          <p:cNvSpPr/>
          <p:nvPr/>
        </p:nvSpPr>
        <p:spPr>
          <a:xfrm>
            <a:off x="6603950" y="7261920"/>
            <a:ext cx="55879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C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603950" y="7804845"/>
            <a:ext cx="5587945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A1C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Verificar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6603950" y="8671620"/>
            <a:ext cx="5232349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4A4C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o real com o processo esperado e achar desvios.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255401" y="6928545"/>
            <a:ext cx="5079950" cy="28575"/>
          </a:xfrm>
          <a:prstGeom prst="rect">
            <a:avLst/>
          </a:prstGeom>
          <a:solidFill>
            <a:srgbClr val="1A1C20"/>
          </a:solidFill>
          <a:ln/>
        </p:spPr>
      </p:sp>
      <p:sp>
        <p:nvSpPr>
          <p:cNvPr id="13" name="Text 11"/>
          <p:cNvSpPr/>
          <p:nvPr/>
        </p:nvSpPr>
        <p:spPr>
          <a:xfrm>
            <a:off x="12255401" y="7261920"/>
            <a:ext cx="55879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C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255401" y="7804845"/>
            <a:ext cx="5587945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A1C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Melhorar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12255401" y="8671620"/>
            <a:ext cx="5232349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4A4C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Priorizar o que gera atraso, retrabalho e custo, e agir.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2C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CAMINHO FELIZ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43050"/>
            <a:ext cx="18021300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85"/>
              </a:lnSpc>
              <a:buNone/>
            </a:pPr>
            <a:r>
              <a:rPr lang="en-US" sz="5400" spc="-54" kern="0" dirty="0">
                <a:solidFill>
                  <a:srgbClr val="1A1C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caminho feliz raramente é o caminho real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3372743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6B6D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IMAGINAMOS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4110930"/>
            <a:ext cx="2697361" cy="828675"/>
          </a:xfrm>
          <a:prstGeom prst="roundRect">
            <a:avLst>
              <a:gd name="adj" fmla="val 11494"/>
            </a:avLst>
          </a:prstGeom>
          <a:solidFill>
            <a:srgbClr val="2C5BD6"/>
          </a:solidFill>
          <a:ln/>
        </p:spPr>
      </p:sp>
      <p:sp>
        <p:nvSpPr>
          <p:cNvPr id="6" name="Text 4"/>
          <p:cNvSpPr/>
          <p:nvPr/>
        </p:nvSpPr>
        <p:spPr>
          <a:xfrm>
            <a:off x="1140640" y="4339530"/>
            <a:ext cx="232108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criado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840361" y="4301430"/>
            <a:ext cx="4191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2C5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4373761" y="3925193"/>
            <a:ext cx="2697510" cy="1200150"/>
          </a:xfrm>
          <a:prstGeom prst="roundRect">
            <a:avLst>
              <a:gd name="adj" fmla="val 7937"/>
            </a:avLst>
          </a:prstGeom>
          <a:solidFill>
            <a:srgbClr val="2C5BD6"/>
          </a:solidFill>
          <a:ln/>
        </p:spPr>
      </p:sp>
      <p:sp>
        <p:nvSpPr>
          <p:cNvPr id="9" name="Text 7"/>
          <p:cNvSpPr/>
          <p:nvPr/>
        </p:nvSpPr>
        <p:spPr>
          <a:xfrm>
            <a:off x="4561898" y="4153793"/>
            <a:ext cx="232123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aprovado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261771" y="4301430"/>
            <a:ext cx="4191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2C5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7795171" y="4110930"/>
            <a:ext cx="2697510" cy="828675"/>
          </a:xfrm>
          <a:prstGeom prst="roundRect">
            <a:avLst>
              <a:gd name="adj" fmla="val 11494"/>
            </a:avLst>
          </a:prstGeom>
          <a:solidFill>
            <a:srgbClr val="2C5BD6"/>
          </a:solidFill>
          <a:ln/>
        </p:spPr>
      </p:sp>
      <p:sp>
        <p:nvSpPr>
          <p:cNvPr id="12" name="Text 10"/>
          <p:cNvSpPr/>
          <p:nvPr/>
        </p:nvSpPr>
        <p:spPr>
          <a:xfrm>
            <a:off x="7983308" y="4339530"/>
            <a:ext cx="232123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683180" y="4301430"/>
            <a:ext cx="4191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2C5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11216580" y="4110930"/>
            <a:ext cx="2697510" cy="828675"/>
          </a:xfrm>
          <a:prstGeom prst="roundRect">
            <a:avLst>
              <a:gd name="adj" fmla="val 11494"/>
            </a:avLst>
          </a:prstGeom>
          <a:solidFill>
            <a:srgbClr val="2C5BD6"/>
          </a:solidFill>
          <a:ln/>
        </p:spPr>
      </p:sp>
      <p:sp>
        <p:nvSpPr>
          <p:cNvPr id="15" name="Text 13"/>
          <p:cNvSpPr/>
          <p:nvPr/>
        </p:nvSpPr>
        <p:spPr>
          <a:xfrm>
            <a:off x="11404718" y="4339530"/>
            <a:ext cx="232123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 emitida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4104590" y="4301430"/>
            <a:ext cx="4191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2C5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14637990" y="4110930"/>
            <a:ext cx="2697510" cy="828675"/>
          </a:xfrm>
          <a:prstGeom prst="roundRect">
            <a:avLst>
              <a:gd name="adj" fmla="val 11494"/>
            </a:avLst>
          </a:prstGeom>
          <a:solidFill>
            <a:srgbClr val="2C5BD6"/>
          </a:solidFill>
          <a:ln/>
        </p:spPr>
      </p:sp>
      <p:sp>
        <p:nvSpPr>
          <p:cNvPr id="18" name="Text 16"/>
          <p:cNvSpPr/>
          <p:nvPr/>
        </p:nvSpPr>
        <p:spPr>
          <a:xfrm>
            <a:off x="14826128" y="4339530"/>
            <a:ext cx="232123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52500" y="5734943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6B6D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REALMENTE ACONTECE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2500" y="6287393"/>
            <a:ext cx="2849761" cy="828675"/>
          </a:xfrm>
          <a:prstGeom prst="roundRect">
            <a:avLst>
              <a:gd name="adj" fmla="val 11494"/>
            </a:avLst>
          </a:prstGeom>
          <a:solidFill>
            <a:srgbClr val="E8E5DD"/>
          </a:solidFill>
          <a:ln/>
        </p:spPr>
      </p:sp>
      <p:sp>
        <p:nvSpPr>
          <p:cNvPr id="21" name="Text 19"/>
          <p:cNvSpPr/>
          <p:nvPr/>
        </p:nvSpPr>
        <p:spPr>
          <a:xfrm>
            <a:off x="1138354" y="6515993"/>
            <a:ext cx="247805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criado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4335661" y="6287393"/>
            <a:ext cx="2849910" cy="828675"/>
          </a:xfrm>
          <a:prstGeom prst="roundRect">
            <a:avLst>
              <a:gd name="adj" fmla="val 11494"/>
            </a:avLst>
          </a:prstGeom>
          <a:solidFill>
            <a:srgbClr val="E8E5DD"/>
          </a:solidFill>
          <a:ln/>
        </p:spPr>
      </p:sp>
      <p:sp>
        <p:nvSpPr>
          <p:cNvPr id="23" name="Text 21"/>
          <p:cNvSpPr/>
          <p:nvPr/>
        </p:nvSpPr>
        <p:spPr>
          <a:xfrm>
            <a:off x="4521512" y="6515993"/>
            <a:ext cx="247820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aprovado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7718971" y="6287393"/>
            <a:ext cx="2849910" cy="828675"/>
          </a:xfrm>
          <a:prstGeom prst="roundRect">
            <a:avLst>
              <a:gd name="adj" fmla="val 11494"/>
            </a:avLst>
          </a:prstGeom>
          <a:solidFill>
            <a:srgbClr val="E8E5DD"/>
          </a:solidFill>
          <a:ln/>
        </p:spPr>
      </p:sp>
      <p:sp>
        <p:nvSpPr>
          <p:cNvPr id="25" name="Text 23"/>
          <p:cNvSpPr/>
          <p:nvPr/>
        </p:nvSpPr>
        <p:spPr>
          <a:xfrm>
            <a:off x="7904822" y="6515993"/>
            <a:ext cx="247820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1102280" y="6287393"/>
            <a:ext cx="2849910" cy="828675"/>
          </a:xfrm>
          <a:prstGeom prst="roundRect">
            <a:avLst>
              <a:gd name="adj" fmla="val 11494"/>
            </a:avLst>
          </a:prstGeom>
          <a:solidFill>
            <a:srgbClr val="E8E5DD"/>
          </a:solidFill>
          <a:ln/>
        </p:spPr>
      </p:sp>
      <p:sp>
        <p:nvSpPr>
          <p:cNvPr id="27" name="Text 25"/>
          <p:cNvSpPr/>
          <p:nvPr/>
        </p:nvSpPr>
        <p:spPr>
          <a:xfrm>
            <a:off x="11288132" y="6515993"/>
            <a:ext cx="247820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 emitida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4485590" y="6287393"/>
            <a:ext cx="2849910" cy="828675"/>
          </a:xfrm>
          <a:prstGeom prst="roundRect">
            <a:avLst>
              <a:gd name="adj" fmla="val 11494"/>
            </a:avLst>
          </a:prstGeom>
          <a:solidFill>
            <a:srgbClr val="E8E5DD"/>
          </a:solidFill>
          <a:ln/>
        </p:spPr>
      </p:sp>
      <p:sp>
        <p:nvSpPr>
          <p:cNvPr id="29" name="Text 27"/>
          <p:cNvSpPr/>
          <p:nvPr/>
        </p:nvSpPr>
        <p:spPr>
          <a:xfrm>
            <a:off x="14671442" y="6515993"/>
            <a:ext cx="247820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952500" y="7306568"/>
            <a:ext cx="2849761" cy="790575"/>
          </a:xfrm>
          <a:prstGeom prst="roundRect">
            <a:avLst>
              <a:gd name="adj" fmla="val 12048"/>
            </a:avLst>
          </a:prstGeom>
          <a:ln w="28575">
            <a:solidFill>
              <a:srgbClr val="C2410C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128829" y="7525643"/>
            <a:ext cx="24971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alterado ×3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4335661" y="7306568"/>
            <a:ext cx="2849910" cy="790575"/>
          </a:xfrm>
          <a:prstGeom prst="roundRect">
            <a:avLst>
              <a:gd name="adj" fmla="val 12048"/>
            </a:avLst>
          </a:prstGeom>
          <a:ln w="28575">
            <a:solidFill>
              <a:srgbClr val="C2410C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511987" y="7525643"/>
            <a:ext cx="249725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Bloqueio de crédito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7718971" y="7306568"/>
            <a:ext cx="2849910" cy="790575"/>
          </a:xfrm>
          <a:prstGeom prst="roundRect">
            <a:avLst>
              <a:gd name="adj" fmla="val 12048"/>
            </a:avLst>
          </a:prstGeom>
          <a:ln w="28575">
            <a:solidFill>
              <a:srgbClr val="C2410C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7895297" y="7525643"/>
            <a:ext cx="249725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parcial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11102280" y="7306568"/>
            <a:ext cx="2849910" cy="790575"/>
          </a:xfrm>
          <a:prstGeom prst="roundRect">
            <a:avLst>
              <a:gd name="adj" fmla="val 12048"/>
            </a:avLst>
          </a:prstGeom>
          <a:ln w="28575">
            <a:solidFill>
              <a:srgbClr val="C2410C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11278607" y="7525643"/>
            <a:ext cx="249725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 estornada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14485590" y="7306568"/>
            <a:ext cx="2849910" cy="790575"/>
          </a:xfrm>
          <a:prstGeom prst="roundRect">
            <a:avLst>
              <a:gd name="adj" fmla="val 12048"/>
            </a:avLst>
          </a:prstGeom>
          <a:ln w="28575">
            <a:solidFill>
              <a:srgbClr val="C2410C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4661917" y="7525643"/>
            <a:ext cx="249725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e atraso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952500" y="9172575"/>
            <a:ext cx="180213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ilustrativo de Order-to-Cash: do pedido ao recebimento.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2C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CONEXÃO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43050"/>
            <a:ext cx="18021300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85"/>
              </a:lnSpc>
              <a:buNone/>
            </a:pPr>
            <a:r>
              <a:rPr lang="en-US" sz="5400" spc="-54" kern="0" dirty="0">
                <a:solidFill>
                  <a:srgbClr val="1A1C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dados já existem nos sistemas que usamos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4149030"/>
            <a:ext cx="36880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C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Origem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52500" y="4625280"/>
            <a:ext cx="368808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A1C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52500" y="5358705"/>
            <a:ext cx="3352800" cy="695325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9050">
            <a:solidFill>
              <a:srgbClr val="DEDA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2050" y="5530155"/>
            <a:ext cx="30342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(SAP)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52500" y="6168330"/>
            <a:ext cx="3352800" cy="695325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9050">
            <a:solidFill>
              <a:srgbClr val="DEDA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2050" y="6339780"/>
            <a:ext cx="30342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e atendimento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52500" y="6977955"/>
            <a:ext cx="3352800" cy="695325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9050">
            <a:solidFill>
              <a:srgbClr val="DEDA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2050" y="7149405"/>
            <a:ext cx="30342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 e cobrança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72000" y="5615880"/>
            <a:ext cx="5334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2C5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295900" y="4506218"/>
            <a:ext cx="36880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C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Extração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295900" y="4982468"/>
            <a:ext cx="368808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A1C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Conectores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5295900" y="5715893"/>
            <a:ext cx="345338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4A4C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automática e periódica dos registros, sem alterar o sistema de origem.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915400" y="5615880"/>
            <a:ext cx="5334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2C5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639300" y="4506218"/>
            <a:ext cx="36880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C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Modelo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639300" y="4982468"/>
            <a:ext cx="368808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A1C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Objetos e eventos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9639300" y="5715893"/>
            <a:ext cx="345338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4A4C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dados são organizados no formato do processo: o quê, o que aconteceu e quando.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3258800" y="5615880"/>
            <a:ext cx="5334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2C5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13982700" y="4363343"/>
            <a:ext cx="3352800" cy="3095625"/>
          </a:xfrm>
          <a:prstGeom prst="roundRect">
            <a:avLst>
              <a:gd name="adj" fmla="val 4308"/>
            </a:avLst>
          </a:prstGeom>
          <a:solidFill>
            <a:srgbClr val="2C5BD6"/>
          </a:solidFill>
          <a:ln/>
        </p:spPr>
      </p:sp>
      <p:sp>
        <p:nvSpPr>
          <p:cNvPr id="22" name="Text 20"/>
          <p:cNvSpPr/>
          <p:nvPr/>
        </p:nvSpPr>
        <p:spPr>
          <a:xfrm>
            <a:off x="14325600" y="4706243"/>
            <a:ext cx="2933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Uso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4325600" y="5182493"/>
            <a:ext cx="29337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Apps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4325600" y="5915918"/>
            <a:ext cx="274701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Painéis e listas de trabalho prontos para cada área.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2C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OBJETOS E EVENTOS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43050"/>
            <a:ext cx="18021300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85"/>
              </a:lnSpc>
              <a:buNone/>
            </a:pPr>
            <a:r>
              <a:rPr lang="en-US" sz="5400" spc="-54" kern="0" dirty="0">
                <a:solidFill>
                  <a:srgbClr val="1A1C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 processo é feito de objetos e eventos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4182368"/>
            <a:ext cx="6496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6B6D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OBJETOS — AS COISAS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4734818"/>
            <a:ext cx="2876550" cy="866775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19050">
            <a:solidFill>
              <a:srgbClr val="2C5B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0150" y="4982468"/>
            <a:ext cx="246754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de venda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3981450" y="4734818"/>
            <a:ext cx="2876550" cy="866775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19050">
            <a:solidFill>
              <a:srgbClr val="2C5B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29100" y="4982468"/>
            <a:ext cx="246754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5753993"/>
            <a:ext cx="2876550" cy="866775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19050">
            <a:solidFill>
              <a:srgbClr val="2C5B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0150" y="6001643"/>
            <a:ext cx="246754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3981450" y="5753993"/>
            <a:ext cx="2876550" cy="866775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19050">
            <a:solidFill>
              <a:srgbClr val="2C5B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29100" y="6001643"/>
            <a:ext cx="246754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52500" y="6773168"/>
            <a:ext cx="2876550" cy="866775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19050">
            <a:solidFill>
              <a:srgbClr val="2C5B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0150" y="7020818"/>
            <a:ext cx="246754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3981450" y="6773168"/>
            <a:ext cx="2876550" cy="866775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19050">
            <a:solidFill>
              <a:srgbClr val="2C5B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9100" y="7020818"/>
            <a:ext cx="246754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Chamado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620000" y="3648968"/>
            <a:ext cx="10687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6B6D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EVENTOS — O QUE ACONTECE, E QUANDO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7620000" y="4811018"/>
            <a:ext cx="9715500" cy="28575"/>
          </a:xfrm>
          <a:prstGeom prst="rect">
            <a:avLst/>
          </a:prstGeom>
          <a:solidFill>
            <a:srgbClr val="1A1C20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0" y="4353818"/>
            <a:ext cx="33586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673358" y="4353818"/>
            <a:ext cx="42748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4559558" y="4353818"/>
            <a:ext cx="30533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 hora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7620000" y="5496818"/>
            <a:ext cx="9715500" cy="9525"/>
          </a:xfrm>
          <a:prstGeom prst="rect">
            <a:avLst/>
          </a:prstGeom>
          <a:solidFill>
            <a:srgbClr val="D6D2C9"/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0" y="4991993"/>
            <a:ext cx="335869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4510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673358" y="4991993"/>
            <a:ext cx="427482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criado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4559558" y="4991993"/>
            <a:ext cx="30533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C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02/09 09:14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7620000" y="6163568"/>
            <a:ext cx="9715500" cy="9525"/>
          </a:xfrm>
          <a:prstGeom prst="rect">
            <a:avLst/>
          </a:prstGeom>
          <a:solidFill>
            <a:srgbClr val="D6D2C9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0" y="5658743"/>
            <a:ext cx="335869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4510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0673358" y="5658743"/>
            <a:ext cx="427482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alterado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4559558" y="5658743"/>
            <a:ext cx="30533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C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03/09 16:02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7620000" y="6830318"/>
            <a:ext cx="9715500" cy="9525"/>
          </a:xfrm>
          <a:prstGeom prst="rect">
            <a:avLst/>
          </a:prstGeom>
          <a:solidFill>
            <a:srgbClr val="D6D2C9"/>
          </a:solidFill>
          <a:ln/>
        </p:spPr>
      </p:sp>
      <p:sp>
        <p:nvSpPr>
          <p:cNvPr id="31" name="Text 29"/>
          <p:cNvSpPr/>
          <p:nvPr/>
        </p:nvSpPr>
        <p:spPr>
          <a:xfrm>
            <a:off x="7620000" y="6325493"/>
            <a:ext cx="335869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8821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0673358" y="6325493"/>
            <a:ext cx="427482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Mercadoria enviada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4559558" y="6325493"/>
            <a:ext cx="30533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C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05/09 11:30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7620000" y="7497068"/>
            <a:ext cx="9715500" cy="9525"/>
          </a:xfrm>
          <a:prstGeom prst="rect">
            <a:avLst/>
          </a:prstGeom>
          <a:solidFill>
            <a:srgbClr val="D6D2C9"/>
          </a:solidFill>
          <a:ln/>
        </p:spPr>
      </p:sp>
      <p:sp>
        <p:nvSpPr>
          <p:cNvPr id="35" name="Text 33"/>
          <p:cNvSpPr/>
          <p:nvPr/>
        </p:nvSpPr>
        <p:spPr>
          <a:xfrm>
            <a:off x="7620000" y="6992243"/>
            <a:ext cx="335869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 9033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0673358" y="6992243"/>
            <a:ext cx="427482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 emitida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4559558" y="6992243"/>
            <a:ext cx="30533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C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06/09 08:45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7620000" y="8163818"/>
            <a:ext cx="9715500" cy="9525"/>
          </a:xfrm>
          <a:prstGeom prst="rect">
            <a:avLst/>
          </a:prstGeom>
          <a:solidFill>
            <a:srgbClr val="D6D2C9"/>
          </a:solidFill>
          <a:ln/>
        </p:spPr>
      </p:sp>
      <p:sp>
        <p:nvSpPr>
          <p:cNvPr id="39" name="Text 37"/>
          <p:cNvSpPr/>
          <p:nvPr/>
        </p:nvSpPr>
        <p:spPr>
          <a:xfrm>
            <a:off x="7620000" y="7658993"/>
            <a:ext cx="335869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Chamado 112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10673358" y="7658993"/>
            <a:ext cx="427482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contesta valor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4559558" y="7658993"/>
            <a:ext cx="30533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12/09 14:20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C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84867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8F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GÊMEO DIGITAL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43050"/>
            <a:ext cx="7946708" cy="1546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85"/>
              </a:lnSpc>
              <a:buNone/>
            </a:pPr>
            <a:r>
              <a:rPr lang="en-US" sz="5400" spc="-54" kern="0" dirty="0">
                <a:solidFill>
                  <a:srgbClr val="F6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resultado é um gêmeo digital do processo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3432572"/>
            <a:ext cx="7946708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2550" dirty="0">
                <a:solidFill>
                  <a:srgbClr val="C9C7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réplica viva da operação, montada a partir dos dados dos sistemas e atualizada continuamente.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620250" y="3800475"/>
            <a:ext cx="7715250" cy="9525"/>
          </a:xfrm>
          <a:prstGeom prst="rect">
            <a:avLst/>
          </a:prstGeom>
          <a:solidFill>
            <a:srgbClr val="44464C"/>
          </a:solidFill>
          <a:ln/>
        </p:spPr>
      </p:sp>
      <p:sp>
        <p:nvSpPr>
          <p:cNvPr id="6" name="Text 4"/>
          <p:cNvSpPr/>
          <p:nvPr/>
        </p:nvSpPr>
        <p:spPr>
          <a:xfrm>
            <a:off x="9620250" y="4152900"/>
            <a:ext cx="838200" cy="151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F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610850" y="4152900"/>
            <a:ext cx="739711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6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Enxergar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610850" y="4829175"/>
            <a:ext cx="692639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C9C7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processo de ponta a ponta, entre áreas e sistemas.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620250" y="5972175"/>
            <a:ext cx="7715250" cy="9525"/>
          </a:xfrm>
          <a:prstGeom prst="rect">
            <a:avLst/>
          </a:prstGeom>
          <a:solidFill>
            <a:srgbClr val="44464C"/>
          </a:solidFill>
          <a:ln/>
        </p:spPr>
      </p:sp>
      <p:sp>
        <p:nvSpPr>
          <p:cNvPr id="10" name="Text 8"/>
          <p:cNvSpPr/>
          <p:nvPr/>
        </p:nvSpPr>
        <p:spPr>
          <a:xfrm>
            <a:off x="9620250" y="6324600"/>
            <a:ext cx="838200" cy="1114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F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610850" y="6324600"/>
            <a:ext cx="739711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6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Simular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0610850" y="7000875"/>
            <a:ext cx="73971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C9C7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o impacto de uma mudança antes de fazê-la.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620250" y="9515475"/>
            <a:ext cx="7715250" cy="9525"/>
          </a:xfrm>
          <a:prstGeom prst="rect">
            <a:avLst/>
          </a:prstGeom>
          <a:solidFill>
            <a:srgbClr val="44464C"/>
          </a:solidFill>
          <a:ln/>
        </p:spPr>
      </p:sp>
      <p:sp>
        <p:nvSpPr>
          <p:cNvPr id="14" name="Shape 12"/>
          <p:cNvSpPr/>
          <p:nvPr/>
        </p:nvSpPr>
        <p:spPr>
          <a:xfrm>
            <a:off x="9620250" y="7743825"/>
            <a:ext cx="7715250" cy="9525"/>
          </a:xfrm>
          <a:prstGeom prst="rect">
            <a:avLst/>
          </a:prstGeom>
          <a:solidFill>
            <a:srgbClr val="44464C"/>
          </a:solidFill>
          <a:ln/>
        </p:spPr>
      </p:sp>
      <p:sp>
        <p:nvSpPr>
          <p:cNvPr id="15" name="Text 13"/>
          <p:cNvSpPr/>
          <p:nvPr/>
        </p:nvSpPr>
        <p:spPr>
          <a:xfrm>
            <a:off x="9620250" y="8096250"/>
            <a:ext cx="838200" cy="1114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F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610850" y="8096250"/>
            <a:ext cx="739711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6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Alinhar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0610850" y="8772525"/>
            <a:ext cx="73971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C9C7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as áreas olhando para os mesmos números.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2C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AÇÃO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43050"/>
            <a:ext cx="18021300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85"/>
              </a:lnSpc>
              <a:buNone/>
            </a:pPr>
            <a:r>
              <a:rPr lang="en-US" sz="5400" spc="-54" kern="0" dirty="0">
                <a:solidFill>
                  <a:srgbClr val="1A1C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diagnóstico à ação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830711"/>
            <a:ext cx="859155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A1C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Flows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952500" y="3773686"/>
            <a:ext cx="804481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4A4C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que dispara quando o processo sai do esperado.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" y="5008066"/>
            <a:ext cx="7810500" cy="828675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 w="19050">
            <a:solidFill>
              <a:srgbClr val="DEDA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9200" y="5270004"/>
            <a:ext cx="15716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47950" y="5236666"/>
            <a:ext cx="64331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 vence sem pagamento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5970091"/>
            <a:ext cx="7810500" cy="828675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 w="19050">
            <a:solidFill>
              <a:srgbClr val="DEDA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9200" y="6232029"/>
            <a:ext cx="15716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ENTÃO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47950" y="6198691"/>
            <a:ext cx="64331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Lembrete enviado ao cliente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2500" y="6932116"/>
            <a:ext cx="7810500" cy="828675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 w="19050">
            <a:solidFill>
              <a:srgbClr val="DEDA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9200" y="7194054"/>
            <a:ext cx="15716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47950" y="7160716"/>
            <a:ext cx="64331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criada para a cobrança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525000" y="2830711"/>
            <a:ext cx="859155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A1C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Copilot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9525000" y="3773686"/>
            <a:ext cx="804481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4A4C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em linguagem natural, respondidas com os dados do processo.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5B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DEMONSTRAÇÃO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4095750"/>
            <a:ext cx="1802130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12"/>
              </a:lnSpc>
              <a:buNone/>
            </a:pPr>
            <a:r>
              <a:rPr lang="en-US" sz="12000" spc="-24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Vamos para a ferramenta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952500" y="8439150"/>
            <a:ext cx="16383000" cy="1905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8953500"/>
            <a:ext cx="2363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03139" y="8839200"/>
            <a:ext cx="334805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Contas a Receber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108823" y="8953500"/>
            <a:ext cx="2363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459462" y="8839200"/>
            <a:ext cx="249069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2026-10-02T02:07:27Z</dcterms:created>
  <dcterms:modified xsi:type="dcterms:W3CDTF">2026-10-02T02:07:27Z</dcterms:modified>
</cp:coreProperties>
</file>