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 slide </a:t>
            </a:r>
            <a:r>
              <a:rPr dirty="0" err="1"/>
              <a:t>contém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atividades</a:t>
            </a:r>
            <a:r>
              <a:rPr dirty="0"/>
              <a:t> e </a:t>
            </a:r>
            <a:r>
              <a:rPr dirty="0" err="1"/>
              <a:t>responsáveis</a:t>
            </a:r>
            <a:r>
              <a:rPr dirty="0"/>
              <a:t> </a:t>
            </a:r>
            <a:r>
              <a:rPr dirty="0" err="1"/>
              <a:t>previamente</a:t>
            </a:r>
            <a:r>
              <a:rPr dirty="0"/>
              <a:t> </a:t>
            </a:r>
            <a:r>
              <a:rPr dirty="0" err="1"/>
              <a:t>informados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. </a:t>
            </a:r>
            <a:r>
              <a:rPr dirty="0" err="1"/>
              <a:t>Datas-alvo</a:t>
            </a:r>
            <a:r>
              <a:rPr dirty="0"/>
              <a:t> e </a:t>
            </a:r>
            <a:r>
              <a:rPr dirty="0" err="1"/>
              <a:t>linhas</a:t>
            </a:r>
            <a:r>
              <a:rPr dirty="0"/>
              <a:t> </a:t>
            </a:r>
            <a:r>
              <a:rPr dirty="0" err="1"/>
              <a:t>adicionais</a:t>
            </a:r>
            <a:r>
              <a:rPr dirty="0"/>
              <a:t> </a:t>
            </a:r>
            <a:r>
              <a:rPr dirty="0" err="1"/>
              <a:t>permanecem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campos</a:t>
            </a:r>
            <a:r>
              <a:rPr dirty="0"/>
              <a:t> </a:t>
            </a:r>
            <a:r>
              <a:rPr dirty="0" err="1"/>
              <a:t>editáveis</a:t>
            </a:r>
            <a:r>
              <a:rPr dirty="0"/>
              <a:t> a </a:t>
            </a:r>
            <a:r>
              <a:rPr dirty="0" err="1"/>
              <a:t>definir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Conteúdo</a:t>
            </a:r>
            <a:r>
              <a:rPr dirty="0"/>
              <a:t> </a:t>
            </a:r>
            <a:r>
              <a:rPr dirty="0" err="1"/>
              <a:t>construído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das </a:t>
            </a:r>
            <a:r>
              <a:rPr dirty="0" err="1"/>
              <a:t>responsabilidades</a:t>
            </a:r>
            <a:r>
              <a:rPr dirty="0"/>
              <a:t> </a:t>
            </a:r>
            <a:r>
              <a:rPr dirty="0" err="1"/>
              <a:t>informadas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. </a:t>
            </a:r>
            <a:r>
              <a:rPr dirty="0" err="1"/>
              <a:t>Responsáveis</a:t>
            </a:r>
            <a:r>
              <a:rPr dirty="0"/>
              <a:t> de Salesforce </a:t>
            </a:r>
            <a:r>
              <a:rPr dirty="0" err="1"/>
              <a:t>técnico</a:t>
            </a:r>
            <a:r>
              <a:rPr dirty="0"/>
              <a:t>, </a:t>
            </a:r>
            <a:r>
              <a:rPr dirty="0" err="1"/>
              <a:t>Inteligência</a:t>
            </a:r>
            <a:r>
              <a:rPr dirty="0"/>
              <a:t> de </a:t>
            </a:r>
            <a:r>
              <a:rPr dirty="0" err="1"/>
              <a:t>Processos</a:t>
            </a:r>
            <a:r>
              <a:rPr dirty="0"/>
              <a:t> e APR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informados</a:t>
            </a:r>
            <a:r>
              <a:rPr dirty="0"/>
              <a:t> e </a:t>
            </a:r>
            <a:r>
              <a:rPr dirty="0" err="1"/>
              <a:t>aparecem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'</a:t>
            </a:r>
            <a:r>
              <a:rPr dirty="0" err="1"/>
              <a:t>Responsável</a:t>
            </a:r>
            <a:r>
              <a:rPr dirty="0"/>
              <a:t> a </a:t>
            </a:r>
            <a:r>
              <a:rPr dirty="0" err="1"/>
              <a:t>definir</a:t>
            </a:r>
            <a:r>
              <a:rPr dirty="0"/>
              <a:t>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5C5C7C19-D974-4189-807B-EEA4267E63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6469B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210D032-A5A2-4A68-BF14-2585839FA63C}"/>
              </a:ext>
            </a:extLst>
          </p:cNvPr>
          <p:cNvSpPr>
            <a:spLocks noGrp="1"/>
          </p:cNvSpPr>
          <p:nvPr/>
        </p:nvSpPr>
        <p:spPr>
          <a:xfrm>
            <a:off x="190500" y="66675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[B]³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AF3C23-E221-49F2-9CB6-6AC42F23E7F6}"/>
              </a:ext>
            </a:extLst>
          </p:cNvPr>
          <p:cNvSpPr>
            <a:spLocks noGrp="1"/>
          </p:cNvSpPr>
          <p:nvPr/>
        </p:nvSpPr>
        <p:spPr>
          <a:xfrm>
            <a:off x="685800" y="66675"/>
            <a:ext cx="10839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Faturamento Trillia | Plano de atividades por sistema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0AF8D7B-1C5D-4EF7-9ED6-21D638AA2F7B}"/>
              </a:ext>
            </a:extLst>
          </p:cNvPr>
          <p:cNvSpPr>
            <a:spLocks noGrp="1"/>
          </p:cNvSpPr>
          <p:nvPr/>
        </p:nvSpPr>
        <p:spPr>
          <a:xfrm>
            <a:off x="361950" y="1438275"/>
            <a:ext cx="3600450" cy="552450"/>
          </a:xfrm>
          <a:prstGeom prst="roundRect">
            <a:avLst>
              <a:gd name="adj" fmla="val 8621"/>
            </a:avLst>
          </a:prstGeom>
          <a:solidFill>
            <a:srgbClr val="06469B"/>
          </a:solidFill>
          <a:ln w="0">
            <a:solidFill>
              <a:srgbClr val="06469B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B074A5B-281C-44D9-B5AB-A9A9BEA17438}"/>
              </a:ext>
            </a:extLst>
          </p:cNvPr>
          <p:cNvSpPr>
            <a:spLocks noGrp="1"/>
          </p:cNvSpPr>
          <p:nvPr/>
        </p:nvSpPr>
        <p:spPr>
          <a:xfrm>
            <a:off x="514350" y="1495425"/>
            <a:ext cx="3295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SALESFORCE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B7EF145-EB20-401E-9FC9-A5D3B3597A88}"/>
              </a:ext>
            </a:extLst>
          </p:cNvPr>
          <p:cNvSpPr>
            <a:spLocks noGrp="1"/>
          </p:cNvSpPr>
          <p:nvPr/>
        </p:nvSpPr>
        <p:spPr>
          <a:xfrm>
            <a:off x="514350" y="1743075"/>
            <a:ext cx="3295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Originação e rateio</a:t>
            </a:r>
          </a:p>
        </p:txBody>
      </p:sp>
      <p:graphicFrame>
        <p:nvGraphicFramePr>
          <p:cNvPr id="31" name="Tabela 30"/>
          <p:cNvGraphicFramePr/>
          <p:nvPr>
            <p:extLst>
              <p:ext uri="{D42A27DB-BD31-4B8C-83A1-F6EECF244321}">
                <p14:modId xmlns:p14="http://schemas.microsoft.com/office/powerpoint/2010/main" val="4015734443"/>
              </p:ext>
            </p:extLst>
          </p:nvPr>
        </p:nvGraphicFramePr>
        <p:xfrm>
          <a:off x="361950" y="2085975"/>
          <a:ext cx="3600450" cy="3619500"/>
        </p:xfrm>
        <a:graphic>
          <a:graphicData uri="http://schemas.openxmlformats.org/drawingml/2006/table">
            <a:tbl>
              <a:tblPr/>
              <a:tblGrid>
                <a:gridCol w="158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06469B"/>
                          </a:solidFill>
                          <a:latin typeface="Arial"/>
                          <a:ea typeface="Arial"/>
                          <a:cs typeface="Arial"/>
                        </a:rPr>
                        <a:t>ATIVIDADE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6469B"/>
                          </a:solidFill>
                          <a:latin typeface="Arial"/>
                          <a:ea typeface="Arial"/>
                          <a:cs typeface="Arial"/>
                        </a:rPr>
                        <a:t>RESPONSÁVEL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6469B"/>
                          </a:solidFill>
                          <a:latin typeface="Arial"/>
                          <a:ea typeface="Arial"/>
                          <a:cs typeface="Arial"/>
                        </a:rPr>
                        <a:t>DATA-ALVO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pt-BR" sz="1050" b="0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Revisão das oportunidades – </a:t>
                      </a:r>
                      <a:r>
                        <a:rPr lang="pt-BR" sz="1050" b="0" i="0" dirty="0" err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Datawise</a:t>
                      </a:r>
                      <a:r>
                        <a:rPr lang="pt-BR" sz="1050" b="0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 +</a:t>
                      </a:r>
                      <a:endParaRPr sz="1050" b="0" i="0" dirty="0">
                        <a:solidFill>
                          <a:srgbClr val="1728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i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Flavia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i="0" dirty="0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16/09</a:t>
                      </a:r>
                      <a:endParaRPr sz="900" b="1" i="0" dirty="0">
                        <a:solidFill>
                          <a:srgbClr val="B6601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pt-BR" sz="1050" b="0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Criação do Script para </a:t>
                      </a:r>
                      <a:r>
                        <a:rPr lang="pt-BR" sz="1050" b="0" i="0" dirty="0" err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Metranet</a:t>
                      </a:r>
                      <a:endParaRPr lang="pt-BR" sz="1050" b="0" i="0" dirty="0">
                        <a:solidFill>
                          <a:srgbClr val="1728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75" b="1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Marija</a:t>
                      </a:r>
                      <a:endParaRPr sz="975" b="1" i="0" dirty="0">
                        <a:solidFill>
                          <a:srgbClr val="1728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i="0" dirty="0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02/10</a:t>
                      </a:r>
                      <a:endParaRPr sz="900" b="1" i="0" dirty="0">
                        <a:solidFill>
                          <a:srgbClr val="B6601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pt-BR" sz="1050" b="0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Revisão dos matérias </a:t>
                      </a:r>
                      <a:r>
                        <a:rPr lang="pt-BR" sz="1050" b="0" i="0" dirty="0" err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Datawise</a:t>
                      </a:r>
                      <a:r>
                        <a:rPr lang="pt-BR" sz="1050" b="0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 +</a:t>
                      </a:r>
                      <a:endParaRPr sz="1050" b="0" i="0" dirty="0">
                        <a:solidFill>
                          <a:srgbClr val="1728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A </a:t>
                      </a:r>
                      <a:r>
                        <a:rPr sz="1050" b="0" i="0" dirty="0" err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definir</a:t>
                      </a:r>
                      <a:endParaRPr sz="1050" b="0" i="0" dirty="0">
                        <a:solidFill>
                          <a:srgbClr val="1728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A </a:t>
                      </a:r>
                      <a:r>
                        <a:rPr sz="1050" b="0" i="0" dirty="0" err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definir</a:t>
                      </a:r>
                      <a:endParaRPr sz="1050" b="0" i="0" dirty="0">
                        <a:solidFill>
                          <a:srgbClr val="1728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050" b="0" i="1" dirty="0" err="1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Adicionar</a:t>
                      </a:r>
                      <a:r>
                        <a:rPr sz="1050" b="0" i="1" dirty="0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50" b="0" i="1" dirty="0" err="1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atividade</a:t>
                      </a:r>
                      <a:endParaRPr sz="1050" b="0" i="1" dirty="0">
                        <a:solidFill>
                          <a:srgbClr val="62728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1" dirty="0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A </a:t>
                      </a:r>
                      <a:r>
                        <a:rPr sz="975" b="0" i="1" dirty="0" err="1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definir</a:t>
                      </a:r>
                      <a:endParaRPr sz="975" b="0" i="1" dirty="0">
                        <a:solidFill>
                          <a:srgbClr val="62728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dirty="0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A </a:t>
                      </a:r>
                      <a:r>
                        <a:rPr sz="900" b="1" i="0" dirty="0" err="1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definir</a:t>
                      </a:r>
                      <a:endParaRPr sz="900" b="1" i="0" dirty="0">
                        <a:solidFill>
                          <a:srgbClr val="B6601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33F961F-7815-4E14-B912-A7D744ED5B68}"/>
              </a:ext>
            </a:extLst>
          </p:cNvPr>
          <p:cNvSpPr>
            <a:spLocks noGrp="1"/>
          </p:cNvSpPr>
          <p:nvPr/>
        </p:nvSpPr>
        <p:spPr>
          <a:xfrm>
            <a:off x="4295775" y="1438275"/>
            <a:ext cx="3600450" cy="552450"/>
          </a:xfrm>
          <a:prstGeom prst="roundRect">
            <a:avLst>
              <a:gd name="adj" fmla="val 8621"/>
            </a:avLst>
          </a:prstGeom>
          <a:solidFill>
            <a:srgbClr val="008A95"/>
          </a:solidFill>
          <a:ln w="0">
            <a:solidFill>
              <a:srgbClr val="008A95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43A0CF4-4276-4503-B292-A3614C07806A}"/>
              </a:ext>
            </a:extLst>
          </p:cNvPr>
          <p:cNvSpPr>
            <a:spLocks noGrp="1"/>
          </p:cNvSpPr>
          <p:nvPr/>
        </p:nvSpPr>
        <p:spPr>
          <a:xfrm>
            <a:off x="4448175" y="1495425"/>
            <a:ext cx="3295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METRANET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3650711-6C22-43C3-85F2-F03F926EE1BC}"/>
              </a:ext>
            </a:extLst>
          </p:cNvPr>
          <p:cNvSpPr>
            <a:spLocks noGrp="1"/>
          </p:cNvSpPr>
          <p:nvPr/>
        </p:nvSpPr>
        <p:spPr>
          <a:xfrm>
            <a:off x="4448175" y="1743075"/>
            <a:ext cx="3295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Bilhetagem</a:t>
            </a:r>
          </a:p>
        </p:txBody>
      </p:sp>
      <p:graphicFrame>
        <p:nvGraphicFramePr>
          <p:cNvPr id="35" name="Tabela 34"/>
          <p:cNvGraphicFramePr/>
          <p:nvPr>
            <p:extLst>
              <p:ext uri="{D42A27DB-BD31-4B8C-83A1-F6EECF244321}">
                <p14:modId xmlns:p14="http://schemas.microsoft.com/office/powerpoint/2010/main" val="3591020512"/>
              </p:ext>
            </p:extLst>
          </p:nvPr>
        </p:nvGraphicFramePr>
        <p:xfrm>
          <a:off x="4295775" y="2085975"/>
          <a:ext cx="3600450" cy="3619500"/>
        </p:xfrm>
        <a:graphic>
          <a:graphicData uri="http://schemas.openxmlformats.org/drawingml/2006/table">
            <a:tbl>
              <a:tblPr/>
              <a:tblGrid>
                <a:gridCol w="158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8A95"/>
                          </a:solidFill>
                          <a:latin typeface="Arial"/>
                          <a:ea typeface="Arial"/>
                          <a:cs typeface="Arial"/>
                        </a:rPr>
                        <a:t>ATIVIDADE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8A95"/>
                          </a:solidFill>
                          <a:latin typeface="Arial"/>
                          <a:ea typeface="Arial"/>
                          <a:cs typeface="Arial"/>
                        </a:rPr>
                        <a:t>RESPONSÁVEL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8A95"/>
                          </a:solidFill>
                          <a:latin typeface="Arial"/>
                          <a:ea typeface="Arial"/>
                          <a:cs typeface="Arial"/>
                        </a:rPr>
                        <a:t>DATA-ALVO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pt-BR" sz="1050" b="0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Definição do orçamento para criação do metra DMC</a:t>
                      </a:r>
                      <a:endParaRPr sz="1050" b="0" i="0" dirty="0">
                        <a:solidFill>
                          <a:srgbClr val="1728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75" b="1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Leandro</a:t>
                      </a:r>
                      <a:endParaRPr sz="975" b="1" i="0" dirty="0">
                        <a:solidFill>
                          <a:srgbClr val="1728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i="0" dirty="0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11/09</a:t>
                      </a:r>
                      <a:endParaRPr sz="900" b="1" i="0" dirty="0">
                        <a:solidFill>
                          <a:srgbClr val="B6601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pt-BR" sz="1050" b="0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Criação do Novo Metra DMC</a:t>
                      </a:r>
                      <a:endParaRPr sz="1050" b="0" i="0" dirty="0">
                        <a:solidFill>
                          <a:srgbClr val="1728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75" b="1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Vitor Lima / Living</a:t>
                      </a:r>
                      <a:endParaRPr sz="975" b="1" i="0" dirty="0">
                        <a:solidFill>
                          <a:srgbClr val="1728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i="0" dirty="0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30 dias após definição do orçamento</a:t>
                      </a:r>
                      <a:endParaRPr sz="900" b="1" i="0" dirty="0">
                        <a:solidFill>
                          <a:srgbClr val="B6601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050" b="0" i="1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Adicionar atividade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1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A definir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A definir</a:t>
                      </a: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050" b="0" i="1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Adicionar atividade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1" dirty="0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A </a:t>
                      </a:r>
                      <a:r>
                        <a:rPr sz="975" b="0" i="1" dirty="0" err="1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definir</a:t>
                      </a:r>
                      <a:endParaRPr sz="975" b="0" i="1" dirty="0">
                        <a:solidFill>
                          <a:srgbClr val="62728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dirty="0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A </a:t>
                      </a:r>
                      <a:r>
                        <a:rPr sz="900" b="1" i="0" dirty="0" err="1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definir</a:t>
                      </a:r>
                      <a:endParaRPr sz="900" b="1" i="0" dirty="0">
                        <a:solidFill>
                          <a:srgbClr val="B6601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CF86C89-A0D6-4C44-A33D-7EBDC12C72A9}"/>
              </a:ext>
            </a:extLst>
          </p:cNvPr>
          <p:cNvSpPr>
            <a:spLocks noGrp="1"/>
          </p:cNvSpPr>
          <p:nvPr/>
        </p:nvSpPr>
        <p:spPr>
          <a:xfrm>
            <a:off x="8229600" y="1438275"/>
            <a:ext cx="3600450" cy="552450"/>
          </a:xfrm>
          <a:prstGeom prst="roundRect">
            <a:avLst>
              <a:gd name="adj" fmla="val 8621"/>
            </a:avLst>
          </a:prstGeom>
          <a:solidFill>
            <a:srgbClr val="001A59"/>
          </a:solidFill>
          <a:ln w="0">
            <a:solidFill>
              <a:srgbClr val="001A59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5DD840F-82CA-45A0-9E1C-886859BFC2BC}"/>
              </a:ext>
            </a:extLst>
          </p:cNvPr>
          <p:cNvSpPr>
            <a:spLocks noGrp="1"/>
          </p:cNvSpPr>
          <p:nvPr/>
        </p:nvSpPr>
        <p:spPr>
          <a:xfrm>
            <a:off x="8382000" y="1495425"/>
            <a:ext cx="32956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SAP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10F9B3A-E2EF-4859-A7F9-062221DAF607}"/>
              </a:ext>
            </a:extLst>
          </p:cNvPr>
          <p:cNvSpPr>
            <a:spLocks noGrp="1"/>
          </p:cNvSpPr>
          <p:nvPr/>
        </p:nvSpPr>
        <p:spPr>
          <a:xfrm>
            <a:off x="8382000" y="1743075"/>
            <a:ext cx="3295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Faturamento e cobrança</a:t>
            </a:r>
          </a:p>
        </p:txBody>
      </p:sp>
      <p:graphicFrame>
        <p:nvGraphicFramePr>
          <p:cNvPr id="39" name="Tabela 38"/>
          <p:cNvGraphicFramePr/>
          <p:nvPr>
            <p:extLst>
              <p:ext uri="{D42A27DB-BD31-4B8C-83A1-F6EECF244321}">
                <p14:modId xmlns:p14="http://schemas.microsoft.com/office/powerpoint/2010/main" val="21106900"/>
              </p:ext>
            </p:extLst>
          </p:nvPr>
        </p:nvGraphicFramePr>
        <p:xfrm>
          <a:off x="8229600" y="2085975"/>
          <a:ext cx="3600450" cy="3619500"/>
        </p:xfrm>
        <a:graphic>
          <a:graphicData uri="http://schemas.openxmlformats.org/drawingml/2006/table">
            <a:tbl>
              <a:tblPr/>
              <a:tblGrid>
                <a:gridCol w="158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ATIVIDADE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RESPONSÁVEL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DATA-ALVO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pt-BR" sz="1050" b="0" i="0" dirty="0" err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Configurção</a:t>
                      </a:r>
                      <a:r>
                        <a:rPr lang="pt-BR" sz="1050" b="0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 do local da fatura para produtos Capital </a:t>
                      </a:r>
                      <a:r>
                        <a:rPr lang="pt-BR" sz="1050" b="0" i="0" dirty="0" err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Markets</a:t>
                      </a:r>
                      <a:endParaRPr sz="1050" b="0" i="0" dirty="0">
                        <a:solidFill>
                          <a:srgbClr val="1728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i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Thiago Talarico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A definir</a:t>
                      </a: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pt-BR" sz="1050" b="0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Conexão SAP x </a:t>
                      </a:r>
                      <a:r>
                        <a:rPr lang="pt-BR" sz="1050" b="0" i="0" dirty="0" err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Databricks</a:t>
                      </a:r>
                      <a:r>
                        <a:rPr lang="pt-BR" sz="1050" b="0" i="0" dirty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                            </a:t>
                      </a:r>
                      <a:endParaRPr sz="1050" b="0" i="0" dirty="0">
                        <a:solidFill>
                          <a:srgbClr val="1728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i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Juliana Cicarelli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A definir</a:t>
                      </a: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050" b="0" i="1" dirty="0" err="1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Adicionar</a:t>
                      </a:r>
                      <a:r>
                        <a:rPr sz="1050" b="0" i="1" dirty="0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050" b="0" i="1" dirty="0" err="1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atividade</a:t>
                      </a:r>
                      <a:endParaRPr sz="1050" b="0" i="1" dirty="0">
                        <a:solidFill>
                          <a:srgbClr val="62728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1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A definir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A definir</a:t>
                      </a: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050" b="0" i="1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Adicionar atividade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1">
                          <a:solidFill>
                            <a:srgbClr val="627286"/>
                          </a:solidFill>
                          <a:latin typeface="Arial"/>
                          <a:ea typeface="Arial"/>
                          <a:cs typeface="Arial"/>
                        </a:rPr>
                        <a:t>A definir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dirty="0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A </a:t>
                      </a:r>
                      <a:r>
                        <a:rPr sz="900" b="1" i="0" dirty="0" err="1">
                          <a:solidFill>
                            <a:srgbClr val="B66016"/>
                          </a:solidFill>
                          <a:latin typeface="Arial"/>
                          <a:ea typeface="Arial"/>
                          <a:cs typeface="Arial"/>
                        </a:rPr>
                        <a:t>definir</a:t>
                      </a:r>
                      <a:endParaRPr sz="900" b="1" i="0" dirty="0">
                        <a:solidFill>
                          <a:srgbClr val="B6601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Retângulo 21">
            <a:extLst>
              <a:ext uri="{FF2B5EF4-FFF2-40B4-BE49-F238E27FC236}">
                <a16:creationId xmlns:a16="http://schemas.microsoft.com/office/drawing/2014/main" id="{99A7F1AF-4B86-43A9-BCD9-696AA43292BC}"/>
              </a:ext>
            </a:extLst>
          </p:cNvPr>
          <p:cNvSpPr>
            <a:spLocks noGrp="1"/>
          </p:cNvSpPr>
          <p:nvPr/>
        </p:nvSpPr>
        <p:spPr>
          <a:xfrm>
            <a:off x="11382375" y="6400800"/>
            <a:ext cx="44767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675" b="0" i="0">
                <a:solidFill>
                  <a:srgbClr val="6272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2728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670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tângulo 70">
            <a:extLst>
              <a:ext uri="{FF2B5EF4-FFF2-40B4-BE49-F238E27FC236}">
                <a16:creationId xmlns:a16="http://schemas.microsoft.com/office/drawing/2014/main" id="{3D324BF8-F3C3-4BB1-9186-2761354090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6469B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D7433D1-6D1B-446C-96A6-AF99294F8242}"/>
              </a:ext>
            </a:extLst>
          </p:cNvPr>
          <p:cNvSpPr>
            <a:spLocks noGrp="1"/>
          </p:cNvSpPr>
          <p:nvPr/>
        </p:nvSpPr>
        <p:spPr>
          <a:xfrm>
            <a:off x="190500" y="66675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[B]³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B9F7EA7-AB39-4277-B448-DC16D156E184}"/>
              </a:ext>
            </a:extLst>
          </p:cNvPr>
          <p:cNvSpPr>
            <a:spLocks noGrp="1"/>
          </p:cNvSpPr>
          <p:nvPr/>
        </p:nvSpPr>
        <p:spPr>
          <a:xfrm>
            <a:off x="685800" y="66675"/>
            <a:ext cx="10839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Faturamento Trillia | Jornada ponta a ponta e responsabilidades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887FDEF-6B5B-4C62-BE75-05D9790417BF}"/>
              </a:ext>
            </a:extLst>
          </p:cNvPr>
          <p:cNvSpPr>
            <a:spLocks noGrp="1"/>
          </p:cNvSpPr>
          <p:nvPr/>
        </p:nvSpPr>
        <p:spPr>
          <a:xfrm>
            <a:off x="266700" y="685800"/>
            <a:ext cx="116586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9EBEE0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1F8D757-803E-4BAE-8A8B-0BA9FC8101F4}"/>
              </a:ext>
            </a:extLst>
          </p:cNvPr>
          <p:cNvSpPr>
            <a:spLocks noGrp="1"/>
          </p:cNvSpPr>
          <p:nvPr/>
        </p:nvSpPr>
        <p:spPr>
          <a:xfrm>
            <a:off x="419100" y="762000"/>
            <a:ext cx="11334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15263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263A"/>
                </a:solidFill>
                <a:latin typeface="Arial"/>
                <a:ea typeface="Arial"/>
                <a:cs typeface="Arial"/>
              </a:rPr>
              <a:t>A jornada conecta a origem comercial à cobrança, com responsabilidades claras por sistema e atuação transversal nas mudanças do processo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68600B2-61BD-4C8A-95D6-F6E39AC247FF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3448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06469B"/>
                </a:solidFill>
                <a:latin typeface="Arial"/>
                <a:ea typeface="Arial"/>
                <a:cs typeface="Arial"/>
              </a:defRPr>
            </a:pPr>
            <a:r>
              <a:rPr sz="1125" b="1" i="0" dirty="0">
                <a:solidFill>
                  <a:srgbClr val="06469B"/>
                </a:solidFill>
                <a:latin typeface="Arial"/>
                <a:ea typeface="Arial"/>
                <a:cs typeface="Arial"/>
              </a:rPr>
              <a:t>1. </a:t>
            </a:r>
            <a:r>
              <a:rPr lang="pt-BR" sz="1125" b="1" i="0" dirty="0" err="1">
                <a:solidFill>
                  <a:srgbClr val="06469B"/>
                </a:solidFill>
                <a:latin typeface="Arial"/>
                <a:ea typeface="Arial"/>
                <a:cs typeface="Arial"/>
              </a:rPr>
              <a:t>Trillia</a:t>
            </a:r>
            <a:endParaRPr sz="1125" b="1" i="0" dirty="0">
              <a:solidFill>
                <a:srgbClr val="06469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5A7B159-624C-4EC5-865E-4628C63E04C1}"/>
              </a:ext>
            </a:extLst>
          </p:cNvPr>
          <p:cNvSpPr>
            <a:spLocks noGrp="1"/>
          </p:cNvSpPr>
          <p:nvPr/>
        </p:nvSpPr>
        <p:spPr>
          <a:xfrm>
            <a:off x="361950" y="1562100"/>
            <a:ext cx="3448050" cy="438150"/>
          </a:xfrm>
          <a:prstGeom prst="roundRect">
            <a:avLst>
              <a:gd name="adj" fmla="val 10870"/>
            </a:avLst>
          </a:prstGeom>
          <a:solidFill>
            <a:srgbClr val="06469B"/>
          </a:solidFill>
          <a:ln w="0">
            <a:solidFill>
              <a:srgbClr val="06469B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89DE588-1BB1-4A35-B667-7304DA8FC925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SALESFORCE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11C4D98-6E1D-45C1-8625-80A1A3D9FC11}"/>
              </a:ext>
            </a:extLst>
          </p:cNvPr>
          <p:cNvSpPr>
            <a:spLocks noGrp="1"/>
          </p:cNvSpPr>
          <p:nvPr/>
        </p:nvSpPr>
        <p:spPr>
          <a:xfrm>
            <a:off x="4371975" y="1285875"/>
            <a:ext cx="3448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F8B"/>
                </a:solidFill>
                <a:latin typeface="Arial"/>
                <a:ea typeface="Arial"/>
                <a:cs typeface="Arial"/>
              </a:rPr>
              <a:t>2. Bilhetagem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5116BC2-D64B-459C-A1A5-E4375D27B341}"/>
              </a:ext>
            </a:extLst>
          </p:cNvPr>
          <p:cNvSpPr>
            <a:spLocks noGrp="1"/>
          </p:cNvSpPr>
          <p:nvPr/>
        </p:nvSpPr>
        <p:spPr>
          <a:xfrm>
            <a:off x="4371975" y="1562100"/>
            <a:ext cx="3448050" cy="438150"/>
          </a:xfrm>
          <a:prstGeom prst="roundRect">
            <a:avLst>
              <a:gd name="adj" fmla="val 10870"/>
            </a:avLst>
          </a:prstGeom>
          <a:solidFill>
            <a:srgbClr val="007F8B"/>
          </a:solidFill>
          <a:ln w="0">
            <a:solidFill>
              <a:srgbClr val="007F8B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565A135-93C6-46B6-A867-2CEA9043DE8D}"/>
              </a:ext>
            </a:extLst>
          </p:cNvPr>
          <p:cNvSpPr>
            <a:spLocks noGrp="1"/>
          </p:cNvSpPr>
          <p:nvPr/>
        </p:nvSpPr>
        <p:spPr>
          <a:xfrm>
            <a:off x="4524375" y="161925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METRANET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9F05176-BF5D-4624-97D3-EAD9525EA00B}"/>
              </a:ext>
            </a:extLst>
          </p:cNvPr>
          <p:cNvSpPr>
            <a:spLocks noGrp="1"/>
          </p:cNvSpPr>
          <p:nvPr/>
        </p:nvSpPr>
        <p:spPr>
          <a:xfrm>
            <a:off x="8382000" y="1285875"/>
            <a:ext cx="3448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1A59"/>
                </a:solidFill>
                <a:latin typeface="Arial"/>
                <a:ea typeface="Arial"/>
                <a:cs typeface="Arial"/>
              </a:rPr>
              <a:t>3. Faturamento e cobrança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A2A95C2-68AF-47CD-AFB8-2C9574E12D44}"/>
              </a:ext>
            </a:extLst>
          </p:cNvPr>
          <p:cNvSpPr>
            <a:spLocks noGrp="1"/>
          </p:cNvSpPr>
          <p:nvPr/>
        </p:nvSpPr>
        <p:spPr>
          <a:xfrm>
            <a:off x="8382000" y="1562100"/>
            <a:ext cx="3448050" cy="438150"/>
          </a:xfrm>
          <a:prstGeom prst="roundRect">
            <a:avLst>
              <a:gd name="adj" fmla="val 10870"/>
            </a:avLst>
          </a:prstGeom>
          <a:solidFill>
            <a:srgbClr val="001A59"/>
          </a:solidFill>
          <a:ln w="0">
            <a:solidFill>
              <a:srgbClr val="001A59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4EF43A5-D922-4209-9F78-FEFA37666642}"/>
              </a:ext>
            </a:extLst>
          </p:cNvPr>
          <p:cNvSpPr>
            <a:spLocks noGrp="1"/>
          </p:cNvSpPr>
          <p:nvPr/>
        </p:nvSpPr>
        <p:spPr>
          <a:xfrm>
            <a:off x="8534400" y="161925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SAP</a:t>
            </a:r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D04383A7-C901-4AD9-8A0C-CDF4565C1EE9}"/>
              </a:ext>
            </a:extLst>
          </p:cNvPr>
          <p:cNvSpPr>
            <a:spLocks noGrp="1"/>
          </p:cNvSpPr>
          <p:nvPr/>
        </p:nvSpPr>
        <p:spPr>
          <a:xfrm>
            <a:off x="3924300" y="1695450"/>
            <a:ext cx="323850" cy="133350"/>
          </a:xfrm>
          <a:prstGeom prst="rightArrow">
            <a:avLst/>
          </a:prstGeom>
          <a:solidFill>
            <a:srgbClr val="F5A623"/>
          </a:solidFill>
          <a:ln w="0">
            <a:solidFill>
              <a:srgbClr val="F5A623"/>
            </a:solidFill>
          </a:ln>
        </p:spPr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962F3D9D-3A1E-4AF5-A6D3-A9BBFCD776FE}"/>
              </a:ext>
            </a:extLst>
          </p:cNvPr>
          <p:cNvSpPr>
            <a:spLocks noGrp="1"/>
          </p:cNvSpPr>
          <p:nvPr/>
        </p:nvSpPr>
        <p:spPr>
          <a:xfrm>
            <a:off x="7934325" y="1695450"/>
            <a:ext cx="323850" cy="133350"/>
          </a:xfrm>
          <a:prstGeom prst="rightArrow">
            <a:avLst/>
          </a:prstGeom>
          <a:solidFill>
            <a:srgbClr val="F5A623"/>
          </a:solidFill>
          <a:ln w="0">
            <a:solidFill>
              <a:srgbClr val="F5A623"/>
            </a:solidFill>
          </a:ln>
        </p:spPr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88A5CD5-59C0-4C44-AB85-D58FD30A3D11}"/>
              </a:ext>
            </a:extLst>
          </p:cNvPr>
          <p:cNvSpPr>
            <a:spLocks noGrp="1"/>
          </p:cNvSpPr>
          <p:nvPr/>
        </p:nvSpPr>
        <p:spPr>
          <a:xfrm>
            <a:off x="361950" y="3281363"/>
            <a:ext cx="3448050" cy="1066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8D7E8"/>
            </a:solidFill>
            <a:prstDash val="solid"/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9DCB20F-D3A6-436C-AE0D-9D5F4D4AB51F}"/>
              </a:ext>
            </a:extLst>
          </p:cNvPr>
          <p:cNvSpPr>
            <a:spLocks noGrp="1"/>
          </p:cNvSpPr>
          <p:nvPr/>
        </p:nvSpPr>
        <p:spPr>
          <a:xfrm>
            <a:off x="361950" y="3281363"/>
            <a:ext cx="66675" cy="1066800"/>
          </a:xfrm>
          <a:prstGeom prst="roundRect">
            <a:avLst>
              <a:gd name="adj" fmla="val 42857"/>
            </a:avLst>
          </a:prstGeom>
          <a:solidFill>
            <a:srgbClr val="06469B"/>
          </a:solidFill>
          <a:ln w="0">
            <a:solidFill>
              <a:srgbClr val="06469B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6CB07A2-C8F8-4884-98EE-88ED80FEDF2B}"/>
              </a:ext>
            </a:extLst>
          </p:cNvPr>
          <p:cNvSpPr>
            <a:spLocks noGrp="1"/>
          </p:cNvSpPr>
          <p:nvPr/>
        </p:nvSpPr>
        <p:spPr>
          <a:xfrm>
            <a:off x="533400" y="3386138"/>
            <a:ext cx="914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06469B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6469B"/>
                </a:solidFill>
                <a:latin typeface="Arial"/>
                <a:ea typeface="Arial"/>
                <a:cs typeface="Arial"/>
              </a:rPr>
              <a:t>COMERCIAL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FA8DAE2-58ED-443F-90F9-69C2D275DD6E}"/>
              </a:ext>
            </a:extLst>
          </p:cNvPr>
          <p:cNvSpPr>
            <a:spLocks noGrp="1"/>
          </p:cNvSpPr>
          <p:nvPr/>
        </p:nvSpPr>
        <p:spPr>
          <a:xfrm>
            <a:off x="1466850" y="3357563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1A59"/>
                </a:solidFill>
                <a:latin typeface="Arial"/>
                <a:ea typeface="Arial"/>
                <a:cs typeface="Arial"/>
              </a:rPr>
              <a:t>Flavia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00A909A-428A-404D-AC73-1DDC6237B7D4}"/>
              </a:ext>
            </a:extLst>
          </p:cNvPr>
          <p:cNvSpPr>
            <a:spLocks noGrp="1"/>
          </p:cNvSpPr>
          <p:nvPr/>
        </p:nvSpPr>
        <p:spPr>
          <a:xfrm>
            <a:off x="533400" y="3662363"/>
            <a:ext cx="3105150" cy="9525"/>
          </a:xfrm>
          <a:prstGeom prst="rect">
            <a:avLst/>
          </a:prstGeom>
          <a:solidFill>
            <a:srgbClr val="C8D7E8"/>
          </a:solidFill>
          <a:ln w="0">
            <a:noFill/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4509844-B545-44FF-92D1-8741B6E47C0A}"/>
              </a:ext>
            </a:extLst>
          </p:cNvPr>
          <p:cNvSpPr>
            <a:spLocks noGrp="1"/>
          </p:cNvSpPr>
          <p:nvPr/>
        </p:nvSpPr>
        <p:spPr>
          <a:xfrm>
            <a:off x="533400" y="3738563"/>
            <a:ext cx="31051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15263A"/>
                </a:solidFill>
                <a:latin typeface="Arial"/>
                <a:ea typeface="Arial"/>
                <a:cs typeface="Arial"/>
              </a:defRPr>
            </a:pPr>
            <a:r>
              <a:rPr sz="1125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Preencher</a:t>
            </a:r>
            <a:r>
              <a:rPr sz="1125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as </a:t>
            </a:r>
            <a:r>
              <a:rPr sz="1125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oportunidades</a:t>
            </a:r>
            <a:r>
              <a:rPr sz="1125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e </a:t>
            </a:r>
            <a:r>
              <a:rPr sz="1125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os</a:t>
            </a:r>
            <a:r>
              <a:rPr sz="1125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rateios</a:t>
            </a:r>
            <a:r>
              <a:rPr sz="1125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no Salesforce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CA4D891-00C3-4F45-A115-ECC30966BDE6}"/>
              </a:ext>
            </a:extLst>
          </p:cNvPr>
          <p:cNvSpPr>
            <a:spLocks noGrp="1"/>
          </p:cNvSpPr>
          <p:nvPr/>
        </p:nvSpPr>
        <p:spPr>
          <a:xfrm>
            <a:off x="338138" y="2090738"/>
            <a:ext cx="3448050" cy="1066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8D7E8"/>
            </a:solidFill>
            <a:prstDash val="solid"/>
          </a:ln>
        </p:spPr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DD43E617-ABBA-425F-9FD7-DB6AD7F981CC}"/>
              </a:ext>
            </a:extLst>
          </p:cNvPr>
          <p:cNvSpPr>
            <a:spLocks noGrp="1"/>
          </p:cNvSpPr>
          <p:nvPr/>
        </p:nvSpPr>
        <p:spPr>
          <a:xfrm>
            <a:off x="338138" y="2090738"/>
            <a:ext cx="66675" cy="1066800"/>
          </a:xfrm>
          <a:prstGeom prst="roundRect">
            <a:avLst>
              <a:gd name="adj" fmla="val 42857"/>
            </a:avLst>
          </a:prstGeom>
          <a:solidFill>
            <a:srgbClr val="617286"/>
          </a:solidFill>
          <a:ln w="0">
            <a:solidFill>
              <a:srgbClr val="617286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698C0EC-8FA6-45AC-9FCB-4BCE21E875D0}"/>
              </a:ext>
            </a:extLst>
          </p:cNvPr>
          <p:cNvSpPr>
            <a:spLocks noGrp="1"/>
          </p:cNvSpPr>
          <p:nvPr/>
        </p:nvSpPr>
        <p:spPr>
          <a:xfrm>
            <a:off x="509588" y="2195513"/>
            <a:ext cx="914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6172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17286"/>
                </a:solidFill>
                <a:latin typeface="Arial"/>
                <a:ea typeface="Arial"/>
                <a:cs typeface="Arial"/>
              </a:rPr>
              <a:t>TÉCNICO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18B87E0-3BF0-43F5-8AA6-CB4343544DBE}"/>
              </a:ext>
            </a:extLst>
          </p:cNvPr>
          <p:cNvSpPr>
            <a:spLocks noGrp="1"/>
          </p:cNvSpPr>
          <p:nvPr/>
        </p:nvSpPr>
        <p:spPr>
          <a:xfrm>
            <a:off x="1443038" y="2166938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lang="pt-BR" sz="1200" b="1" i="0" dirty="0">
                <a:solidFill>
                  <a:srgbClr val="001A59"/>
                </a:solidFill>
                <a:latin typeface="Arial"/>
                <a:ea typeface="Arial"/>
                <a:cs typeface="Arial"/>
              </a:rPr>
              <a:t>Marija</a:t>
            </a:r>
            <a:endParaRPr sz="1200" b="1" i="0" dirty="0">
              <a:solidFill>
                <a:srgbClr val="001A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C4C9224-93CF-49A1-AF80-4EE0430FF218}"/>
              </a:ext>
            </a:extLst>
          </p:cNvPr>
          <p:cNvSpPr>
            <a:spLocks noGrp="1"/>
          </p:cNvSpPr>
          <p:nvPr/>
        </p:nvSpPr>
        <p:spPr>
          <a:xfrm>
            <a:off x="509588" y="2471738"/>
            <a:ext cx="3105150" cy="9525"/>
          </a:xfrm>
          <a:prstGeom prst="rect">
            <a:avLst/>
          </a:prstGeom>
          <a:solidFill>
            <a:srgbClr val="C8D7E8"/>
          </a:solidFill>
          <a:ln w="0">
            <a:noFill/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49F0157-52DF-469C-A67C-DA10D4EC7ABE}"/>
              </a:ext>
            </a:extLst>
          </p:cNvPr>
          <p:cNvSpPr>
            <a:spLocks noGrp="1"/>
          </p:cNvSpPr>
          <p:nvPr/>
        </p:nvSpPr>
        <p:spPr>
          <a:xfrm>
            <a:off x="509588" y="2547938"/>
            <a:ext cx="31051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15263A"/>
                </a:solidFill>
                <a:latin typeface="Arial"/>
                <a:ea typeface="Arial"/>
                <a:cs typeface="Arial"/>
              </a:defRPr>
            </a:pPr>
            <a:r>
              <a:rPr sz="1125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Configurar</a:t>
            </a:r>
            <a:r>
              <a:rPr sz="1125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e </a:t>
            </a:r>
            <a:r>
              <a:rPr sz="1125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sustentar</a:t>
            </a:r>
            <a:r>
              <a:rPr sz="1125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</a:t>
            </a:r>
            <a:r>
              <a:rPr lang="pt-BR" sz="1125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o </a:t>
            </a:r>
            <a:r>
              <a:rPr lang="pt-BR" sz="1125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Salesforce</a:t>
            </a:r>
            <a:endParaRPr sz="1125" b="0" i="0" dirty="0">
              <a:solidFill>
                <a:srgbClr val="1526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2D2F52BE-9682-4A28-BB9D-C45ECA8723D9}"/>
              </a:ext>
            </a:extLst>
          </p:cNvPr>
          <p:cNvSpPr>
            <a:spLocks noGrp="1"/>
          </p:cNvSpPr>
          <p:nvPr/>
        </p:nvSpPr>
        <p:spPr>
          <a:xfrm>
            <a:off x="4371975" y="2095500"/>
            <a:ext cx="3448050" cy="1066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8D7E8"/>
            </a:solidFill>
            <a:prstDash val="solid"/>
          </a:ln>
        </p:spPr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0097A78E-D151-4FDF-9479-D94D0C2C7593}"/>
              </a:ext>
            </a:extLst>
          </p:cNvPr>
          <p:cNvSpPr>
            <a:spLocks noGrp="1"/>
          </p:cNvSpPr>
          <p:nvPr/>
        </p:nvSpPr>
        <p:spPr>
          <a:xfrm>
            <a:off x="4371975" y="2095500"/>
            <a:ext cx="66675" cy="1066800"/>
          </a:xfrm>
          <a:prstGeom prst="roundRect">
            <a:avLst>
              <a:gd name="adj" fmla="val 42857"/>
            </a:avLst>
          </a:prstGeom>
          <a:solidFill>
            <a:srgbClr val="617286"/>
          </a:solidFill>
          <a:ln w="0">
            <a:solidFill>
              <a:srgbClr val="617286"/>
            </a:solidFill>
            <a:prstDash val="solid"/>
          </a:ln>
        </p:spPr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50BEA96-02D3-4967-B38B-948FA5801157}"/>
              </a:ext>
            </a:extLst>
          </p:cNvPr>
          <p:cNvSpPr>
            <a:spLocks noGrp="1"/>
          </p:cNvSpPr>
          <p:nvPr/>
        </p:nvSpPr>
        <p:spPr>
          <a:xfrm>
            <a:off x="4543425" y="2200275"/>
            <a:ext cx="914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6172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17286"/>
                </a:solidFill>
                <a:latin typeface="Arial"/>
                <a:ea typeface="Arial"/>
                <a:cs typeface="Arial"/>
              </a:rPr>
              <a:t>TÉCNICO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BFA0CF-710C-4A73-B89F-22025335C8AF}"/>
              </a:ext>
            </a:extLst>
          </p:cNvPr>
          <p:cNvSpPr>
            <a:spLocks noGrp="1"/>
          </p:cNvSpPr>
          <p:nvPr/>
        </p:nvSpPr>
        <p:spPr>
          <a:xfrm>
            <a:off x="5476875" y="2171700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01A59"/>
                </a:solidFill>
                <a:latin typeface="Arial"/>
                <a:ea typeface="Arial"/>
                <a:cs typeface="Arial"/>
              </a:rPr>
              <a:t>Victor</a:t>
            </a:r>
            <a:r>
              <a:rPr lang="pt-BR" sz="1200" b="1" i="0" dirty="0">
                <a:solidFill>
                  <a:srgbClr val="001A59"/>
                </a:solidFill>
                <a:latin typeface="Arial"/>
                <a:ea typeface="Arial"/>
                <a:cs typeface="Arial"/>
              </a:rPr>
              <a:t> Lima</a:t>
            </a:r>
            <a:endParaRPr sz="1200" b="1" i="0" dirty="0">
              <a:solidFill>
                <a:srgbClr val="001A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BD89E783-C332-490A-B1FD-E0DAB561ED2D}"/>
              </a:ext>
            </a:extLst>
          </p:cNvPr>
          <p:cNvSpPr>
            <a:spLocks noGrp="1"/>
          </p:cNvSpPr>
          <p:nvPr/>
        </p:nvSpPr>
        <p:spPr>
          <a:xfrm>
            <a:off x="4543425" y="2476500"/>
            <a:ext cx="3105150" cy="9525"/>
          </a:xfrm>
          <a:prstGeom prst="rect">
            <a:avLst/>
          </a:prstGeom>
          <a:solidFill>
            <a:srgbClr val="C8D7E8"/>
          </a:solidFill>
          <a:ln w="0">
            <a:noFill/>
            <a:prstDash val="solid"/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7E7ABD8-DDCD-443D-971F-EDA50726A0FF}"/>
              </a:ext>
            </a:extLst>
          </p:cNvPr>
          <p:cNvSpPr>
            <a:spLocks noGrp="1"/>
          </p:cNvSpPr>
          <p:nvPr/>
        </p:nvSpPr>
        <p:spPr>
          <a:xfrm>
            <a:off x="4543425" y="2552700"/>
            <a:ext cx="31051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15263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5263A"/>
                </a:solidFill>
                <a:latin typeface="Arial"/>
                <a:ea typeface="Arial"/>
                <a:cs typeface="Arial"/>
              </a:rPr>
              <a:t>Configurar e sustentar o Metranet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2E250D0D-3545-4710-AF54-F3437D61520C}"/>
              </a:ext>
            </a:extLst>
          </p:cNvPr>
          <p:cNvSpPr>
            <a:spLocks noGrp="1"/>
          </p:cNvSpPr>
          <p:nvPr/>
        </p:nvSpPr>
        <p:spPr>
          <a:xfrm>
            <a:off x="4371975" y="3248025"/>
            <a:ext cx="3448050" cy="1066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8D7E8"/>
            </a:solidFill>
            <a:prstDash val="solid"/>
          </a:ln>
        </p:spPr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D9007F23-CD2D-43B2-AD20-6545109F503C}"/>
              </a:ext>
            </a:extLst>
          </p:cNvPr>
          <p:cNvSpPr>
            <a:spLocks noGrp="1"/>
          </p:cNvSpPr>
          <p:nvPr/>
        </p:nvSpPr>
        <p:spPr>
          <a:xfrm>
            <a:off x="4371975" y="3248025"/>
            <a:ext cx="66675" cy="1066800"/>
          </a:xfrm>
          <a:prstGeom prst="roundRect">
            <a:avLst>
              <a:gd name="adj" fmla="val 42857"/>
            </a:avLst>
          </a:prstGeom>
          <a:solidFill>
            <a:srgbClr val="007F8B"/>
          </a:solidFill>
          <a:ln w="0">
            <a:solidFill>
              <a:srgbClr val="007F8B"/>
            </a:solidFill>
            <a:prstDash val="solid"/>
          </a:ln>
        </p:spPr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4017A19D-2CB5-4DD1-987B-BF50F7ECDF0A}"/>
              </a:ext>
            </a:extLst>
          </p:cNvPr>
          <p:cNvSpPr>
            <a:spLocks noGrp="1"/>
          </p:cNvSpPr>
          <p:nvPr/>
        </p:nvSpPr>
        <p:spPr>
          <a:xfrm>
            <a:off x="4543425" y="3352800"/>
            <a:ext cx="914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F8B"/>
                </a:solidFill>
                <a:latin typeface="Arial"/>
                <a:ea typeface="Arial"/>
                <a:cs typeface="Arial"/>
              </a:rPr>
              <a:t>NEGÓCIO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F08C4044-1FD8-421D-BFCE-9CC87D502D23}"/>
              </a:ext>
            </a:extLst>
          </p:cNvPr>
          <p:cNvSpPr>
            <a:spLocks noGrp="1"/>
          </p:cNvSpPr>
          <p:nvPr/>
        </p:nvSpPr>
        <p:spPr>
          <a:xfrm>
            <a:off x="5476875" y="3324225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01A59"/>
                </a:solidFill>
                <a:latin typeface="Arial"/>
                <a:ea typeface="Arial"/>
                <a:cs typeface="Arial"/>
              </a:rPr>
              <a:t>Igor Be</a:t>
            </a:r>
            <a:r>
              <a:rPr lang="pt-BR" sz="1200" b="1" i="0" dirty="0" err="1">
                <a:solidFill>
                  <a:srgbClr val="001A59"/>
                </a:solidFill>
                <a:latin typeface="Arial"/>
                <a:ea typeface="Arial"/>
                <a:cs typeface="Arial"/>
              </a:rPr>
              <a:t>rb</a:t>
            </a:r>
            <a:r>
              <a:rPr sz="1200" b="1" i="0" dirty="0">
                <a:solidFill>
                  <a:srgbClr val="001A59"/>
                </a:solidFill>
                <a:latin typeface="Arial"/>
                <a:ea typeface="Arial"/>
                <a:cs typeface="Arial"/>
              </a:rPr>
              <a:t>et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B5645E81-FDCF-43DE-BC3E-8E0C2D367149}"/>
              </a:ext>
            </a:extLst>
          </p:cNvPr>
          <p:cNvSpPr>
            <a:spLocks noGrp="1"/>
          </p:cNvSpPr>
          <p:nvPr/>
        </p:nvSpPr>
        <p:spPr>
          <a:xfrm>
            <a:off x="4543425" y="3629025"/>
            <a:ext cx="3105150" cy="9525"/>
          </a:xfrm>
          <a:prstGeom prst="rect">
            <a:avLst/>
          </a:prstGeom>
          <a:solidFill>
            <a:srgbClr val="C8D7E8"/>
          </a:solidFill>
          <a:ln w="0">
            <a:noFill/>
            <a:prstDash val="solid"/>
          </a:ln>
        </p:spPr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CA66232E-5DE9-4816-863E-03C8EB074C81}"/>
              </a:ext>
            </a:extLst>
          </p:cNvPr>
          <p:cNvSpPr>
            <a:spLocks noGrp="1"/>
          </p:cNvSpPr>
          <p:nvPr/>
        </p:nvSpPr>
        <p:spPr>
          <a:xfrm>
            <a:off x="4543425" y="3705225"/>
            <a:ext cx="31051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15263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5263A"/>
                </a:solidFill>
                <a:latin typeface="Arial"/>
                <a:ea typeface="Arial"/>
                <a:cs typeface="Arial"/>
              </a:rPr>
              <a:t>Executar a bilhetagem e importar os arquivos recebidos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0F89D800-0995-43F1-8482-B4FA138AC5A2}"/>
              </a:ext>
            </a:extLst>
          </p:cNvPr>
          <p:cNvSpPr>
            <a:spLocks noGrp="1"/>
          </p:cNvSpPr>
          <p:nvPr/>
        </p:nvSpPr>
        <p:spPr>
          <a:xfrm>
            <a:off x="8382000" y="2095500"/>
            <a:ext cx="3448050" cy="1066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8D7E8"/>
            </a:solidFill>
            <a:prstDash val="solid"/>
          </a:ln>
        </p:spPr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D3592944-6BEC-44D8-8733-833FD3E923AA}"/>
              </a:ext>
            </a:extLst>
          </p:cNvPr>
          <p:cNvSpPr>
            <a:spLocks noGrp="1"/>
          </p:cNvSpPr>
          <p:nvPr/>
        </p:nvSpPr>
        <p:spPr>
          <a:xfrm>
            <a:off x="8382000" y="2095500"/>
            <a:ext cx="66675" cy="1066800"/>
          </a:xfrm>
          <a:prstGeom prst="roundRect">
            <a:avLst>
              <a:gd name="adj" fmla="val 42857"/>
            </a:avLst>
          </a:prstGeom>
          <a:solidFill>
            <a:srgbClr val="617286"/>
          </a:solidFill>
          <a:ln w="0">
            <a:solidFill>
              <a:srgbClr val="617286"/>
            </a:solidFill>
            <a:prstDash val="solid"/>
          </a:ln>
        </p:spPr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F4FA8E91-01D9-47BC-BF0B-FE2AB6D5B18E}"/>
              </a:ext>
            </a:extLst>
          </p:cNvPr>
          <p:cNvSpPr>
            <a:spLocks noGrp="1"/>
          </p:cNvSpPr>
          <p:nvPr/>
        </p:nvSpPr>
        <p:spPr>
          <a:xfrm>
            <a:off x="8553450" y="2200275"/>
            <a:ext cx="914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61728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17286"/>
                </a:solidFill>
                <a:latin typeface="Arial"/>
                <a:ea typeface="Arial"/>
                <a:cs typeface="Arial"/>
              </a:rPr>
              <a:t>TÉCNICO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AAF21042-3C43-424A-9564-465153E58383}"/>
              </a:ext>
            </a:extLst>
          </p:cNvPr>
          <p:cNvSpPr>
            <a:spLocks noGrp="1"/>
          </p:cNvSpPr>
          <p:nvPr/>
        </p:nvSpPr>
        <p:spPr>
          <a:xfrm>
            <a:off x="9486900" y="2171700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01A59"/>
                </a:solidFill>
                <a:latin typeface="Arial"/>
                <a:ea typeface="Arial"/>
                <a:cs typeface="Arial"/>
              </a:rPr>
              <a:t>Tiago </a:t>
            </a:r>
            <a:r>
              <a:rPr sz="1200" b="1" i="0" dirty="0" err="1">
                <a:solidFill>
                  <a:srgbClr val="001A59"/>
                </a:solidFill>
                <a:latin typeface="Arial"/>
                <a:ea typeface="Arial"/>
                <a:cs typeface="Arial"/>
              </a:rPr>
              <a:t>Talarico</a:t>
            </a:r>
            <a:endParaRPr sz="1200" b="1" i="0" dirty="0">
              <a:solidFill>
                <a:srgbClr val="001A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344301F0-11DF-4263-A756-EDC2C01DBEB6}"/>
              </a:ext>
            </a:extLst>
          </p:cNvPr>
          <p:cNvSpPr>
            <a:spLocks noGrp="1"/>
          </p:cNvSpPr>
          <p:nvPr/>
        </p:nvSpPr>
        <p:spPr>
          <a:xfrm>
            <a:off x="8553450" y="2476500"/>
            <a:ext cx="3105150" cy="9525"/>
          </a:xfrm>
          <a:prstGeom prst="rect">
            <a:avLst/>
          </a:prstGeom>
          <a:solidFill>
            <a:srgbClr val="C8D7E8"/>
          </a:solidFill>
          <a:ln w="0">
            <a:noFill/>
            <a:prstDash val="solid"/>
          </a:ln>
        </p:spPr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32E49C73-7832-4251-8256-48F861F1E5D4}"/>
              </a:ext>
            </a:extLst>
          </p:cNvPr>
          <p:cNvSpPr>
            <a:spLocks noGrp="1"/>
          </p:cNvSpPr>
          <p:nvPr/>
        </p:nvSpPr>
        <p:spPr>
          <a:xfrm>
            <a:off x="8553450" y="2552700"/>
            <a:ext cx="31051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15263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5263A"/>
                </a:solidFill>
                <a:latin typeface="Arial"/>
                <a:ea typeface="Arial"/>
                <a:cs typeface="Arial"/>
              </a:rPr>
              <a:t>Configurar e sustentar o SAP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3B4B4C63-1C69-4C70-ADE1-331BCFCF2F8D}"/>
              </a:ext>
            </a:extLst>
          </p:cNvPr>
          <p:cNvSpPr>
            <a:spLocks noGrp="1"/>
          </p:cNvSpPr>
          <p:nvPr/>
        </p:nvSpPr>
        <p:spPr>
          <a:xfrm>
            <a:off x="8382000" y="3248025"/>
            <a:ext cx="3448050" cy="1066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8D7E8"/>
            </a:solidFill>
            <a:prstDash val="solid"/>
          </a:ln>
        </p:spPr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43ED13F6-D162-4D7A-B723-409AD84AE37D}"/>
              </a:ext>
            </a:extLst>
          </p:cNvPr>
          <p:cNvSpPr>
            <a:spLocks noGrp="1"/>
          </p:cNvSpPr>
          <p:nvPr/>
        </p:nvSpPr>
        <p:spPr>
          <a:xfrm>
            <a:off x="8382000" y="3248025"/>
            <a:ext cx="66675" cy="1066800"/>
          </a:xfrm>
          <a:prstGeom prst="roundRect">
            <a:avLst>
              <a:gd name="adj" fmla="val 42857"/>
            </a:avLst>
          </a:prstGeom>
          <a:solidFill>
            <a:srgbClr val="001A59"/>
          </a:solidFill>
          <a:ln w="0">
            <a:solidFill>
              <a:srgbClr val="001A59"/>
            </a:solidFill>
            <a:prstDash val="solid"/>
          </a:ln>
        </p:spPr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701C65FF-D5A8-4ECC-B45A-5E6CD3E11108}"/>
              </a:ext>
            </a:extLst>
          </p:cNvPr>
          <p:cNvSpPr>
            <a:spLocks noGrp="1"/>
          </p:cNvSpPr>
          <p:nvPr/>
        </p:nvSpPr>
        <p:spPr>
          <a:xfrm>
            <a:off x="8553450" y="3352800"/>
            <a:ext cx="914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1A59"/>
                </a:solidFill>
                <a:latin typeface="Arial"/>
                <a:ea typeface="Arial"/>
                <a:cs typeface="Arial"/>
              </a:rPr>
              <a:t>NEGÓCIO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12AAE7F0-17FE-4F4C-85F8-97AF1C286367}"/>
              </a:ext>
            </a:extLst>
          </p:cNvPr>
          <p:cNvSpPr>
            <a:spLocks noGrp="1"/>
          </p:cNvSpPr>
          <p:nvPr/>
        </p:nvSpPr>
        <p:spPr>
          <a:xfrm>
            <a:off x="9486900" y="3324225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1A59"/>
                </a:solidFill>
                <a:latin typeface="Arial"/>
                <a:ea typeface="Arial"/>
                <a:cs typeface="Arial"/>
              </a:rPr>
              <a:t>Juliana Cicarelli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289CC8DC-CA11-403D-8B1A-439E8DAEBB06}"/>
              </a:ext>
            </a:extLst>
          </p:cNvPr>
          <p:cNvSpPr>
            <a:spLocks noGrp="1"/>
          </p:cNvSpPr>
          <p:nvPr/>
        </p:nvSpPr>
        <p:spPr>
          <a:xfrm>
            <a:off x="8553450" y="3629025"/>
            <a:ext cx="3105150" cy="9525"/>
          </a:xfrm>
          <a:prstGeom prst="rect">
            <a:avLst/>
          </a:prstGeom>
          <a:solidFill>
            <a:srgbClr val="C8D7E8"/>
          </a:solidFill>
          <a:ln w="0">
            <a:noFill/>
            <a:prstDash val="solid"/>
          </a:ln>
        </p:spPr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945A894B-C9D9-48E6-B34B-4EB3D8B4F0F1}"/>
              </a:ext>
            </a:extLst>
          </p:cNvPr>
          <p:cNvSpPr>
            <a:spLocks noGrp="1"/>
          </p:cNvSpPr>
          <p:nvPr/>
        </p:nvSpPr>
        <p:spPr>
          <a:xfrm>
            <a:off x="8553450" y="3705225"/>
            <a:ext cx="31051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15263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5263A"/>
                </a:solidFill>
                <a:latin typeface="Arial"/>
                <a:ea typeface="Arial"/>
                <a:cs typeface="Arial"/>
              </a:rPr>
              <a:t>Executar o faturamento e a cobrança dos clientes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E863A253-1B85-4517-9A68-8BF89D611A6C}"/>
              </a:ext>
            </a:extLst>
          </p:cNvPr>
          <p:cNvSpPr>
            <a:spLocks noGrp="1"/>
          </p:cNvSpPr>
          <p:nvPr/>
        </p:nvSpPr>
        <p:spPr>
          <a:xfrm>
            <a:off x="361950" y="44767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 i="0">
                <a:solidFill>
                  <a:srgbClr val="0646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469B"/>
                </a:solidFill>
                <a:latin typeface="Arial"/>
                <a:ea typeface="Arial"/>
                <a:cs typeface="Arial"/>
              </a:rPr>
              <a:t>ATUAÇÃO TRANSVERSAL</a:t>
            </a: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AA4A0DE3-17BC-4D8C-8050-46491448AECF}"/>
              </a:ext>
            </a:extLst>
          </p:cNvPr>
          <p:cNvSpPr>
            <a:spLocks noGrp="1"/>
          </p:cNvSpPr>
          <p:nvPr/>
        </p:nvSpPr>
        <p:spPr>
          <a:xfrm>
            <a:off x="361950" y="4743450"/>
            <a:ext cx="11468100" cy="14097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D7E8"/>
            </a:solidFill>
            <a:prstDash val="solid"/>
          </a:ln>
        </p:spPr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C04445C1-776B-4141-8E9C-5ED950FEF1CD}"/>
              </a:ext>
            </a:extLst>
          </p:cNvPr>
          <p:cNvSpPr>
            <a:spLocks noGrp="1"/>
          </p:cNvSpPr>
          <p:nvPr/>
        </p:nvSpPr>
        <p:spPr>
          <a:xfrm>
            <a:off x="552450" y="4914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6875B"/>
          </a:solidFill>
          <a:ln w="0">
            <a:solidFill>
              <a:srgbClr val="16875B"/>
            </a:solidFill>
            <a:prstDash val="solid"/>
          </a:ln>
        </p:spPr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F8E72138-9EF3-4B4E-AEB3-B97656FA6422}"/>
              </a:ext>
            </a:extLst>
          </p:cNvPr>
          <p:cNvSpPr>
            <a:spLocks noGrp="1"/>
          </p:cNvSpPr>
          <p:nvPr/>
        </p:nvSpPr>
        <p:spPr>
          <a:xfrm>
            <a:off x="742950" y="4829175"/>
            <a:ext cx="308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 i="0">
                <a:solidFill>
                  <a:srgbClr val="16875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875B"/>
                </a:solidFill>
                <a:latin typeface="Arial"/>
                <a:ea typeface="Arial"/>
                <a:cs typeface="Arial"/>
              </a:rPr>
              <a:t>SUCESSO DO CLIENTE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A9D5F557-7C67-4564-B01E-A5300DD5C449}"/>
              </a:ext>
            </a:extLst>
          </p:cNvPr>
          <p:cNvSpPr>
            <a:spLocks noGrp="1"/>
          </p:cNvSpPr>
          <p:nvPr/>
        </p:nvSpPr>
        <p:spPr>
          <a:xfrm>
            <a:off x="552450" y="5086350"/>
            <a:ext cx="3276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1A59"/>
                </a:solidFill>
                <a:latin typeface="Arial"/>
                <a:ea typeface="Arial"/>
                <a:cs typeface="Arial"/>
              </a:rPr>
              <a:t>Gabriela Cotrim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63C105CB-BB26-46F7-B31E-E8FCBC1C08C8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327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 i="0">
                <a:solidFill>
                  <a:srgbClr val="15263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5263A"/>
                </a:solidFill>
                <a:latin typeface="Arial"/>
                <a:ea typeface="Arial"/>
                <a:cs typeface="Arial"/>
              </a:rPr>
              <a:t>Conduzir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o onboarding e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acompanhar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se a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cobrança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ocorre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corretamente</a:t>
            </a:r>
            <a:endParaRPr sz="1050" b="0" i="0" dirty="0">
              <a:solidFill>
                <a:srgbClr val="1526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9618C64D-8071-4462-9A6A-7A60EB03F1DC}"/>
              </a:ext>
            </a:extLst>
          </p:cNvPr>
          <p:cNvSpPr>
            <a:spLocks noGrp="1"/>
          </p:cNvSpPr>
          <p:nvPr/>
        </p:nvSpPr>
        <p:spPr>
          <a:xfrm>
            <a:off x="4133850" y="4933950"/>
            <a:ext cx="9525" cy="1009650"/>
          </a:xfrm>
          <a:prstGeom prst="rect">
            <a:avLst/>
          </a:prstGeom>
          <a:solidFill>
            <a:srgbClr val="C8D7E8"/>
          </a:solidFill>
          <a:ln w="0">
            <a:noFill/>
            <a:prstDash val="solid"/>
          </a:ln>
        </p:spPr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8C5862BE-E56B-4A82-A8F6-63DAAC59A861}"/>
              </a:ext>
            </a:extLst>
          </p:cNvPr>
          <p:cNvSpPr>
            <a:spLocks noGrp="1"/>
          </p:cNvSpPr>
          <p:nvPr/>
        </p:nvSpPr>
        <p:spPr>
          <a:xfrm>
            <a:off x="4362450" y="4914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6469B"/>
          </a:solidFill>
          <a:ln w="0">
            <a:solidFill>
              <a:srgbClr val="06469B"/>
            </a:solidFill>
            <a:prstDash val="solid"/>
          </a:ln>
        </p:spPr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FD6FF363-00B8-4113-979C-F92A2390DD9E}"/>
              </a:ext>
            </a:extLst>
          </p:cNvPr>
          <p:cNvSpPr>
            <a:spLocks noGrp="1"/>
          </p:cNvSpPr>
          <p:nvPr/>
        </p:nvSpPr>
        <p:spPr>
          <a:xfrm>
            <a:off x="4552950" y="4829175"/>
            <a:ext cx="308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 i="0">
                <a:solidFill>
                  <a:srgbClr val="06469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469B"/>
                </a:solidFill>
                <a:latin typeface="Arial"/>
                <a:ea typeface="Arial"/>
                <a:cs typeface="Arial"/>
              </a:rPr>
              <a:t>INTELIGÊNCIA DE PROCESSOS</a:t>
            </a: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9313CF50-DB21-4FF1-A0C5-1937127F7BF1}"/>
              </a:ext>
            </a:extLst>
          </p:cNvPr>
          <p:cNvSpPr>
            <a:spLocks noGrp="1"/>
          </p:cNvSpPr>
          <p:nvPr/>
        </p:nvSpPr>
        <p:spPr>
          <a:xfrm>
            <a:off x="4362450" y="5086350"/>
            <a:ext cx="3276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lang="pt-BR" sz="1200" b="1" dirty="0">
                <a:solidFill>
                  <a:srgbClr val="001A59"/>
                </a:solidFill>
                <a:latin typeface="Arial"/>
                <a:ea typeface="Arial"/>
                <a:cs typeface="Arial"/>
              </a:rPr>
              <a:t>Leandro </a:t>
            </a:r>
            <a:r>
              <a:rPr lang="pt-BR" sz="1200" b="1" dirty="0" err="1">
                <a:solidFill>
                  <a:srgbClr val="001A59"/>
                </a:solidFill>
                <a:latin typeface="Arial"/>
                <a:ea typeface="Arial"/>
                <a:cs typeface="Arial"/>
              </a:rPr>
              <a:t>Dallmann</a:t>
            </a:r>
            <a:r>
              <a:rPr lang="pt-BR" sz="1200" b="1" dirty="0">
                <a:solidFill>
                  <a:srgbClr val="001A59"/>
                </a:solidFill>
                <a:latin typeface="Arial"/>
                <a:ea typeface="Arial"/>
                <a:cs typeface="Arial"/>
              </a:rPr>
              <a:t> / </a:t>
            </a:r>
            <a:r>
              <a:rPr lang="pt-BR" sz="1200" b="1" dirty="0" err="1">
                <a:solidFill>
                  <a:srgbClr val="001A59"/>
                </a:solidFill>
                <a:latin typeface="Arial"/>
                <a:ea typeface="Arial"/>
                <a:cs typeface="Arial"/>
              </a:rPr>
              <a:t>lucas</a:t>
            </a:r>
            <a:r>
              <a:rPr lang="pt-BR" sz="1200" b="1" dirty="0">
                <a:solidFill>
                  <a:srgbClr val="001A59"/>
                </a:solidFill>
                <a:latin typeface="Arial"/>
                <a:ea typeface="Arial"/>
                <a:cs typeface="Arial"/>
              </a:rPr>
              <a:t> </a:t>
            </a:r>
            <a:r>
              <a:rPr lang="pt-BR" sz="1200" b="1" dirty="0" err="1">
                <a:solidFill>
                  <a:srgbClr val="001A59"/>
                </a:solidFill>
                <a:latin typeface="Arial"/>
                <a:ea typeface="Arial"/>
                <a:cs typeface="Arial"/>
              </a:rPr>
              <a:t>diniz</a:t>
            </a:r>
            <a:endParaRPr sz="1200" b="1" i="0" dirty="0">
              <a:solidFill>
                <a:srgbClr val="001A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834BCF14-357E-4146-A345-5C45350CCDC9}"/>
              </a:ext>
            </a:extLst>
          </p:cNvPr>
          <p:cNvSpPr>
            <a:spLocks noGrp="1"/>
          </p:cNvSpPr>
          <p:nvPr/>
        </p:nvSpPr>
        <p:spPr>
          <a:xfrm>
            <a:off x="4362450" y="5391150"/>
            <a:ext cx="327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 i="0">
                <a:solidFill>
                  <a:srgbClr val="15263A"/>
                </a:solidFill>
                <a:latin typeface="Arial"/>
                <a:ea typeface="Arial"/>
                <a:cs typeface="Arial"/>
              </a:defRPr>
            </a:pP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Mapear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a jornada e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apoiar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o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desenho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do novo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fluxo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ponta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a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ponta</a:t>
            </a:r>
            <a:endParaRPr sz="1050" b="0" i="0" dirty="0">
              <a:solidFill>
                <a:srgbClr val="1526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A3D0EBAB-D7B8-4E98-A788-532DC95DC3E3}"/>
              </a:ext>
            </a:extLst>
          </p:cNvPr>
          <p:cNvSpPr>
            <a:spLocks noGrp="1"/>
          </p:cNvSpPr>
          <p:nvPr/>
        </p:nvSpPr>
        <p:spPr>
          <a:xfrm>
            <a:off x="7943850" y="4933950"/>
            <a:ext cx="9525" cy="1009650"/>
          </a:xfrm>
          <a:prstGeom prst="rect">
            <a:avLst/>
          </a:prstGeom>
          <a:solidFill>
            <a:srgbClr val="C8D7E8"/>
          </a:solidFill>
          <a:ln w="0">
            <a:noFill/>
            <a:prstDash val="solid"/>
          </a:ln>
        </p:spPr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544C83CA-C444-4E42-A8FB-F70089077B9C}"/>
              </a:ext>
            </a:extLst>
          </p:cNvPr>
          <p:cNvSpPr>
            <a:spLocks noGrp="1"/>
          </p:cNvSpPr>
          <p:nvPr/>
        </p:nvSpPr>
        <p:spPr>
          <a:xfrm>
            <a:off x="8172450" y="4914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0">
            <a:solidFill>
              <a:srgbClr val="F5A623"/>
            </a:solidFill>
            <a:prstDash val="solid"/>
          </a:ln>
        </p:spPr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F68CE998-C7CF-4CE8-97D0-B478622972FF}"/>
              </a:ext>
            </a:extLst>
          </p:cNvPr>
          <p:cNvSpPr>
            <a:spLocks noGrp="1"/>
          </p:cNvSpPr>
          <p:nvPr/>
        </p:nvSpPr>
        <p:spPr>
          <a:xfrm>
            <a:off x="8362950" y="4829175"/>
            <a:ext cx="308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 i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A623"/>
                </a:solidFill>
                <a:latin typeface="Arial"/>
                <a:ea typeface="Arial"/>
                <a:cs typeface="Arial"/>
              </a:rPr>
              <a:t>APR</a:t>
            </a:r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E33BB7E0-7A36-4E4A-9D43-000CE16D61E5}"/>
              </a:ext>
            </a:extLst>
          </p:cNvPr>
          <p:cNvSpPr>
            <a:spLocks noGrp="1"/>
          </p:cNvSpPr>
          <p:nvPr/>
        </p:nvSpPr>
        <p:spPr>
          <a:xfrm>
            <a:off x="8172450" y="5086350"/>
            <a:ext cx="3276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lang="pt-BR" sz="1200" b="1" i="0" dirty="0">
                <a:solidFill>
                  <a:srgbClr val="001A59"/>
                </a:solidFill>
                <a:latin typeface="Arial"/>
                <a:ea typeface="Arial"/>
                <a:cs typeface="Arial"/>
              </a:rPr>
              <a:t>Lucas </a:t>
            </a:r>
            <a:r>
              <a:rPr lang="pt-BR" sz="1200" b="1" i="0" dirty="0" err="1">
                <a:solidFill>
                  <a:srgbClr val="001A59"/>
                </a:solidFill>
                <a:latin typeface="Arial"/>
                <a:ea typeface="Arial"/>
                <a:cs typeface="Arial"/>
              </a:rPr>
              <a:t>Simplicio</a:t>
            </a:r>
            <a:endParaRPr sz="1200" b="1" i="0" dirty="0">
              <a:solidFill>
                <a:srgbClr val="001A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3C0BF73A-097F-489D-8C5B-29446BF34739}"/>
              </a:ext>
            </a:extLst>
          </p:cNvPr>
          <p:cNvSpPr>
            <a:spLocks noGrp="1"/>
          </p:cNvSpPr>
          <p:nvPr/>
        </p:nvSpPr>
        <p:spPr>
          <a:xfrm>
            <a:off x="8172450" y="5391150"/>
            <a:ext cx="327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 i="0">
                <a:solidFill>
                  <a:srgbClr val="15263A"/>
                </a:solidFill>
                <a:latin typeface="Arial"/>
                <a:ea typeface="Arial"/>
                <a:cs typeface="Arial"/>
              </a:defRPr>
            </a:pP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Conduzir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a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migração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para a nova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esteira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e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coordenar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as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mudanças</a:t>
            </a:r>
            <a:r>
              <a:rPr sz="1050" b="0" i="0" dirty="0">
                <a:solidFill>
                  <a:srgbClr val="15263A"/>
                </a:solidFill>
                <a:latin typeface="Arial"/>
                <a:ea typeface="Arial"/>
                <a:cs typeface="Arial"/>
              </a:rPr>
              <a:t> entre </a:t>
            </a:r>
            <a:r>
              <a:rPr sz="1050" b="0" i="0" dirty="0" err="1">
                <a:solidFill>
                  <a:srgbClr val="15263A"/>
                </a:solidFill>
                <a:latin typeface="Arial"/>
                <a:ea typeface="Arial"/>
                <a:cs typeface="Arial"/>
              </a:rPr>
              <a:t>sistemas</a:t>
            </a:r>
            <a:endParaRPr sz="1050" b="0" i="0" dirty="0">
              <a:solidFill>
                <a:srgbClr val="1526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99199CCB-29C3-475B-BF57-F039D6091292}"/>
              </a:ext>
            </a:extLst>
          </p:cNvPr>
          <p:cNvSpPr>
            <a:spLocks noGrp="1"/>
          </p:cNvSpPr>
          <p:nvPr/>
        </p:nvSpPr>
        <p:spPr>
          <a:xfrm>
            <a:off x="361950" y="6400800"/>
            <a:ext cx="24765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675" b="0" i="0">
                <a:solidFill>
                  <a:srgbClr val="6172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17286"/>
                </a:solidFill>
                <a:latin typeface="Arial"/>
                <a:ea typeface="Arial"/>
                <a:cs typeface="Arial"/>
              </a:rPr>
              <a:t>INFORMAÇÃO INTERNA</a:t>
            </a:r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D6708AC4-D43C-4085-965B-E28436BB9661}"/>
              </a:ext>
            </a:extLst>
          </p:cNvPr>
          <p:cNvSpPr>
            <a:spLocks noGrp="1"/>
          </p:cNvSpPr>
          <p:nvPr/>
        </p:nvSpPr>
        <p:spPr>
          <a:xfrm>
            <a:off x="11382375" y="6400800"/>
            <a:ext cx="44767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675" b="0" i="0">
                <a:solidFill>
                  <a:srgbClr val="617286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1728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386164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347</Words>
  <Application>Microsoft Office PowerPoint</Application>
  <DocSecurity>0</DocSecurity>
  <PresentationFormat>Widescreen</PresentationFormat>
  <Paragraphs>95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Calibri</vt:lpstr>
      <vt:lpstr>ChatGPT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Lucas Diniz</cp:lastModifiedBy>
  <cp:revision>4</cp:revision>
  <dcterms:created xsi:type="dcterms:W3CDTF">2026-09-08T01:16:01Z</dcterms:created>
  <dcterms:modified xsi:type="dcterms:W3CDTF">2026-09-08T02:55:20Z</dcterms:modified>
</cp:coreProperties>
</file>