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 reconstruído a partir da página 4 do PDF do usuário, preservando fundo azul-claro, logo original extraído, cabeçalhos azuis, grade leve e barras horizontais editáveis. Grade ampliada até novembro. Conforme instrução expressa do usuário, novembro é o período de testes, representado nas quatro semanas antes do marco de 30/11. Faturamento paralelo permanece excluído. Prazos escritos e início do plano em 08/09 preservados da versão revisada. Divergências de posicionamento no original para 16/09 e 25/10 continuam sinalizadas. Go-live 30/11 é data-alvo. Responsáveis pelos testes e pelo marco permanecem a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Recorrência 22/09/2026 11:57-14:15 (dólar, reajuste, envio automático e cancelamento); 26:47-40:26 (materiais, nomes, recorrência e venda avulsa); 20:09-25:41 (NF, boletos e N1). Papéis 3:39-4:42 (Quality Check de Alan); 7:45-10:46 (cancelamento, Pricing, renovações e cobrança); 16:20-17:22 (arquitetura); 22:31-24:45 (priorização Plus e demais produtos). Os interlocutores refletem a discussão, não uma RACI formal aprovada. As atividades desdobradas não herdaram artificialmente prazos do item agrupado do material. Manter Quality Check de Alan na validação dos dados comerciais, Comercial no registro/correção, CS em onboarding/usabilidade, Pricing na definição de preço e requisitos com validação tributária e Renovações na condução das renovações. UP2DATA não está confirmado como próximo nem possui marco acordado em 30/12 ou +15 dias. Faturamento paralelo expressamente retirado conforme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" y="305792"/>
            <a:ext cx="733425" cy="70286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7F8E17F-88E7-4A61-A7BB-E14688B8C028}"/>
              </a:ext>
            </a:extLst>
          </p:cNvPr>
          <p:cNvSpPr>
            <a:spLocks noGrp="1"/>
          </p:cNvSpPr>
          <p:nvPr/>
        </p:nvSpPr>
        <p:spPr>
          <a:xfrm>
            <a:off x="1314450" y="447675"/>
            <a:ext cx="13335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6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Cronograma Atividades - Datawise Plus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6B50A0-02F4-47C6-B432-8DC0F1E369AF}"/>
              </a:ext>
            </a:extLst>
          </p:cNvPr>
          <p:cNvSpPr>
            <a:spLocks noGrp="1"/>
          </p:cNvSpPr>
          <p:nvPr/>
        </p:nvSpPr>
        <p:spPr>
          <a:xfrm>
            <a:off x="295275" y="8001000"/>
            <a:ext cx="14192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Início em 08/09/2026. Testes em novembro. Go-live em 30/11/2026: data-alvo para a primeira cobrança automatizada.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8F4600-C9E6-4C98-8ECC-29C455731080}"/>
              </a:ext>
            </a:extLst>
          </p:cNvPr>
          <p:cNvSpPr>
            <a:spLocks noGrp="1"/>
          </p:cNvSpPr>
          <p:nvPr/>
        </p:nvSpPr>
        <p:spPr>
          <a:xfrm>
            <a:off x="14668500" y="8277225"/>
            <a:ext cx="333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29" name="Tabela 28"/>
          <p:cNvGraphicFramePr/>
          <p:nvPr>
            <p:extLst>
              <p:ext uri="{D42A27DB-BD31-4B8C-83A1-F6EECF244321}">
                <p14:modId xmlns:p14="http://schemas.microsoft.com/office/powerpoint/2010/main" val="2054342451"/>
              </p:ext>
            </p:extLst>
          </p:nvPr>
        </p:nvGraphicFramePr>
        <p:xfrm>
          <a:off x="285750" y="1143000"/>
          <a:ext cx="14668494" cy="6648450"/>
        </p:xfrm>
        <a:graphic>
          <a:graphicData uri="http://schemas.openxmlformats.org/drawingml/2006/table">
            <a:tbl>
              <a:tblPr/>
              <a:tblGrid>
                <a:gridCol w="432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95300">
                <a:tc rowSpan="2"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SETEMBRO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OUTUBRO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NOVEMBRO</a:t>
                      </a:r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B20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08-11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14-18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21-25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28/09</a:t>
                      </a:r>
                    </a:p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05-09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12-16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19-23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26-30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02-06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09-13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16-20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23-27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30/11</a:t>
                      </a:r>
                    </a:p>
                  </a:txBody>
                  <a:tcPr anchor="ctr">
                    <a:solidFill>
                      <a:srgbClr val="1B5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Definir orçamento do novo Metranet</a:t>
                      </a:r>
                    </a:p>
                  </a:txBody>
                  <a:tcPr anchor="ctr">
                    <a:solidFill>
                      <a:srgbClr val="E1F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Leandro</a:t>
                      </a:r>
                    </a:p>
                  </a:txBody>
                  <a:tcPr anchor="ctr">
                    <a:solidFill>
                      <a:srgbClr val="E1F3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Validar oportunidades e rateios do Datawise+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Integrar Salesforce ao Metranet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Marija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Revisar materiais Datawise+ e ajustar no SAP e comunicação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Phelipe / Atendimento / SAP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Configurar local da fatura para Capital Markets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Tiago Talarico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Definição de papéis e responsabilidades + formalização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Lucas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Construir novo Metranet - Trillia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Vitor Lima / Living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Testes ponta a ponta do Datawise 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75" b="1" dirty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Marija/ Vitor Lima / Talarico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GO-LIVE DATAWISE PLUS</a:t>
                      </a:r>
                    </a:p>
                  </a:txBody>
                  <a:tcPr anchor="ctr">
                    <a:solidFill>
                      <a:srgbClr val="FFEB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75" b="1" dirty="0">
                        <a:solidFill>
                          <a:srgbClr val="2434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EB9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FFF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6F3BCCE-263A-41F1-95B1-50F6BE1CDD8D}"/>
              </a:ext>
            </a:extLst>
          </p:cNvPr>
          <p:cNvSpPr>
            <a:spLocks noGrp="1"/>
          </p:cNvSpPr>
          <p:nvPr/>
        </p:nvSpPr>
        <p:spPr>
          <a:xfrm>
            <a:off x="7172325" y="2324100"/>
            <a:ext cx="331792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C9F896-C67E-4F16-A307-1B27799E2670}"/>
              </a:ext>
            </a:extLst>
          </p:cNvPr>
          <p:cNvSpPr>
            <a:spLocks noGrp="1"/>
          </p:cNvSpPr>
          <p:nvPr/>
        </p:nvSpPr>
        <p:spPr>
          <a:xfrm>
            <a:off x="7589842" y="234315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11/09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C0EBDE8-5A81-467F-AF61-9B1B584CE892}"/>
              </a:ext>
            </a:extLst>
          </p:cNvPr>
          <p:cNvSpPr>
            <a:spLocks noGrp="1"/>
          </p:cNvSpPr>
          <p:nvPr/>
        </p:nvSpPr>
        <p:spPr>
          <a:xfrm>
            <a:off x="7172325" y="2952750"/>
            <a:ext cx="869120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EAEB7D4-7A20-4266-8027-CE575CBE763B}"/>
              </a:ext>
            </a:extLst>
          </p:cNvPr>
          <p:cNvSpPr>
            <a:spLocks noGrp="1"/>
          </p:cNvSpPr>
          <p:nvPr/>
        </p:nvSpPr>
        <p:spPr>
          <a:xfrm>
            <a:off x="8127170" y="297180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16/09*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812BD0-780E-44DF-BDDE-A48C9563B397}"/>
              </a:ext>
            </a:extLst>
          </p:cNvPr>
          <p:cNvSpPr>
            <a:spLocks noGrp="1"/>
          </p:cNvSpPr>
          <p:nvPr/>
        </p:nvSpPr>
        <p:spPr>
          <a:xfrm>
            <a:off x="7172325" y="3581400"/>
            <a:ext cx="2281604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C2D6C9-26BD-4BEA-A594-C8FD0B2DA8E3}"/>
              </a:ext>
            </a:extLst>
          </p:cNvPr>
          <p:cNvSpPr>
            <a:spLocks noGrp="1"/>
          </p:cNvSpPr>
          <p:nvPr/>
        </p:nvSpPr>
        <p:spPr>
          <a:xfrm>
            <a:off x="9539654" y="360045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F1C4092-E0C8-43FF-8435-6F644C8D0B7C}"/>
              </a:ext>
            </a:extLst>
          </p:cNvPr>
          <p:cNvSpPr>
            <a:spLocks noGrp="1"/>
          </p:cNvSpPr>
          <p:nvPr/>
        </p:nvSpPr>
        <p:spPr>
          <a:xfrm>
            <a:off x="7776063" y="4210050"/>
            <a:ext cx="1677865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1FBC035-6C1F-4D11-9C67-6C9A7BDE83C5}"/>
              </a:ext>
            </a:extLst>
          </p:cNvPr>
          <p:cNvSpPr>
            <a:spLocks noGrp="1"/>
          </p:cNvSpPr>
          <p:nvPr/>
        </p:nvSpPr>
        <p:spPr>
          <a:xfrm>
            <a:off x="9539654" y="422910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269AFE9-F3FE-4C3D-B91E-F048A54FB3E1}"/>
              </a:ext>
            </a:extLst>
          </p:cNvPr>
          <p:cNvSpPr>
            <a:spLocks noGrp="1"/>
          </p:cNvSpPr>
          <p:nvPr/>
        </p:nvSpPr>
        <p:spPr>
          <a:xfrm>
            <a:off x="8379802" y="4838700"/>
            <a:ext cx="1074127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35DE703-489F-4290-BEDD-411F3FA550CC}"/>
              </a:ext>
            </a:extLst>
          </p:cNvPr>
          <p:cNvSpPr>
            <a:spLocks noGrp="1"/>
          </p:cNvSpPr>
          <p:nvPr/>
        </p:nvSpPr>
        <p:spPr>
          <a:xfrm>
            <a:off x="9539654" y="485775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5493A33-8C0A-4325-92BF-2F3F14059B8D}"/>
              </a:ext>
            </a:extLst>
          </p:cNvPr>
          <p:cNvSpPr>
            <a:spLocks noGrp="1"/>
          </p:cNvSpPr>
          <p:nvPr/>
        </p:nvSpPr>
        <p:spPr>
          <a:xfrm>
            <a:off x="7172325" y="5467350"/>
            <a:ext cx="2181225" cy="247650"/>
          </a:xfrm>
          <a:prstGeom prst="roundRect">
            <a:avLst>
              <a:gd name="adj" fmla="val 30769"/>
            </a:avLst>
          </a:prstGeom>
          <a:solidFill>
            <a:srgbClr val="0B2067"/>
          </a:solidFill>
          <a:ln w="0">
            <a:noFill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CEB6457-B188-4377-8C7E-6902F1E898B5}"/>
              </a:ext>
            </a:extLst>
          </p:cNvPr>
          <p:cNvSpPr>
            <a:spLocks noGrp="1"/>
          </p:cNvSpPr>
          <p:nvPr/>
        </p:nvSpPr>
        <p:spPr>
          <a:xfrm>
            <a:off x="9539654" y="5443537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lang="pt-BR"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02</a:t>
            </a:r>
            <a:r>
              <a:rPr sz="127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/10</a:t>
            </a:r>
            <a:r>
              <a:rPr sz="1275" b="1" dirty="0">
                <a:solidFill>
                  <a:srgbClr val="0B2067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85C77FB-2D9B-4C52-85D2-CB34417A943E}"/>
              </a:ext>
            </a:extLst>
          </p:cNvPr>
          <p:cNvSpPr>
            <a:spLocks noGrp="1"/>
          </p:cNvSpPr>
          <p:nvPr/>
        </p:nvSpPr>
        <p:spPr>
          <a:xfrm>
            <a:off x="7172325" y="6096000"/>
            <a:ext cx="3284073" cy="247650"/>
          </a:xfrm>
          <a:prstGeom prst="roundRect">
            <a:avLst>
              <a:gd name="adj" fmla="val 30769"/>
            </a:avLst>
          </a:prstGeom>
          <a:solidFill>
            <a:srgbClr val="D78435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CA25D4C-471A-4D7D-98B6-7E54F4180787}"/>
              </a:ext>
            </a:extLst>
          </p:cNvPr>
          <p:cNvSpPr>
            <a:spLocks noGrp="1"/>
          </p:cNvSpPr>
          <p:nvPr/>
        </p:nvSpPr>
        <p:spPr>
          <a:xfrm>
            <a:off x="10542123" y="6115050"/>
            <a:ext cx="7905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D784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8435"/>
                </a:solidFill>
                <a:latin typeface="Arial"/>
                <a:ea typeface="Arial"/>
                <a:cs typeface="Arial"/>
              </a:rPr>
              <a:t>14/10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4D08989-D538-4440-8B34-30A74BEE978C}"/>
              </a:ext>
            </a:extLst>
          </p:cNvPr>
          <p:cNvSpPr>
            <a:spLocks noGrp="1"/>
          </p:cNvSpPr>
          <p:nvPr/>
        </p:nvSpPr>
        <p:spPr>
          <a:xfrm>
            <a:off x="10850880" y="6724650"/>
            <a:ext cx="3432957" cy="247650"/>
          </a:xfrm>
          <a:prstGeom prst="roundRect">
            <a:avLst>
              <a:gd name="adj" fmla="val 30769"/>
            </a:avLst>
          </a:prstGeom>
          <a:solidFill>
            <a:srgbClr val="1B5EAD"/>
          </a:solidFill>
          <a:ln w="0">
            <a:noFill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E4CCBCB-FE08-4D8C-8B88-DE0F6C4EECD8}"/>
              </a:ext>
            </a:extLst>
          </p:cNvPr>
          <p:cNvSpPr>
            <a:spLocks noGrp="1"/>
          </p:cNvSpPr>
          <p:nvPr/>
        </p:nvSpPr>
        <p:spPr>
          <a:xfrm>
            <a:off x="12145108" y="6753225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TESTES</a:t>
            </a:r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4948D861-BB4E-4694-A10E-5F32CD84FADF}"/>
              </a:ext>
            </a:extLst>
          </p:cNvPr>
          <p:cNvSpPr>
            <a:spLocks noGrp="1"/>
          </p:cNvSpPr>
          <p:nvPr/>
        </p:nvSpPr>
        <p:spPr>
          <a:xfrm>
            <a:off x="14547606" y="7372350"/>
            <a:ext cx="209550" cy="209550"/>
          </a:xfrm>
          <a:prstGeom prst="diamond">
            <a:avLst/>
          </a:prstGeom>
          <a:solidFill>
            <a:srgbClr val="0B2067"/>
          </a:solidFill>
          <a:ln w="0">
            <a:noFill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D706C56-3132-4303-BFA5-70BC63E47867}"/>
              </a:ext>
            </a:extLst>
          </p:cNvPr>
          <p:cNvSpPr>
            <a:spLocks noGrp="1"/>
          </p:cNvSpPr>
          <p:nvPr/>
        </p:nvSpPr>
        <p:spPr>
          <a:xfrm>
            <a:off x="13909431" y="7362825"/>
            <a:ext cx="6191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4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30/11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373933D-470E-4F91-BFB9-CD8669D42300}"/>
              </a:ext>
            </a:extLst>
          </p:cNvPr>
          <p:cNvSpPr>
            <a:spLocks noGrp="1"/>
          </p:cNvSpPr>
          <p:nvPr/>
        </p:nvSpPr>
        <p:spPr>
          <a:xfrm>
            <a:off x="285750" y="8248650"/>
            <a:ext cx="138112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05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* Datas escritas do original preservadas. Barras representam o planejamento, sem indicação de percentual concluído.</a:t>
            </a:r>
          </a:p>
        </p:txBody>
      </p:sp>
    </p:spTree>
    <p:extLst>
      <p:ext uri="{BB962C8B-B14F-4D97-AF65-F5344CB8AC3E}">
        <p14:creationId xmlns:p14="http://schemas.microsoft.com/office/powerpoint/2010/main" val="1244944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" y="305792"/>
            <a:ext cx="733425" cy="70286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6E54B78-6218-4EA9-97D3-C2F871B9D373}"/>
              </a:ext>
            </a:extLst>
          </p:cNvPr>
          <p:cNvSpPr>
            <a:spLocks noGrp="1"/>
          </p:cNvSpPr>
          <p:nvPr/>
        </p:nvSpPr>
        <p:spPr>
          <a:xfrm>
            <a:off x="1314450" y="447675"/>
            <a:ext cx="13335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6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Detalhamento dos ajustes por atividade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B69F69-3E11-4617-A52B-B6FBAA233BCF}"/>
              </a:ext>
            </a:extLst>
          </p:cNvPr>
          <p:cNvSpPr>
            <a:spLocks noGrp="1"/>
          </p:cNvSpPr>
          <p:nvPr/>
        </p:nvSpPr>
        <p:spPr>
          <a:xfrm>
            <a:off x="295275" y="8001000"/>
            <a:ext cx="14192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Itens tratados nas reuniões de 22/09. Prazos individuais a pactuar, exceto a janela de testes em novembro definida neste cronograma.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8E8FFA3-2D83-4BFC-BE3E-84922843BF0D}"/>
              </a:ext>
            </a:extLst>
          </p:cNvPr>
          <p:cNvSpPr>
            <a:spLocks noGrp="1"/>
          </p:cNvSpPr>
          <p:nvPr/>
        </p:nvSpPr>
        <p:spPr>
          <a:xfrm>
            <a:off x="14668500" y="8277225"/>
            <a:ext cx="333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13" name="Tabela 12"/>
          <p:cNvGraphicFramePr/>
          <p:nvPr/>
        </p:nvGraphicFramePr>
        <p:xfrm>
          <a:off x="571500" y="2114550"/>
          <a:ext cx="14097000" cy="4800600"/>
        </p:xfrm>
        <a:graphic>
          <a:graphicData uri="http://schemas.openxmlformats.org/drawingml/2006/table">
            <a:tbl>
              <a:tblPr/>
              <a:tblGrid>
                <a:gridCol w="828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>
                    <a:solidFill>
                      <a:srgbClr val="0B20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 / INTERLOCUTOR</a:t>
                      </a:r>
                    </a:p>
                  </a:txBody>
                  <a:tcPr>
                    <a:solidFill>
                      <a:srgbClr val="0B20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Validar de-para entre SKUs e materiais SAP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Phelipe / Produtos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Solicitar e cadastrar cinco novos materiais SAP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Phelipe / SAP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Ajustar classificações e nomes no Salesforce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Phelipe / equipe Salesforce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Alinhar nomes com contrato e sistema de liberação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Flavia / Phelipe / Suporte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Concluir os testes de venda em dólar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Equipe Salesforce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Parametrizar o reajuste automático em janeiro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Equipe Salesforce / Pricing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Validar faturamento recorrente e venda avulsa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Equipe Salesforce /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Parametrizar o fluxo de cancelamento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Equipe de Alan / Financeiro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Definir canal de notas e boletos por perfil de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Juliana / equipe de portais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Definir N1 financeiro e encaminhamentos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Lucas / Suporte, com Fábio e Barata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Confirmar responsáveis por cobrança em aberto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44A"/>
                          </a:solidFill>
                          <a:latin typeface="Arial"/>
                          <a:ea typeface="Arial"/>
                          <a:cs typeface="Arial"/>
                        </a:rPr>
                        <a:t>Lucas / Financeiro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41E7CA84-BAE1-4EB7-86D1-8D8895B4D83E}"/>
              </a:ext>
            </a:extLst>
          </p:cNvPr>
          <p:cNvSpPr>
            <a:spLocks noGrp="1"/>
          </p:cNvSpPr>
          <p:nvPr/>
        </p:nvSpPr>
        <p:spPr>
          <a:xfrm>
            <a:off x="571500" y="7172325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Próximas ondas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DBFF34D-9E5A-4ED5-9D75-A6A83CE6238A}"/>
              </a:ext>
            </a:extLst>
          </p:cNvPr>
          <p:cNvSpPr>
            <a:spLocks noGrp="1"/>
          </p:cNvSpPr>
          <p:nvPr/>
        </p:nvSpPr>
        <p:spPr>
          <a:xfrm>
            <a:off x="2905125" y="7181850"/>
            <a:ext cx="11715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24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A"/>
                </a:solidFill>
                <a:latin typeface="Arial"/>
                <a:ea typeface="Arial"/>
                <a:cs typeface="Arial"/>
              </a:rPr>
              <a:t>UP2DATA e demais produtos: priorização e cronograma próprios. Desativação do portal: Operações / Onboarding.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2BD694-7B95-434D-990C-A65EF697737D}"/>
              </a:ext>
            </a:extLst>
          </p:cNvPr>
          <p:cNvSpPr>
            <a:spLocks noGrp="1"/>
          </p:cNvSpPr>
          <p:nvPr/>
        </p:nvSpPr>
        <p:spPr>
          <a:xfrm>
            <a:off x="571500" y="7715250"/>
            <a:ext cx="14097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A conexão SAP–Databricks do plano anterior requer revisão técnica e não integra o compromisso de go-live apresentado.</a:t>
            </a:r>
          </a:p>
        </p:txBody>
      </p:sp>
    </p:spTree>
    <p:extLst>
      <p:ext uri="{BB962C8B-B14F-4D97-AF65-F5344CB8AC3E}">
        <p14:creationId xmlns:p14="http://schemas.microsoft.com/office/powerpoint/2010/main" val="20514135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DocSecurity>0</DocSecurity>
  <PresentationFormat>Personalizar</PresentationFormat>
  <Paragraphs>81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2026-09-25T12:57:41Z</dcterms:created>
  <dcterms:modified xsi:type="dcterms:W3CDTF">2026-09-25T13:47:50Z</dcterms:modified>
</cp:coreProperties>
</file>