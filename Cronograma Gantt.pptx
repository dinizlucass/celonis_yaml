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0014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Cronograma do projeto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393192" y="7132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Faturamento · Onda 1 (Up2Data e Datawise Plus)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281160" y="274320"/>
            <a:ext cx="2468880" cy="384048"/>
          </a:xfrm>
          <a:prstGeom prst="rect">
            <a:avLst/>
          </a:prstGeom>
          <a:solidFill>
            <a:srgbClr val="FBE3B8"/>
          </a:solidFill>
          <a:ln w="12700">
            <a:solidFill>
              <a:srgbClr val="E8990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281160" y="2743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6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· a validar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INFORMAÇÃO INTERNA – INTERNAL INFORMATION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1170432"/>
            <a:ext cx="11356848" cy="2926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17043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0" y="1170432"/>
            <a:ext cx="5958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167884" y="1170432"/>
            <a:ext cx="5958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763768" y="1170432"/>
            <a:ext cx="5958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359652" y="1170432"/>
            <a:ext cx="5958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955536" y="1170432"/>
            <a:ext cx="5958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551420" y="1170432"/>
            <a:ext cx="5958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147304" y="1170432"/>
            <a:ext cx="5958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743188" y="1170432"/>
            <a:ext cx="5958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339072" y="1170432"/>
            <a:ext cx="5958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9934956" y="1170432"/>
            <a:ext cx="5958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S10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0530840" y="1170432"/>
            <a:ext cx="5958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S11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126724" y="1170432"/>
            <a:ext cx="5958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S12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0" y="1463040"/>
            <a:ext cx="0" cy="4695444"/>
          </a:xfrm>
          <a:prstGeom prst="line">
            <a:avLst/>
          </a:prstGeom>
          <a:noFill/>
          <a:ln w="9525">
            <a:solidFill>
              <a:srgbClr val="ECEEF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67884" y="1463040"/>
            <a:ext cx="0" cy="4695444"/>
          </a:xfrm>
          <a:prstGeom prst="line">
            <a:avLst/>
          </a:prstGeom>
          <a:noFill/>
          <a:ln w="9525">
            <a:solidFill>
              <a:srgbClr val="ECEEF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763768" y="1463040"/>
            <a:ext cx="0" cy="4695444"/>
          </a:xfrm>
          <a:prstGeom prst="line">
            <a:avLst/>
          </a:prstGeom>
          <a:noFill/>
          <a:ln w="9525">
            <a:solidFill>
              <a:srgbClr val="ECEEF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59652" y="1463040"/>
            <a:ext cx="0" cy="4695444"/>
          </a:xfrm>
          <a:prstGeom prst="line">
            <a:avLst/>
          </a:prstGeom>
          <a:noFill/>
          <a:ln w="9525">
            <a:solidFill>
              <a:srgbClr val="ECEEF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55536" y="1463040"/>
            <a:ext cx="0" cy="4695444"/>
          </a:xfrm>
          <a:prstGeom prst="line">
            <a:avLst/>
          </a:prstGeom>
          <a:noFill/>
          <a:ln w="9525">
            <a:solidFill>
              <a:srgbClr val="ECEEF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51420" y="1463040"/>
            <a:ext cx="0" cy="4695444"/>
          </a:xfrm>
          <a:prstGeom prst="line">
            <a:avLst/>
          </a:prstGeom>
          <a:noFill/>
          <a:ln w="9525">
            <a:solidFill>
              <a:srgbClr val="ECEEF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47304" y="1463040"/>
            <a:ext cx="0" cy="4695444"/>
          </a:xfrm>
          <a:prstGeom prst="line">
            <a:avLst/>
          </a:prstGeom>
          <a:noFill/>
          <a:ln w="9525">
            <a:solidFill>
              <a:srgbClr val="ECEEF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43188" y="1463040"/>
            <a:ext cx="0" cy="4695444"/>
          </a:xfrm>
          <a:prstGeom prst="line">
            <a:avLst/>
          </a:prstGeom>
          <a:noFill/>
          <a:ln w="9525">
            <a:solidFill>
              <a:srgbClr val="ECEEF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339072" y="1463040"/>
            <a:ext cx="0" cy="4695444"/>
          </a:xfrm>
          <a:prstGeom prst="line">
            <a:avLst/>
          </a:prstGeom>
          <a:noFill/>
          <a:ln w="9525">
            <a:solidFill>
              <a:srgbClr val="ECEEF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934956" y="1463040"/>
            <a:ext cx="0" cy="4695444"/>
          </a:xfrm>
          <a:prstGeom prst="line">
            <a:avLst/>
          </a:prstGeom>
          <a:noFill/>
          <a:ln w="9525">
            <a:solidFill>
              <a:srgbClr val="ECEEF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530840" y="1463040"/>
            <a:ext cx="0" cy="4695444"/>
          </a:xfrm>
          <a:prstGeom prst="line">
            <a:avLst/>
          </a:prstGeom>
          <a:noFill/>
          <a:ln w="9525">
            <a:solidFill>
              <a:srgbClr val="ECEEF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126724" y="1463040"/>
            <a:ext cx="0" cy="4695444"/>
          </a:xfrm>
          <a:prstGeom prst="line">
            <a:avLst/>
          </a:prstGeom>
          <a:noFill/>
          <a:ln w="9525">
            <a:solidFill>
              <a:srgbClr val="ECEEF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722608" y="1463040"/>
            <a:ext cx="0" cy="4695444"/>
          </a:xfrm>
          <a:prstGeom prst="line">
            <a:avLst/>
          </a:prstGeom>
          <a:noFill/>
          <a:ln w="9525">
            <a:solidFill>
              <a:srgbClr val="ECEEF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" y="1463040"/>
            <a:ext cx="11356848" cy="237744"/>
          </a:xfrm>
          <a:prstGeom prst="rect">
            <a:avLst/>
          </a:prstGeom>
          <a:solidFill>
            <a:srgbClr val="E9ECF5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1463040"/>
            <a:ext cx="11173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1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MAPEAMENTO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11480" y="1700784"/>
            <a:ext cx="40690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78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do mapeamento do processo (as-is)</a:t>
            </a:r>
            <a:endParaRPr lang="en-US" sz="780" dirty="0"/>
          </a:p>
        </p:txBody>
      </p:sp>
      <p:sp>
        <p:nvSpPr>
          <p:cNvPr id="37" name="Shape 35"/>
          <p:cNvSpPr/>
          <p:nvPr/>
        </p:nvSpPr>
        <p:spPr>
          <a:xfrm>
            <a:off x="365760" y="1988820"/>
            <a:ext cx="11356848" cy="0"/>
          </a:xfrm>
          <a:prstGeom prst="line">
            <a:avLst/>
          </a:prstGeom>
          <a:noFill/>
          <a:ln w="9525">
            <a:solidFill>
              <a:srgbClr val="EDEFF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08576" y="1755648"/>
            <a:ext cx="1118616" cy="178308"/>
          </a:xfrm>
          <a:prstGeom prst="roundRect">
            <a:avLst>
              <a:gd name="adj" fmla="val 15385"/>
            </a:avLst>
          </a:prstGeom>
          <a:solidFill>
            <a:srgbClr val="1F3D7A"/>
          </a:solidFill>
          <a:ln/>
        </p:spPr>
      </p:sp>
      <p:sp>
        <p:nvSpPr>
          <p:cNvPr id="39" name="Text 37"/>
          <p:cNvSpPr/>
          <p:nvPr/>
        </p:nvSpPr>
        <p:spPr>
          <a:xfrm>
            <a:off x="411480" y="1988820"/>
            <a:ext cx="40690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78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do processo To-Be</a:t>
            </a:r>
            <a:endParaRPr lang="en-US" sz="780" dirty="0"/>
          </a:p>
        </p:txBody>
      </p:sp>
      <p:sp>
        <p:nvSpPr>
          <p:cNvPr id="40" name="Shape 38"/>
          <p:cNvSpPr/>
          <p:nvPr/>
        </p:nvSpPr>
        <p:spPr>
          <a:xfrm>
            <a:off x="365760" y="2276856"/>
            <a:ext cx="11356848" cy="0"/>
          </a:xfrm>
          <a:prstGeom prst="line">
            <a:avLst/>
          </a:prstGeom>
          <a:noFill/>
          <a:ln w="9525">
            <a:solidFill>
              <a:srgbClr val="EDEFF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204460" y="2043684"/>
            <a:ext cx="1118616" cy="178308"/>
          </a:xfrm>
          <a:prstGeom prst="roundRect">
            <a:avLst>
              <a:gd name="adj" fmla="val 15385"/>
            </a:avLst>
          </a:prstGeom>
          <a:solidFill>
            <a:srgbClr val="1F3D7A"/>
          </a:solidFill>
          <a:ln/>
        </p:spPr>
      </p:sp>
      <p:sp>
        <p:nvSpPr>
          <p:cNvPr id="42" name="Text 40"/>
          <p:cNvSpPr/>
          <p:nvPr/>
        </p:nvSpPr>
        <p:spPr>
          <a:xfrm>
            <a:off x="411480" y="2276856"/>
            <a:ext cx="40690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78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do mapeamento com as áreas</a:t>
            </a:r>
            <a:endParaRPr lang="en-US" sz="780" dirty="0"/>
          </a:p>
        </p:txBody>
      </p:sp>
      <p:sp>
        <p:nvSpPr>
          <p:cNvPr id="43" name="Shape 41"/>
          <p:cNvSpPr/>
          <p:nvPr/>
        </p:nvSpPr>
        <p:spPr>
          <a:xfrm>
            <a:off x="365760" y="2564892"/>
            <a:ext cx="11356848" cy="0"/>
          </a:xfrm>
          <a:prstGeom prst="line">
            <a:avLst/>
          </a:prstGeom>
          <a:noFill/>
          <a:ln w="9525">
            <a:solidFill>
              <a:srgbClr val="EDEFF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763768" y="2276856"/>
            <a:ext cx="59588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9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65760" y="2564892"/>
            <a:ext cx="11356848" cy="237744"/>
          </a:xfrm>
          <a:prstGeom prst="rect">
            <a:avLst/>
          </a:prstGeom>
          <a:solidFill>
            <a:srgbClr val="E9ECF5"/>
          </a:solidFill>
          <a:ln/>
        </p:spPr>
      </p:sp>
      <p:sp>
        <p:nvSpPr>
          <p:cNvPr id="46" name="Text 44"/>
          <p:cNvSpPr/>
          <p:nvPr/>
        </p:nvSpPr>
        <p:spPr>
          <a:xfrm>
            <a:off x="457200" y="2564892"/>
            <a:ext cx="11173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1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CONEXÃO &amp; DADOS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11480" y="2802636"/>
            <a:ext cx="40690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78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conectividade das fontes (Salesforce, Metranet, SAP)</a:t>
            </a:r>
            <a:endParaRPr lang="en-US" sz="780" dirty="0"/>
          </a:p>
        </p:txBody>
      </p:sp>
      <p:sp>
        <p:nvSpPr>
          <p:cNvPr id="48" name="Shape 46"/>
          <p:cNvSpPr/>
          <p:nvPr/>
        </p:nvSpPr>
        <p:spPr>
          <a:xfrm>
            <a:off x="365760" y="3090672"/>
            <a:ext cx="11356848" cy="0"/>
          </a:xfrm>
          <a:prstGeom prst="line">
            <a:avLst/>
          </a:prstGeom>
          <a:noFill/>
          <a:ln w="9525">
            <a:solidFill>
              <a:srgbClr val="EDEFF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608576" y="2857500"/>
            <a:ext cx="1118616" cy="178308"/>
          </a:xfrm>
          <a:prstGeom prst="roundRect">
            <a:avLst>
              <a:gd name="adj" fmla="val 15385"/>
            </a:avLst>
          </a:prstGeom>
          <a:solidFill>
            <a:srgbClr val="1F3D7A"/>
          </a:solidFill>
          <a:ln/>
        </p:spPr>
      </p:sp>
      <p:sp>
        <p:nvSpPr>
          <p:cNvPr id="50" name="Text 48"/>
          <p:cNvSpPr/>
          <p:nvPr/>
        </p:nvSpPr>
        <p:spPr>
          <a:xfrm>
            <a:off x="411480" y="3090672"/>
            <a:ext cx="40690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78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Criação da conexão Celonis × Salesforce</a:t>
            </a:r>
            <a:endParaRPr lang="en-US" sz="780" dirty="0"/>
          </a:p>
        </p:txBody>
      </p:sp>
      <p:sp>
        <p:nvSpPr>
          <p:cNvPr id="51" name="Shape 49"/>
          <p:cNvSpPr/>
          <p:nvPr/>
        </p:nvSpPr>
        <p:spPr>
          <a:xfrm>
            <a:off x="365760" y="3378708"/>
            <a:ext cx="11356848" cy="0"/>
          </a:xfrm>
          <a:prstGeom prst="line">
            <a:avLst/>
          </a:prstGeom>
          <a:noFill/>
          <a:ln w="9525">
            <a:solidFill>
              <a:srgbClr val="EDEFF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204460" y="3145536"/>
            <a:ext cx="1714500" cy="178308"/>
          </a:xfrm>
          <a:prstGeom prst="roundRect">
            <a:avLst>
              <a:gd name="adj" fmla="val 15385"/>
            </a:avLst>
          </a:prstGeom>
          <a:solidFill>
            <a:srgbClr val="1F3D7A"/>
          </a:solidFill>
          <a:ln/>
        </p:spPr>
      </p:sp>
      <p:sp>
        <p:nvSpPr>
          <p:cNvPr id="53" name="Text 51"/>
          <p:cNvSpPr/>
          <p:nvPr/>
        </p:nvSpPr>
        <p:spPr>
          <a:xfrm>
            <a:off x="411480" y="3378708"/>
            <a:ext cx="40690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78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Configuração dos data pools e ingestão</a:t>
            </a:r>
            <a:endParaRPr lang="en-US" sz="780" dirty="0"/>
          </a:p>
        </p:txBody>
      </p:sp>
      <p:sp>
        <p:nvSpPr>
          <p:cNvPr id="54" name="Shape 52"/>
          <p:cNvSpPr/>
          <p:nvPr/>
        </p:nvSpPr>
        <p:spPr>
          <a:xfrm>
            <a:off x="365760" y="3666744"/>
            <a:ext cx="11356848" cy="0"/>
          </a:xfrm>
          <a:prstGeom prst="line">
            <a:avLst/>
          </a:prstGeom>
          <a:noFill/>
          <a:ln w="9525">
            <a:solidFill>
              <a:srgbClr val="EDEFF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800344" y="3433572"/>
            <a:ext cx="1714500" cy="178308"/>
          </a:xfrm>
          <a:prstGeom prst="roundRect">
            <a:avLst>
              <a:gd name="adj" fmla="val 15385"/>
            </a:avLst>
          </a:prstGeom>
          <a:solidFill>
            <a:srgbClr val="1F3D7A"/>
          </a:solidFill>
          <a:ln/>
        </p:spPr>
      </p:sp>
      <p:sp>
        <p:nvSpPr>
          <p:cNvPr id="56" name="Shape 54"/>
          <p:cNvSpPr/>
          <p:nvPr/>
        </p:nvSpPr>
        <p:spPr>
          <a:xfrm>
            <a:off x="365760" y="3666744"/>
            <a:ext cx="11356848" cy="237744"/>
          </a:xfrm>
          <a:prstGeom prst="rect">
            <a:avLst/>
          </a:prstGeom>
          <a:solidFill>
            <a:srgbClr val="E9ECF5"/>
          </a:solidFill>
          <a:ln/>
        </p:spPr>
      </p:sp>
      <p:sp>
        <p:nvSpPr>
          <p:cNvPr id="57" name="Text 55"/>
          <p:cNvSpPr/>
          <p:nvPr/>
        </p:nvSpPr>
        <p:spPr>
          <a:xfrm>
            <a:off x="457200" y="3666744"/>
            <a:ext cx="11173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1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&amp; RECONCILIAÇÃO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11480" y="3904488"/>
            <a:ext cx="40690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78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Extensão do modelo OCPM (objetos e eventos)</a:t>
            </a:r>
            <a:endParaRPr lang="en-US" sz="780" dirty="0"/>
          </a:p>
        </p:txBody>
      </p:sp>
      <p:sp>
        <p:nvSpPr>
          <p:cNvPr id="59" name="Shape 57"/>
          <p:cNvSpPr/>
          <p:nvPr/>
        </p:nvSpPr>
        <p:spPr>
          <a:xfrm>
            <a:off x="365760" y="4192524"/>
            <a:ext cx="11356848" cy="0"/>
          </a:xfrm>
          <a:prstGeom prst="line">
            <a:avLst/>
          </a:prstGeom>
          <a:noFill/>
          <a:ln w="9525">
            <a:solidFill>
              <a:srgbClr val="EDEFF4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396228" y="3959352"/>
            <a:ext cx="1714500" cy="178308"/>
          </a:xfrm>
          <a:prstGeom prst="roundRect">
            <a:avLst>
              <a:gd name="adj" fmla="val 15385"/>
            </a:avLst>
          </a:prstGeom>
          <a:solidFill>
            <a:srgbClr val="1F3D7A"/>
          </a:solidFill>
          <a:ln/>
        </p:spPr>
      </p:sp>
      <p:sp>
        <p:nvSpPr>
          <p:cNvPr id="61" name="Text 59"/>
          <p:cNvSpPr/>
          <p:nvPr/>
        </p:nvSpPr>
        <p:spPr>
          <a:xfrm>
            <a:off x="411480" y="4192524"/>
            <a:ext cx="40690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78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Reconciliação Metranet × SAP (SalesOrder / item)</a:t>
            </a:r>
            <a:endParaRPr lang="en-US" sz="780" dirty="0"/>
          </a:p>
        </p:txBody>
      </p:sp>
      <p:sp>
        <p:nvSpPr>
          <p:cNvPr id="62" name="Shape 60"/>
          <p:cNvSpPr/>
          <p:nvPr/>
        </p:nvSpPr>
        <p:spPr>
          <a:xfrm>
            <a:off x="365760" y="4480560"/>
            <a:ext cx="11356848" cy="0"/>
          </a:xfrm>
          <a:prstGeom prst="line">
            <a:avLst/>
          </a:prstGeom>
          <a:noFill/>
          <a:ln w="9525">
            <a:solidFill>
              <a:srgbClr val="EDEFF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587996" y="4247388"/>
            <a:ext cx="1714500" cy="178308"/>
          </a:xfrm>
          <a:prstGeom prst="roundRect">
            <a:avLst>
              <a:gd name="adj" fmla="val 15385"/>
            </a:avLst>
          </a:prstGeom>
          <a:solidFill>
            <a:srgbClr val="1F3D7A"/>
          </a:solidFill>
          <a:ln/>
        </p:spPr>
      </p:sp>
      <p:sp>
        <p:nvSpPr>
          <p:cNvPr id="64" name="Text 62"/>
          <p:cNvSpPr/>
          <p:nvPr/>
        </p:nvSpPr>
        <p:spPr>
          <a:xfrm>
            <a:off x="8743188" y="4192524"/>
            <a:ext cx="59588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9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411480" y="4480560"/>
            <a:ext cx="40690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78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Tratamento de estorno e casos de exceção</a:t>
            </a:r>
            <a:endParaRPr lang="en-US" sz="780" dirty="0"/>
          </a:p>
        </p:txBody>
      </p:sp>
      <p:sp>
        <p:nvSpPr>
          <p:cNvPr id="66" name="Shape 64"/>
          <p:cNvSpPr/>
          <p:nvPr/>
        </p:nvSpPr>
        <p:spPr>
          <a:xfrm>
            <a:off x="365760" y="4768596"/>
            <a:ext cx="11356848" cy="0"/>
          </a:xfrm>
          <a:prstGeom prst="line">
            <a:avLst/>
          </a:prstGeom>
          <a:noFill/>
          <a:ln w="9525">
            <a:solidFill>
              <a:srgbClr val="EDEFF4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183880" y="4535424"/>
            <a:ext cx="1714500" cy="178308"/>
          </a:xfrm>
          <a:prstGeom prst="roundRect">
            <a:avLst>
              <a:gd name="adj" fmla="val 15385"/>
            </a:avLst>
          </a:prstGeom>
          <a:solidFill>
            <a:srgbClr val="1F3D7A"/>
          </a:solidFill>
          <a:ln/>
        </p:spPr>
      </p:sp>
      <p:sp>
        <p:nvSpPr>
          <p:cNvPr id="68" name="Shape 66"/>
          <p:cNvSpPr/>
          <p:nvPr/>
        </p:nvSpPr>
        <p:spPr>
          <a:xfrm>
            <a:off x="365760" y="4768596"/>
            <a:ext cx="11356848" cy="237744"/>
          </a:xfrm>
          <a:prstGeom prst="rect">
            <a:avLst/>
          </a:prstGeom>
          <a:solidFill>
            <a:srgbClr val="E9ECF5"/>
          </a:solidFill>
          <a:ln/>
        </p:spPr>
      </p:sp>
      <p:sp>
        <p:nvSpPr>
          <p:cNvPr id="69" name="Text 67"/>
          <p:cNvSpPr/>
          <p:nvPr/>
        </p:nvSpPr>
        <p:spPr>
          <a:xfrm>
            <a:off x="457200" y="4768596"/>
            <a:ext cx="11173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1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ENTREGAS &amp; VALIDAÇÃO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411480" y="5006340"/>
            <a:ext cx="40690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78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Detalhamento da fatura por cliente</a:t>
            </a:r>
            <a:endParaRPr lang="en-US" sz="780" dirty="0"/>
          </a:p>
        </p:txBody>
      </p:sp>
      <p:sp>
        <p:nvSpPr>
          <p:cNvPr id="71" name="Shape 69"/>
          <p:cNvSpPr/>
          <p:nvPr/>
        </p:nvSpPr>
        <p:spPr>
          <a:xfrm>
            <a:off x="365760" y="5294376"/>
            <a:ext cx="11356848" cy="0"/>
          </a:xfrm>
          <a:prstGeom prst="line">
            <a:avLst/>
          </a:prstGeom>
          <a:noFill/>
          <a:ln w="9525">
            <a:solidFill>
              <a:srgbClr val="EDEFF4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779764" y="5061204"/>
            <a:ext cx="1714500" cy="178308"/>
          </a:xfrm>
          <a:prstGeom prst="roundRect">
            <a:avLst>
              <a:gd name="adj" fmla="val 15385"/>
            </a:avLst>
          </a:prstGeom>
          <a:solidFill>
            <a:srgbClr val="1F3D7A"/>
          </a:solidFill>
          <a:ln/>
        </p:spPr>
      </p:sp>
      <p:sp>
        <p:nvSpPr>
          <p:cNvPr id="73" name="Text 71"/>
          <p:cNvSpPr/>
          <p:nvPr/>
        </p:nvSpPr>
        <p:spPr>
          <a:xfrm>
            <a:off x="9934956" y="5006340"/>
            <a:ext cx="59588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9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411480" y="5294376"/>
            <a:ext cx="40690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78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de erros e indicadores</a:t>
            </a:r>
            <a:endParaRPr lang="en-US" sz="780" dirty="0"/>
          </a:p>
        </p:txBody>
      </p:sp>
      <p:sp>
        <p:nvSpPr>
          <p:cNvPr id="75" name="Shape 73"/>
          <p:cNvSpPr/>
          <p:nvPr/>
        </p:nvSpPr>
        <p:spPr>
          <a:xfrm>
            <a:off x="365760" y="5582412"/>
            <a:ext cx="11356848" cy="0"/>
          </a:xfrm>
          <a:prstGeom prst="line">
            <a:avLst/>
          </a:prstGeom>
          <a:noFill/>
          <a:ln w="9525">
            <a:solidFill>
              <a:srgbClr val="EDEFF4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375648" y="5349240"/>
            <a:ext cx="1714500" cy="178308"/>
          </a:xfrm>
          <a:prstGeom prst="roundRect">
            <a:avLst>
              <a:gd name="adj" fmla="val 15385"/>
            </a:avLst>
          </a:prstGeom>
          <a:solidFill>
            <a:srgbClr val="1F3D7A"/>
          </a:solidFill>
          <a:ln/>
        </p:spPr>
      </p:sp>
      <p:sp>
        <p:nvSpPr>
          <p:cNvPr id="77" name="Text 75"/>
          <p:cNvSpPr/>
          <p:nvPr/>
        </p:nvSpPr>
        <p:spPr>
          <a:xfrm>
            <a:off x="411480" y="5582412"/>
            <a:ext cx="40690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78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aos VPs (5/out)</a:t>
            </a:r>
            <a:endParaRPr lang="en-US" sz="780" dirty="0"/>
          </a:p>
        </p:txBody>
      </p:sp>
      <p:sp>
        <p:nvSpPr>
          <p:cNvPr id="78" name="Shape 76"/>
          <p:cNvSpPr/>
          <p:nvPr/>
        </p:nvSpPr>
        <p:spPr>
          <a:xfrm>
            <a:off x="365760" y="5870448"/>
            <a:ext cx="11356848" cy="0"/>
          </a:xfrm>
          <a:prstGeom prst="line">
            <a:avLst/>
          </a:prstGeom>
          <a:noFill/>
          <a:ln w="9525">
            <a:solidFill>
              <a:srgbClr val="EDEFF4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147304" y="5582412"/>
            <a:ext cx="59588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99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411480" y="5870448"/>
            <a:ext cx="40690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78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Ajustes finais e homologação</a:t>
            </a:r>
            <a:endParaRPr lang="en-US" sz="780" dirty="0"/>
          </a:p>
        </p:txBody>
      </p:sp>
      <p:sp>
        <p:nvSpPr>
          <p:cNvPr id="81" name="Shape 79"/>
          <p:cNvSpPr/>
          <p:nvPr/>
        </p:nvSpPr>
        <p:spPr>
          <a:xfrm>
            <a:off x="365760" y="6158484"/>
            <a:ext cx="11356848" cy="0"/>
          </a:xfrm>
          <a:prstGeom prst="line">
            <a:avLst/>
          </a:prstGeom>
          <a:noFill/>
          <a:ln w="9525">
            <a:solidFill>
              <a:srgbClr val="EDEFF4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0567416" y="5925312"/>
            <a:ext cx="1118616" cy="178308"/>
          </a:xfrm>
          <a:prstGeom prst="roundRect">
            <a:avLst>
              <a:gd name="adj" fmla="val 15385"/>
            </a:avLst>
          </a:prstGeom>
          <a:solidFill>
            <a:srgbClr val="1F3D7A"/>
          </a:solidFill>
          <a:ln/>
        </p:spPr>
      </p:sp>
      <p:sp>
        <p:nvSpPr>
          <p:cNvPr id="83" name="Shape 81"/>
          <p:cNvSpPr/>
          <p:nvPr/>
        </p:nvSpPr>
        <p:spPr>
          <a:xfrm>
            <a:off x="365760" y="1170432"/>
            <a:ext cx="11356848" cy="4988052"/>
          </a:xfrm>
          <a:prstGeom prst="rect">
            <a:avLst/>
          </a:prstGeom>
          <a:ln w="9525">
            <a:solidFill>
              <a:srgbClr val="D3DAE8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65760" y="6304788"/>
            <a:ext cx="365760" cy="146304"/>
          </a:xfrm>
          <a:prstGeom prst="rect">
            <a:avLst/>
          </a:prstGeom>
          <a:solidFill>
            <a:srgbClr val="1F3D7A"/>
          </a:solidFill>
          <a:ln/>
        </p:spPr>
      </p:sp>
      <p:sp>
        <p:nvSpPr>
          <p:cNvPr id="85" name="Text 83"/>
          <p:cNvSpPr/>
          <p:nvPr/>
        </p:nvSpPr>
        <p:spPr>
          <a:xfrm>
            <a:off x="822960" y="62407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Planejado</a:t>
            </a:r>
            <a:endParaRPr lang="en-US" sz="950" dirty="0"/>
          </a:p>
        </p:txBody>
      </p:sp>
      <p:sp>
        <p:nvSpPr>
          <p:cNvPr id="86" name="Text 84"/>
          <p:cNvSpPr/>
          <p:nvPr/>
        </p:nvSpPr>
        <p:spPr>
          <a:xfrm>
            <a:off x="1920240" y="62407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9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pPr indent="0" marL="0">
              <a:buNone/>
            </a:pPr>
            <a:r>
              <a:rPr lang="en-US" sz="9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com time B3</a:t>
            </a:r>
            <a:endParaRPr lang="en-US" sz="950" dirty="0"/>
          </a:p>
        </p:txBody>
      </p:sp>
      <p:sp>
        <p:nvSpPr>
          <p:cNvPr id="87" name="Text 85"/>
          <p:cNvSpPr/>
          <p:nvPr/>
        </p:nvSpPr>
        <p:spPr>
          <a:xfrm>
            <a:off x="4206240" y="62407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99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pPr indent="0" marL="0">
              <a:buNone/>
            </a:pPr>
            <a:r>
              <a:rPr lang="en-US" sz="9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aos VPs (5/out)</a:t>
            </a:r>
            <a:endParaRPr lang="en-US" sz="950" dirty="0"/>
          </a:p>
        </p:txBody>
      </p:sp>
      <p:sp>
        <p:nvSpPr>
          <p:cNvPr id="88" name="Text 86"/>
          <p:cNvSpPr/>
          <p:nvPr/>
        </p:nvSpPr>
        <p:spPr>
          <a:xfrm>
            <a:off x="7040880" y="62407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relativas (S1 = início da Onda 1). Sequência proposta — nada concluído; datas a validar.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2026-08-21T17:55:06Z</dcterms:created>
  <dcterms:modified xsi:type="dcterms:W3CDTF">2026-08-21T17:55:06Z</dcterms:modified>
</cp:coreProperties>
</file>