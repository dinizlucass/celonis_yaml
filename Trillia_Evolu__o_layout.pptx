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00100"/>
          </a:xfrm>
          <a:prstGeom prst="rect">
            <a:avLst/>
          </a:prstGeom>
          <a:solidFill>
            <a:srgbClr val="0A3A8C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123825"/>
            <a:ext cx="6521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[B]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214140" y="152400"/>
            <a:ext cx="20404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71"/>
              </a:lnSpc>
              <a:buNone/>
            </a:pPr>
            <a:r>
              <a:rPr lang="en-US" sz="195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684883" y="185738"/>
            <a:ext cx="317566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Trillia – Evolução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09600" y="971550"/>
            <a:ext cx="176174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do fluxo de faturamento: Salesforce › Metranet Trillia › SAP, com Datawise+ como 1º caso.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09600" y="1447800"/>
            <a:ext cx="5537150" cy="523875"/>
          </a:xfrm>
          <a:custGeom>
            <a:avLst/>
            <a:gdLst/>
            <a:ahLst/>
            <a:cxnLst/>
            <a:rect l="l" t="t" r="r" b="b"/>
            <a:pathLst>
              <a:path w="5537150" h="523875">
                <a:moveTo>
                  <a:pt x="95250" y="0"/>
                </a:moveTo>
                <a:lnTo>
                  <a:pt x="5441900" y="0"/>
                </a:lnTo>
                <a:arcTo hR="95250" wR="95250" stAng="16200000" swAng="5400000"/>
                <a:lnTo>
                  <a:pt x="5537150" y="523875"/>
                </a:lnTo>
                <a:lnTo>
                  <a:pt x="0" y="523875"/>
                </a:lnTo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solidFill>
            <a:srgbClr val="E07A1A"/>
          </a:solidFill>
          <a:ln/>
        </p:spPr>
      </p:sp>
      <p:sp>
        <p:nvSpPr>
          <p:cNvPr id="8" name="Text 6"/>
          <p:cNvSpPr/>
          <p:nvPr/>
        </p:nvSpPr>
        <p:spPr>
          <a:xfrm>
            <a:off x="838200" y="1562100"/>
            <a:ext cx="5246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09600" y="1971675"/>
            <a:ext cx="5537150" cy="6809631"/>
          </a:xfrm>
          <a:custGeom>
            <a:avLst/>
            <a:gdLst/>
            <a:ahLst/>
            <a:cxnLst/>
            <a:rect l="l" t="t" r="r" b="b"/>
            <a:pathLst>
              <a:path w="5537150" h="6809631">
                <a:moveTo>
                  <a:pt x="0" y="0"/>
                </a:moveTo>
                <a:lnTo>
                  <a:pt x="5537150" y="0"/>
                </a:lnTo>
                <a:lnTo>
                  <a:pt x="5537150" y="6714381"/>
                </a:lnTo>
                <a:arcTo hR="95250" wR="95250" stAng="0" swAng="5400000"/>
                <a:lnTo>
                  <a:pt x="95250" y="6809631"/>
                </a:lnTo>
                <a:arcTo hR="95250" wR="95250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9600" y="8771781"/>
            <a:ext cx="5537150" cy="9525"/>
          </a:xfrm>
          <a:prstGeom prst="rect">
            <a:avLst/>
          </a:prstGeom>
          <a:solidFill>
            <a:srgbClr val="DCE2EC"/>
          </a:solidFill>
          <a:ln/>
        </p:spPr>
      </p:sp>
      <p:sp>
        <p:nvSpPr>
          <p:cNvPr id="11" name="Shape 9"/>
          <p:cNvSpPr/>
          <p:nvPr/>
        </p:nvSpPr>
        <p:spPr>
          <a:xfrm>
            <a:off x="609600" y="1971675"/>
            <a:ext cx="9525" cy="6809631"/>
          </a:xfrm>
          <a:prstGeom prst="rect">
            <a:avLst/>
          </a:prstGeom>
          <a:solidFill>
            <a:srgbClr val="DCE2EC"/>
          </a:solidFill>
          <a:ln/>
        </p:spPr>
      </p:sp>
      <p:sp>
        <p:nvSpPr>
          <p:cNvPr id="12" name="Shape 10"/>
          <p:cNvSpPr/>
          <p:nvPr/>
        </p:nvSpPr>
        <p:spPr>
          <a:xfrm>
            <a:off x="6137225" y="1971675"/>
            <a:ext cx="9525" cy="6809631"/>
          </a:xfrm>
          <a:prstGeom prst="rect">
            <a:avLst/>
          </a:prstGeom>
          <a:solidFill>
            <a:srgbClr val="DCE2EC"/>
          </a:solidFill>
          <a:ln/>
        </p:spPr>
      </p:sp>
      <p:sp>
        <p:nvSpPr>
          <p:cNvPr id="13" name="Shape 11"/>
          <p:cNvSpPr/>
          <p:nvPr/>
        </p:nvSpPr>
        <p:spPr>
          <a:xfrm>
            <a:off x="847725" y="2162175"/>
            <a:ext cx="285750" cy="285750"/>
          </a:xfrm>
          <a:prstGeom prst="ellipse">
            <a:avLst/>
          </a:prstGeom>
          <a:solidFill>
            <a:srgbClr val="E07A1A"/>
          </a:solidFill>
          <a:ln/>
        </p:spPr>
      </p:sp>
      <p:sp>
        <p:nvSpPr>
          <p:cNvPr id="14" name="Text 12"/>
          <p:cNvSpPr/>
          <p:nvPr/>
        </p:nvSpPr>
        <p:spPr>
          <a:xfrm>
            <a:off x="809625" y="216217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266825" y="2162175"/>
            <a:ext cx="5105980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08"/>
              </a:lnSpc>
              <a:buNone/>
            </a:pPr>
            <a:r>
              <a:rPr lang="en-US" sz="16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Esteiras de faturamento fragmentadas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266825" y="2441228"/>
            <a:ext cx="478105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1500" dirty="0">
                <a:solidFill>
                  <a:srgbClr val="4A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Diferentes por produto, com visibilidade parcial da jornada ponta a ponta.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47725" y="2993678"/>
            <a:ext cx="285750" cy="285750"/>
          </a:xfrm>
          <a:prstGeom prst="ellipse">
            <a:avLst/>
          </a:prstGeom>
          <a:solidFill>
            <a:srgbClr val="E07A1A"/>
          </a:solidFill>
          <a:ln/>
        </p:spPr>
      </p:sp>
      <p:sp>
        <p:nvSpPr>
          <p:cNvPr id="18" name="Text 16"/>
          <p:cNvSpPr/>
          <p:nvPr/>
        </p:nvSpPr>
        <p:spPr>
          <a:xfrm>
            <a:off x="809625" y="299367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266825" y="2993678"/>
            <a:ext cx="5105980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08"/>
              </a:lnSpc>
              <a:buNone/>
            </a:pPr>
            <a:r>
              <a:rPr lang="en-US" sz="16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Divergências e ausência de faturamento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266825" y="3272730"/>
            <a:ext cx="478105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1500" dirty="0">
                <a:solidFill>
                  <a:srgbClr val="4A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Boletos cancelados; faturamento, arquivos e conferências ainda manuais.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47725" y="3825180"/>
            <a:ext cx="285750" cy="285750"/>
          </a:xfrm>
          <a:prstGeom prst="ellipse">
            <a:avLst/>
          </a:prstGeom>
          <a:solidFill>
            <a:srgbClr val="E07A1A"/>
          </a:solidFill>
          <a:ln/>
        </p:spPr>
      </p:sp>
      <p:sp>
        <p:nvSpPr>
          <p:cNvPr id="22" name="Text 20"/>
          <p:cNvSpPr/>
          <p:nvPr/>
        </p:nvSpPr>
        <p:spPr>
          <a:xfrm>
            <a:off x="809625" y="3825180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266825" y="3825180"/>
            <a:ext cx="4536266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08"/>
              </a:lnSpc>
              <a:buNone/>
            </a:pPr>
            <a:r>
              <a:rPr lang="en-US" sz="16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Papéis e responsabilidades pouco explícitos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266825" y="4104233"/>
            <a:ext cx="453626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1500" dirty="0">
                <a:solidFill>
                  <a:srgbClr val="4A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priorização.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47725" y="4418558"/>
            <a:ext cx="285750" cy="285750"/>
          </a:xfrm>
          <a:prstGeom prst="ellipse">
            <a:avLst/>
          </a:prstGeom>
          <a:solidFill>
            <a:srgbClr val="E07A1A"/>
          </a:solidFill>
          <a:ln/>
        </p:spPr>
      </p:sp>
      <p:sp>
        <p:nvSpPr>
          <p:cNvPr id="26" name="Text 24"/>
          <p:cNvSpPr/>
          <p:nvPr/>
        </p:nvSpPr>
        <p:spPr>
          <a:xfrm>
            <a:off x="809625" y="441855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1266825" y="4418558"/>
            <a:ext cx="5105980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08"/>
              </a:lnSpc>
              <a:buNone/>
            </a:pPr>
            <a:r>
              <a:rPr lang="en-US" sz="16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customização por contrato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266825" y="4697611"/>
            <a:ext cx="478105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1500" dirty="0">
                <a:solidFill>
                  <a:srgbClr val="4A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Trillia, ex.: Neurotech → regras de faturamento mais complexas.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47725" y="5250061"/>
            <a:ext cx="285750" cy="285750"/>
          </a:xfrm>
          <a:prstGeom prst="ellipse">
            <a:avLst/>
          </a:prstGeom>
          <a:solidFill>
            <a:srgbClr val="E07A1A"/>
          </a:solidFill>
          <a:ln/>
        </p:spPr>
      </p:sp>
      <p:sp>
        <p:nvSpPr>
          <p:cNvPr id="30" name="Text 28"/>
          <p:cNvSpPr/>
          <p:nvPr/>
        </p:nvSpPr>
        <p:spPr>
          <a:xfrm>
            <a:off x="809625" y="5250061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1266825" y="5250061"/>
            <a:ext cx="4843552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08"/>
              </a:lnSpc>
              <a:buNone/>
            </a:pPr>
            <a:r>
              <a:rPr lang="en-US" sz="16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de Capital apartado do fluxo Trillia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6375350" y="1447800"/>
            <a:ext cx="5537150" cy="523875"/>
          </a:xfrm>
          <a:custGeom>
            <a:avLst/>
            <a:gdLst/>
            <a:ahLst/>
            <a:cxnLst/>
            <a:rect l="l" t="t" r="r" b="b"/>
            <a:pathLst>
              <a:path w="5537150" h="523875">
                <a:moveTo>
                  <a:pt x="95250" y="0"/>
                </a:moveTo>
                <a:lnTo>
                  <a:pt x="5441900" y="0"/>
                </a:lnTo>
                <a:arcTo hR="95250" wR="95250" stAng="16200000" swAng="5400000"/>
                <a:lnTo>
                  <a:pt x="5537150" y="523875"/>
                </a:lnTo>
                <a:lnTo>
                  <a:pt x="0" y="523875"/>
                </a:lnTo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solidFill>
            <a:srgbClr val="148A5A"/>
          </a:solidFill>
          <a:ln/>
        </p:spPr>
      </p:sp>
      <p:sp>
        <p:nvSpPr>
          <p:cNvPr id="33" name="Text 31"/>
          <p:cNvSpPr/>
          <p:nvPr/>
        </p:nvSpPr>
        <p:spPr>
          <a:xfrm>
            <a:off x="6603950" y="1562100"/>
            <a:ext cx="5246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ANDAMENTO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6375350" y="1971675"/>
            <a:ext cx="5537150" cy="6809631"/>
          </a:xfrm>
          <a:custGeom>
            <a:avLst/>
            <a:gdLst/>
            <a:ahLst/>
            <a:cxnLst/>
            <a:rect l="l" t="t" r="r" b="b"/>
            <a:pathLst>
              <a:path w="5537150" h="6809631">
                <a:moveTo>
                  <a:pt x="0" y="0"/>
                </a:moveTo>
                <a:lnTo>
                  <a:pt x="5537150" y="0"/>
                </a:lnTo>
                <a:lnTo>
                  <a:pt x="5537150" y="6714381"/>
                </a:lnTo>
                <a:arcTo hR="95250" wR="95250" stAng="0" swAng="5400000"/>
                <a:lnTo>
                  <a:pt x="95250" y="6809631"/>
                </a:lnTo>
                <a:arcTo hR="95250" wR="95250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375350" y="8771781"/>
            <a:ext cx="5537150" cy="9525"/>
          </a:xfrm>
          <a:prstGeom prst="rect">
            <a:avLst/>
          </a:prstGeom>
          <a:solidFill>
            <a:srgbClr val="DCE2EC"/>
          </a:solidFill>
          <a:ln/>
        </p:spPr>
      </p:sp>
      <p:sp>
        <p:nvSpPr>
          <p:cNvPr id="36" name="Shape 34"/>
          <p:cNvSpPr/>
          <p:nvPr/>
        </p:nvSpPr>
        <p:spPr>
          <a:xfrm>
            <a:off x="6375350" y="1971675"/>
            <a:ext cx="9525" cy="6809631"/>
          </a:xfrm>
          <a:prstGeom prst="rect">
            <a:avLst/>
          </a:prstGeom>
          <a:solidFill>
            <a:srgbClr val="DCE2EC"/>
          </a:solidFill>
          <a:ln/>
        </p:spPr>
      </p:sp>
      <p:sp>
        <p:nvSpPr>
          <p:cNvPr id="37" name="Shape 35"/>
          <p:cNvSpPr/>
          <p:nvPr/>
        </p:nvSpPr>
        <p:spPr>
          <a:xfrm>
            <a:off x="11902976" y="1971675"/>
            <a:ext cx="9525" cy="6809631"/>
          </a:xfrm>
          <a:prstGeom prst="rect">
            <a:avLst/>
          </a:prstGeom>
          <a:solidFill>
            <a:srgbClr val="DCE2EC"/>
          </a:solidFill>
          <a:ln/>
        </p:spPr>
      </p:sp>
      <p:sp>
        <p:nvSpPr>
          <p:cNvPr id="38" name="Shape 36"/>
          <p:cNvSpPr/>
          <p:nvPr/>
        </p:nvSpPr>
        <p:spPr>
          <a:xfrm>
            <a:off x="6613475" y="2162175"/>
            <a:ext cx="285750" cy="285750"/>
          </a:xfrm>
          <a:prstGeom prst="ellipse">
            <a:avLst/>
          </a:prstGeom>
          <a:solidFill>
            <a:srgbClr val="148A5A"/>
          </a:solidFill>
          <a:ln/>
        </p:spPr>
      </p:sp>
      <p:sp>
        <p:nvSpPr>
          <p:cNvPr id="39" name="Text 37"/>
          <p:cNvSpPr/>
          <p:nvPr/>
        </p:nvSpPr>
        <p:spPr>
          <a:xfrm>
            <a:off x="6575375" y="216217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5" dirty="0"/>
          </a:p>
        </p:txBody>
      </p:sp>
      <p:sp>
        <p:nvSpPr>
          <p:cNvPr id="40" name="Text 38"/>
          <p:cNvSpPr/>
          <p:nvPr/>
        </p:nvSpPr>
        <p:spPr>
          <a:xfrm>
            <a:off x="7032575" y="2162175"/>
            <a:ext cx="4446062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08"/>
              </a:lnSpc>
              <a:buNone/>
            </a:pPr>
            <a:r>
              <a:rPr lang="en-US" sz="16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do fluxo de faturamento (Advisia)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7032575" y="2441228"/>
            <a:ext cx="444606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1500" dirty="0">
                <a:solidFill>
                  <a:srgbClr val="4A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› Metranet Trillia › SAP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613475" y="2755553"/>
            <a:ext cx="285750" cy="285750"/>
          </a:xfrm>
          <a:prstGeom prst="ellipse">
            <a:avLst/>
          </a:prstGeom>
          <a:solidFill>
            <a:srgbClr val="148A5A"/>
          </a:solidFill>
          <a:ln/>
        </p:spPr>
      </p:sp>
      <p:sp>
        <p:nvSpPr>
          <p:cNvPr id="43" name="Text 41"/>
          <p:cNvSpPr/>
          <p:nvPr/>
        </p:nvSpPr>
        <p:spPr>
          <a:xfrm>
            <a:off x="6575375" y="2755553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5" dirty="0"/>
          </a:p>
        </p:txBody>
      </p:sp>
      <p:sp>
        <p:nvSpPr>
          <p:cNvPr id="44" name="Text 42"/>
          <p:cNvSpPr/>
          <p:nvPr/>
        </p:nvSpPr>
        <p:spPr>
          <a:xfrm>
            <a:off x="7032575" y="2755553"/>
            <a:ext cx="5105980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08"/>
              </a:lnSpc>
              <a:buNone/>
            </a:pPr>
            <a:r>
              <a:rPr lang="en-US" sz="16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Conexão das entregas entre as áreas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7032575" y="3034605"/>
            <a:ext cx="478105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1500" dirty="0">
                <a:solidFill>
                  <a:srgbClr val="4A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Papéis e responsabilidades mapeados, em consolidação.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613475" y="3587055"/>
            <a:ext cx="285750" cy="285750"/>
          </a:xfrm>
          <a:prstGeom prst="ellipse">
            <a:avLst/>
          </a:prstGeom>
          <a:solidFill>
            <a:srgbClr val="148A5A"/>
          </a:solidFill>
          <a:ln/>
        </p:spPr>
      </p:sp>
      <p:sp>
        <p:nvSpPr>
          <p:cNvPr id="47" name="Text 45"/>
          <p:cNvSpPr/>
          <p:nvPr/>
        </p:nvSpPr>
        <p:spPr>
          <a:xfrm>
            <a:off x="6575375" y="358705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5" dirty="0"/>
          </a:p>
        </p:txBody>
      </p:sp>
      <p:sp>
        <p:nvSpPr>
          <p:cNvPr id="48" name="Text 46"/>
          <p:cNvSpPr/>
          <p:nvPr/>
        </p:nvSpPr>
        <p:spPr>
          <a:xfrm>
            <a:off x="7032575" y="3587055"/>
            <a:ext cx="5084043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08"/>
              </a:lnSpc>
              <a:buNone/>
            </a:pPr>
            <a:r>
              <a:rPr lang="en-US" sz="16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Datawise+ como 1º caso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7032575" y="3866108"/>
            <a:ext cx="508404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1500" dirty="0">
                <a:solidFill>
                  <a:srgbClr val="4A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esforço e maior impacto; esteira 100% manual.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7032575" y="4180433"/>
            <a:ext cx="4641800" cy="638175"/>
          </a:xfrm>
          <a:prstGeom prst="roundRect">
            <a:avLst>
              <a:gd name="adj" fmla="val 11940"/>
            </a:avLst>
          </a:prstGeom>
          <a:solidFill>
            <a:srgbClr val="EEF7F2"/>
          </a:solidFill>
          <a:ln/>
        </p:spPr>
      </p:sp>
      <p:sp>
        <p:nvSpPr>
          <p:cNvPr id="51" name="Text 49"/>
          <p:cNvSpPr/>
          <p:nvPr/>
        </p:nvSpPr>
        <p:spPr>
          <a:xfrm>
            <a:off x="7165925" y="4256633"/>
            <a:ext cx="71735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71"/>
              </a:lnSpc>
              <a:buNone/>
            </a:pPr>
            <a:r>
              <a:rPr lang="en-US" sz="1950" b="1" dirty="0">
                <a:solidFill>
                  <a:srgbClr val="14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950" dirty="0"/>
          </a:p>
        </p:txBody>
      </p:sp>
      <p:sp>
        <p:nvSpPr>
          <p:cNvPr id="52" name="Text 50"/>
          <p:cNvSpPr/>
          <p:nvPr/>
        </p:nvSpPr>
        <p:spPr>
          <a:xfrm>
            <a:off x="7165925" y="4523333"/>
            <a:ext cx="7173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A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25" dirty="0"/>
          </a:p>
        </p:txBody>
      </p:sp>
      <p:sp>
        <p:nvSpPr>
          <p:cNvPr id="53" name="Text 51"/>
          <p:cNvSpPr/>
          <p:nvPr/>
        </p:nvSpPr>
        <p:spPr>
          <a:xfrm>
            <a:off x="8073777" y="4256633"/>
            <a:ext cx="13360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71"/>
              </a:lnSpc>
              <a:buNone/>
            </a:pPr>
            <a:r>
              <a:rPr lang="en-US" sz="1950" b="1" dirty="0">
                <a:solidFill>
                  <a:srgbClr val="14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</a:t>
            </a:r>
            <a:endParaRPr lang="en-US" sz="1950" dirty="0"/>
          </a:p>
        </p:txBody>
      </p:sp>
      <p:sp>
        <p:nvSpPr>
          <p:cNvPr id="54" name="Text 52"/>
          <p:cNvSpPr/>
          <p:nvPr/>
        </p:nvSpPr>
        <p:spPr>
          <a:xfrm>
            <a:off x="8073777" y="4523333"/>
            <a:ext cx="133604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A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</a:t>
            </a:r>
            <a:endParaRPr lang="en-US" sz="1425" dirty="0"/>
          </a:p>
        </p:txBody>
      </p:sp>
      <p:sp>
        <p:nvSpPr>
          <p:cNvPr id="55" name="Text 53"/>
          <p:cNvSpPr/>
          <p:nvPr/>
        </p:nvSpPr>
        <p:spPr>
          <a:xfrm>
            <a:off x="9555063" y="4256633"/>
            <a:ext cx="12528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71"/>
              </a:lnSpc>
              <a:buNone/>
            </a:pPr>
            <a:r>
              <a:rPr lang="en-US" sz="1950" b="1" dirty="0">
                <a:solidFill>
                  <a:srgbClr val="14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R$ 10,2M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9555063" y="4523333"/>
            <a:ext cx="125283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A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faturado (YTD)</a:t>
            </a:r>
            <a:endParaRPr lang="en-US" sz="1425" dirty="0"/>
          </a:p>
        </p:txBody>
      </p:sp>
      <p:sp>
        <p:nvSpPr>
          <p:cNvPr id="57" name="Shape 55"/>
          <p:cNvSpPr/>
          <p:nvPr/>
        </p:nvSpPr>
        <p:spPr>
          <a:xfrm>
            <a:off x="6613475" y="4894808"/>
            <a:ext cx="5060900" cy="9525"/>
          </a:xfrm>
          <a:prstGeom prst="rect">
            <a:avLst/>
          </a:prstGeom>
          <a:solidFill>
            <a:srgbClr val="E3E8EF"/>
          </a:solidFill>
          <a:ln/>
        </p:spPr>
      </p:sp>
      <p:sp>
        <p:nvSpPr>
          <p:cNvPr id="58" name="Text 56"/>
          <p:cNvSpPr/>
          <p:nvPr/>
        </p:nvSpPr>
        <p:spPr>
          <a:xfrm>
            <a:off x="6613475" y="4999583"/>
            <a:ext cx="55669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" kern="0" dirty="0">
                <a:solidFill>
                  <a:srgbClr val="14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</a:t>
            </a:r>
            <a:endParaRPr lang="en-US" sz="1650" dirty="0"/>
          </a:p>
        </p:txBody>
      </p:sp>
      <p:sp>
        <p:nvSpPr>
          <p:cNvPr id="59" name="Text 57"/>
          <p:cNvSpPr/>
          <p:nvPr/>
        </p:nvSpPr>
        <p:spPr>
          <a:xfrm>
            <a:off x="6613475" y="5294858"/>
            <a:ext cx="277564" cy="258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364"/>
              </a:lnSpc>
              <a:buNone/>
            </a:pPr>
            <a:r>
              <a:rPr lang="en-US" sz="1425" b="1" dirty="0">
                <a:solidFill>
                  <a:srgbClr val="14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60" name="Text 58"/>
          <p:cNvSpPr/>
          <p:nvPr/>
        </p:nvSpPr>
        <p:spPr>
          <a:xfrm>
            <a:off x="6910090" y="5294858"/>
            <a:ext cx="3037165" cy="258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364"/>
              </a:lnSpc>
              <a:buNone/>
            </a:pPr>
            <a:r>
              <a:rPr lang="en-US" sz="1425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do novo Metranet – Trillia</a:t>
            </a:r>
            <a:endParaRPr lang="en-US" sz="1425" dirty="0"/>
          </a:p>
        </p:txBody>
      </p:sp>
      <p:sp>
        <p:nvSpPr>
          <p:cNvPr id="61" name="Text 59"/>
          <p:cNvSpPr/>
          <p:nvPr/>
        </p:nvSpPr>
        <p:spPr>
          <a:xfrm>
            <a:off x="6613475" y="5563195"/>
            <a:ext cx="277564" cy="479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364"/>
              </a:lnSpc>
              <a:buNone/>
            </a:pPr>
            <a:r>
              <a:rPr lang="en-US" sz="1425" b="1" dirty="0">
                <a:solidFill>
                  <a:srgbClr val="14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62" name="Text 60"/>
          <p:cNvSpPr/>
          <p:nvPr/>
        </p:nvSpPr>
        <p:spPr>
          <a:xfrm>
            <a:off x="6910090" y="5563195"/>
            <a:ext cx="4907215" cy="479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364"/>
              </a:lnSpc>
              <a:buNone/>
            </a:pPr>
            <a:r>
              <a:rPr lang="en-US" sz="1425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da integração Salesforce › Metranet › SAP para produtos Capital</a:t>
            </a:r>
            <a:endParaRPr lang="en-US" sz="1425" dirty="0"/>
          </a:p>
        </p:txBody>
      </p:sp>
      <p:sp>
        <p:nvSpPr>
          <p:cNvPr id="63" name="Text 61"/>
          <p:cNvSpPr/>
          <p:nvPr/>
        </p:nvSpPr>
        <p:spPr>
          <a:xfrm>
            <a:off x="6613475" y="6052245"/>
            <a:ext cx="277564" cy="479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364"/>
              </a:lnSpc>
              <a:buNone/>
            </a:pPr>
            <a:r>
              <a:rPr lang="en-US" sz="1425" b="1" dirty="0">
                <a:solidFill>
                  <a:srgbClr val="14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64" name="Text 62"/>
          <p:cNvSpPr/>
          <p:nvPr/>
        </p:nvSpPr>
        <p:spPr>
          <a:xfrm>
            <a:off x="6910090" y="6052245"/>
            <a:ext cx="4907215" cy="479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364"/>
              </a:lnSpc>
              <a:buNone/>
            </a:pPr>
            <a:r>
              <a:rPr lang="en-US" sz="1425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Força-tarefa de revisão de oportunidades Salesforce (NW e NT): ~210 Ops*</a:t>
            </a:r>
            <a:endParaRPr lang="en-US" sz="1425" dirty="0"/>
          </a:p>
        </p:txBody>
      </p:sp>
      <p:sp>
        <p:nvSpPr>
          <p:cNvPr id="65" name="Text 63"/>
          <p:cNvSpPr/>
          <p:nvPr/>
        </p:nvSpPr>
        <p:spPr>
          <a:xfrm>
            <a:off x="6613475" y="6541294"/>
            <a:ext cx="277564" cy="258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364"/>
              </a:lnSpc>
              <a:buNone/>
            </a:pPr>
            <a:r>
              <a:rPr lang="en-US" sz="1425" b="1" dirty="0">
                <a:solidFill>
                  <a:srgbClr val="14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66" name="Text 64"/>
          <p:cNvSpPr/>
          <p:nvPr/>
        </p:nvSpPr>
        <p:spPr>
          <a:xfrm>
            <a:off x="6910090" y="6541294"/>
            <a:ext cx="4553456" cy="258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364"/>
              </a:lnSpc>
              <a:buNone/>
            </a:pPr>
            <a:r>
              <a:rPr lang="en-US" sz="1425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das oportunidades Salesforce – Datawise+</a:t>
            </a:r>
            <a:endParaRPr lang="en-US" sz="1425" dirty="0"/>
          </a:p>
        </p:txBody>
      </p:sp>
      <p:sp>
        <p:nvSpPr>
          <p:cNvPr id="67" name="Text 65"/>
          <p:cNvSpPr/>
          <p:nvPr/>
        </p:nvSpPr>
        <p:spPr>
          <a:xfrm>
            <a:off x="6613475" y="6809631"/>
            <a:ext cx="277564" cy="258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364"/>
              </a:lnSpc>
              <a:buNone/>
            </a:pPr>
            <a:r>
              <a:rPr lang="en-US" sz="1425" b="1" dirty="0">
                <a:solidFill>
                  <a:srgbClr val="14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68" name="Text 66"/>
          <p:cNvSpPr/>
          <p:nvPr/>
        </p:nvSpPr>
        <p:spPr>
          <a:xfrm>
            <a:off x="6910090" y="6809631"/>
            <a:ext cx="4547235" cy="258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364"/>
              </a:lnSpc>
              <a:buNone/>
            </a:pPr>
            <a:r>
              <a:rPr lang="en-US" sz="1425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de SKUs e nomenclaturas SAP – Datawise+</a:t>
            </a:r>
            <a:endParaRPr lang="en-US" sz="1425" dirty="0"/>
          </a:p>
        </p:txBody>
      </p:sp>
      <p:sp>
        <p:nvSpPr>
          <p:cNvPr id="69" name="Shape 67"/>
          <p:cNvSpPr/>
          <p:nvPr/>
        </p:nvSpPr>
        <p:spPr>
          <a:xfrm>
            <a:off x="12141101" y="1447800"/>
            <a:ext cx="5537150" cy="523875"/>
          </a:xfrm>
          <a:custGeom>
            <a:avLst/>
            <a:gdLst/>
            <a:ahLst/>
            <a:cxnLst/>
            <a:rect l="l" t="t" r="r" b="b"/>
            <a:pathLst>
              <a:path w="5537150" h="523875">
                <a:moveTo>
                  <a:pt x="95250" y="0"/>
                </a:moveTo>
                <a:lnTo>
                  <a:pt x="5441900" y="0"/>
                </a:lnTo>
                <a:arcTo hR="95250" wR="95250" stAng="16200000" swAng="5400000"/>
                <a:lnTo>
                  <a:pt x="5537150" y="523875"/>
                </a:lnTo>
                <a:lnTo>
                  <a:pt x="0" y="523875"/>
                </a:lnTo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solidFill>
            <a:srgbClr val="0A3A8C"/>
          </a:solidFill>
          <a:ln/>
        </p:spPr>
      </p:sp>
      <p:sp>
        <p:nvSpPr>
          <p:cNvPr id="70" name="Text 68"/>
          <p:cNvSpPr/>
          <p:nvPr/>
        </p:nvSpPr>
        <p:spPr>
          <a:xfrm>
            <a:off x="12369701" y="1562100"/>
            <a:ext cx="5246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</a:t>
            </a:r>
            <a:endParaRPr lang="en-US" sz="1950" dirty="0"/>
          </a:p>
        </p:txBody>
      </p:sp>
      <p:sp>
        <p:nvSpPr>
          <p:cNvPr id="71" name="Shape 69"/>
          <p:cNvSpPr/>
          <p:nvPr/>
        </p:nvSpPr>
        <p:spPr>
          <a:xfrm>
            <a:off x="12141101" y="1971675"/>
            <a:ext cx="5537150" cy="6809631"/>
          </a:xfrm>
          <a:custGeom>
            <a:avLst/>
            <a:gdLst/>
            <a:ahLst/>
            <a:cxnLst/>
            <a:rect l="l" t="t" r="r" b="b"/>
            <a:pathLst>
              <a:path w="5537150" h="6809631">
                <a:moveTo>
                  <a:pt x="0" y="0"/>
                </a:moveTo>
                <a:lnTo>
                  <a:pt x="5537150" y="0"/>
                </a:lnTo>
                <a:lnTo>
                  <a:pt x="5537150" y="6714381"/>
                </a:lnTo>
                <a:arcTo hR="95250" wR="95250" stAng="0" swAng="5400000"/>
                <a:lnTo>
                  <a:pt x="95250" y="6809631"/>
                </a:lnTo>
                <a:arcTo hR="95250" wR="95250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2" name="Shape 70"/>
          <p:cNvSpPr/>
          <p:nvPr/>
        </p:nvSpPr>
        <p:spPr>
          <a:xfrm>
            <a:off x="12141101" y="8771781"/>
            <a:ext cx="5537150" cy="9525"/>
          </a:xfrm>
          <a:prstGeom prst="rect">
            <a:avLst/>
          </a:prstGeom>
          <a:solidFill>
            <a:srgbClr val="DCE2EC"/>
          </a:solidFill>
          <a:ln/>
        </p:spPr>
      </p:sp>
      <p:sp>
        <p:nvSpPr>
          <p:cNvPr id="73" name="Shape 71"/>
          <p:cNvSpPr/>
          <p:nvPr/>
        </p:nvSpPr>
        <p:spPr>
          <a:xfrm>
            <a:off x="12141101" y="1971675"/>
            <a:ext cx="9525" cy="6809631"/>
          </a:xfrm>
          <a:prstGeom prst="rect">
            <a:avLst/>
          </a:prstGeom>
          <a:solidFill>
            <a:srgbClr val="DCE2EC"/>
          </a:solidFill>
          <a:ln/>
        </p:spPr>
      </p:sp>
      <p:sp>
        <p:nvSpPr>
          <p:cNvPr id="74" name="Shape 72"/>
          <p:cNvSpPr/>
          <p:nvPr/>
        </p:nvSpPr>
        <p:spPr>
          <a:xfrm>
            <a:off x="17668726" y="1971675"/>
            <a:ext cx="9525" cy="6809631"/>
          </a:xfrm>
          <a:prstGeom prst="rect">
            <a:avLst/>
          </a:prstGeom>
          <a:solidFill>
            <a:srgbClr val="DCE2EC"/>
          </a:solidFill>
          <a:ln/>
        </p:spPr>
      </p:sp>
      <p:sp>
        <p:nvSpPr>
          <p:cNvPr id="75" name="Shape 73"/>
          <p:cNvSpPr/>
          <p:nvPr/>
        </p:nvSpPr>
        <p:spPr>
          <a:xfrm>
            <a:off x="12379226" y="2162175"/>
            <a:ext cx="285750" cy="285750"/>
          </a:xfrm>
          <a:prstGeom prst="ellipse">
            <a:avLst/>
          </a:prstGeom>
          <a:solidFill>
            <a:srgbClr val="0A3A8C"/>
          </a:solidFill>
          <a:ln/>
        </p:spPr>
      </p:sp>
      <p:sp>
        <p:nvSpPr>
          <p:cNvPr id="76" name="Text 74"/>
          <p:cNvSpPr/>
          <p:nvPr/>
        </p:nvSpPr>
        <p:spPr>
          <a:xfrm>
            <a:off x="12341126" y="216217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25" dirty="0"/>
          </a:p>
        </p:txBody>
      </p:sp>
      <p:sp>
        <p:nvSpPr>
          <p:cNvPr id="77" name="Text 75"/>
          <p:cNvSpPr/>
          <p:nvPr/>
        </p:nvSpPr>
        <p:spPr>
          <a:xfrm>
            <a:off x="12798326" y="2162175"/>
            <a:ext cx="4442951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08"/>
              </a:lnSpc>
              <a:buNone/>
            </a:pPr>
            <a:r>
              <a:rPr lang="en-US" sz="16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ponta a ponta antes da produção</a:t>
            </a:r>
            <a:endParaRPr lang="en-US" sz="1650" dirty="0"/>
          </a:p>
        </p:txBody>
      </p:sp>
      <p:sp>
        <p:nvSpPr>
          <p:cNvPr id="78" name="Text 76"/>
          <p:cNvSpPr/>
          <p:nvPr/>
        </p:nvSpPr>
        <p:spPr>
          <a:xfrm>
            <a:off x="12798326" y="2441228"/>
            <a:ext cx="444295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1500" dirty="0">
                <a:solidFill>
                  <a:srgbClr val="4A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teste em produção paralela.</a:t>
            </a:r>
            <a:endParaRPr lang="en-US" sz="1500" dirty="0"/>
          </a:p>
        </p:txBody>
      </p:sp>
      <p:sp>
        <p:nvSpPr>
          <p:cNvPr id="79" name="Shape 77"/>
          <p:cNvSpPr/>
          <p:nvPr/>
        </p:nvSpPr>
        <p:spPr>
          <a:xfrm>
            <a:off x="12379226" y="2755553"/>
            <a:ext cx="285750" cy="285750"/>
          </a:xfrm>
          <a:prstGeom prst="ellipse">
            <a:avLst/>
          </a:prstGeom>
          <a:solidFill>
            <a:srgbClr val="0A3A8C"/>
          </a:solidFill>
          <a:ln/>
        </p:spPr>
      </p:sp>
      <p:sp>
        <p:nvSpPr>
          <p:cNvPr id="80" name="Text 78"/>
          <p:cNvSpPr/>
          <p:nvPr/>
        </p:nvSpPr>
        <p:spPr>
          <a:xfrm>
            <a:off x="12341126" y="2755553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25" dirty="0"/>
          </a:p>
        </p:txBody>
      </p:sp>
      <p:sp>
        <p:nvSpPr>
          <p:cNvPr id="81" name="Text 79"/>
          <p:cNvSpPr/>
          <p:nvPr/>
        </p:nvSpPr>
        <p:spPr>
          <a:xfrm>
            <a:off x="12798326" y="2755553"/>
            <a:ext cx="3975229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08"/>
              </a:lnSpc>
              <a:buNone/>
            </a:pPr>
            <a:r>
              <a:rPr lang="en-US" sz="16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Acompanhamento contínuo</a:t>
            </a:r>
            <a:endParaRPr lang="en-US" sz="1650" dirty="0"/>
          </a:p>
        </p:txBody>
      </p:sp>
      <p:sp>
        <p:nvSpPr>
          <p:cNvPr id="82" name="Text 80"/>
          <p:cNvSpPr/>
          <p:nvPr/>
        </p:nvSpPr>
        <p:spPr>
          <a:xfrm>
            <a:off x="12798326" y="3034605"/>
            <a:ext cx="397522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1500" dirty="0">
                <a:solidFill>
                  <a:srgbClr val="4A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cronograma, dependências e entregas.</a:t>
            </a:r>
            <a:endParaRPr lang="en-US" sz="1500" dirty="0"/>
          </a:p>
        </p:txBody>
      </p:sp>
      <p:sp>
        <p:nvSpPr>
          <p:cNvPr id="83" name="Shape 81"/>
          <p:cNvSpPr/>
          <p:nvPr/>
        </p:nvSpPr>
        <p:spPr>
          <a:xfrm>
            <a:off x="12379226" y="3348930"/>
            <a:ext cx="285750" cy="285750"/>
          </a:xfrm>
          <a:prstGeom prst="ellipse">
            <a:avLst/>
          </a:prstGeom>
          <a:solidFill>
            <a:srgbClr val="0A3A8C"/>
          </a:solidFill>
          <a:ln/>
        </p:spPr>
      </p:sp>
      <p:sp>
        <p:nvSpPr>
          <p:cNvPr id="84" name="Text 82"/>
          <p:cNvSpPr/>
          <p:nvPr/>
        </p:nvSpPr>
        <p:spPr>
          <a:xfrm>
            <a:off x="12341126" y="3348930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25" dirty="0"/>
          </a:p>
        </p:txBody>
      </p:sp>
      <p:sp>
        <p:nvSpPr>
          <p:cNvPr id="85" name="Text 83"/>
          <p:cNvSpPr/>
          <p:nvPr/>
        </p:nvSpPr>
        <p:spPr>
          <a:xfrm>
            <a:off x="12798326" y="3348930"/>
            <a:ext cx="5105980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08"/>
              </a:lnSpc>
              <a:buNone/>
            </a:pPr>
            <a:r>
              <a:rPr lang="en-US" sz="16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Bilhetagem única para Trillia (Listados e Balcão)</a:t>
            </a:r>
            <a:endParaRPr lang="en-US" sz="1650" dirty="0"/>
          </a:p>
        </p:txBody>
      </p:sp>
      <p:sp>
        <p:nvSpPr>
          <p:cNvPr id="86" name="Text 84"/>
          <p:cNvSpPr/>
          <p:nvPr/>
        </p:nvSpPr>
        <p:spPr>
          <a:xfrm>
            <a:off x="12798326" y="3627983"/>
            <a:ext cx="4781054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1500" dirty="0">
                <a:solidFill>
                  <a:srgbClr val="4A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Trazendo Capital Markets para a mesma esteira de Neoway, Neurotech, Pdtec, Datastock e UIF: </a:t>
            </a:r>
            <a:pPr algn="l" indent="0" marL="0">
              <a:lnSpc>
                <a:spcPct val="108696"/>
              </a:lnSpc>
              <a:buNone/>
            </a:pPr>
            <a:r>
              <a:rPr lang="en-US" sz="1500" b="1" dirty="0">
                <a:solidFill>
                  <a:srgbClr val="0A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› Metranet Trillia › SAP</a:t>
            </a:r>
            <a:endParaRPr lang="en-US" sz="1500" dirty="0"/>
          </a:p>
        </p:txBody>
      </p:sp>
      <p:sp>
        <p:nvSpPr>
          <p:cNvPr id="87" name="Shape 85"/>
          <p:cNvSpPr/>
          <p:nvPr/>
        </p:nvSpPr>
        <p:spPr>
          <a:xfrm>
            <a:off x="12379226" y="4418558"/>
            <a:ext cx="285750" cy="285750"/>
          </a:xfrm>
          <a:prstGeom prst="ellipse">
            <a:avLst/>
          </a:prstGeom>
          <a:solidFill>
            <a:srgbClr val="0A3A8C"/>
          </a:solidFill>
          <a:ln/>
        </p:spPr>
      </p:sp>
      <p:sp>
        <p:nvSpPr>
          <p:cNvPr id="88" name="Text 86"/>
          <p:cNvSpPr/>
          <p:nvPr/>
        </p:nvSpPr>
        <p:spPr>
          <a:xfrm>
            <a:off x="12341126" y="441855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25" dirty="0"/>
          </a:p>
        </p:txBody>
      </p:sp>
      <p:sp>
        <p:nvSpPr>
          <p:cNvPr id="89" name="Text 87"/>
          <p:cNvSpPr/>
          <p:nvPr/>
        </p:nvSpPr>
        <p:spPr>
          <a:xfrm>
            <a:off x="12798326" y="4418558"/>
            <a:ext cx="4088681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08"/>
              </a:lnSpc>
              <a:buNone/>
            </a:pPr>
            <a:r>
              <a:rPr lang="en-US" sz="16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produto a produto</a:t>
            </a:r>
            <a:endParaRPr lang="en-US" sz="1650" dirty="0"/>
          </a:p>
        </p:txBody>
      </p:sp>
      <p:sp>
        <p:nvSpPr>
          <p:cNvPr id="90" name="Text 88"/>
          <p:cNvSpPr/>
          <p:nvPr/>
        </p:nvSpPr>
        <p:spPr>
          <a:xfrm>
            <a:off x="12798326" y="4697611"/>
            <a:ext cx="408868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Markets na nova esteira até jul/2027</a:t>
            </a:r>
            <a:endParaRPr lang="en-US" sz="1500" dirty="0"/>
          </a:p>
        </p:txBody>
      </p:sp>
      <p:sp>
        <p:nvSpPr>
          <p:cNvPr id="91" name="Shape 89"/>
          <p:cNvSpPr/>
          <p:nvPr/>
        </p:nvSpPr>
        <p:spPr>
          <a:xfrm>
            <a:off x="12379226" y="5011936"/>
            <a:ext cx="285750" cy="285750"/>
          </a:xfrm>
          <a:prstGeom prst="ellipse">
            <a:avLst/>
          </a:prstGeom>
          <a:solidFill>
            <a:srgbClr val="0A3A8C"/>
          </a:solidFill>
          <a:ln/>
        </p:spPr>
      </p:sp>
      <p:sp>
        <p:nvSpPr>
          <p:cNvPr id="92" name="Text 90"/>
          <p:cNvSpPr/>
          <p:nvPr/>
        </p:nvSpPr>
        <p:spPr>
          <a:xfrm>
            <a:off x="12341126" y="5011936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25" dirty="0"/>
          </a:p>
        </p:txBody>
      </p:sp>
      <p:sp>
        <p:nvSpPr>
          <p:cNvPr id="93" name="Text 91"/>
          <p:cNvSpPr/>
          <p:nvPr/>
        </p:nvSpPr>
        <p:spPr>
          <a:xfrm>
            <a:off x="12798326" y="5011936"/>
            <a:ext cx="5105980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08"/>
              </a:lnSpc>
              <a:buNone/>
            </a:pPr>
            <a:r>
              <a:rPr lang="en-US" sz="16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</a:t>
            </a:r>
            <a:endParaRPr lang="en-US" sz="1650" dirty="0"/>
          </a:p>
        </p:txBody>
      </p:sp>
      <p:sp>
        <p:nvSpPr>
          <p:cNvPr id="94" name="Text 92"/>
          <p:cNvSpPr/>
          <p:nvPr/>
        </p:nvSpPr>
        <p:spPr>
          <a:xfrm>
            <a:off x="12798326" y="5290989"/>
            <a:ext cx="478105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1500" dirty="0">
                <a:solidFill>
                  <a:srgbClr val="4A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 produto só é cadastrado no Salesforce com fluxo de faturamento validado no Metranet e no SAP.</a:t>
            </a:r>
            <a:endParaRPr lang="en-US" sz="1500" dirty="0"/>
          </a:p>
        </p:txBody>
      </p:sp>
      <p:sp>
        <p:nvSpPr>
          <p:cNvPr id="95" name="Shape 93"/>
          <p:cNvSpPr/>
          <p:nvPr/>
        </p:nvSpPr>
        <p:spPr>
          <a:xfrm>
            <a:off x="12379226" y="5843439"/>
            <a:ext cx="285750" cy="285750"/>
          </a:xfrm>
          <a:prstGeom prst="ellipse">
            <a:avLst/>
          </a:prstGeom>
          <a:solidFill>
            <a:srgbClr val="0A3A8C"/>
          </a:solidFill>
          <a:ln/>
        </p:spPr>
      </p:sp>
      <p:sp>
        <p:nvSpPr>
          <p:cNvPr id="96" name="Text 94"/>
          <p:cNvSpPr/>
          <p:nvPr/>
        </p:nvSpPr>
        <p:spPr>
          <a:xfrm>
            <a:off x="12341126" y="5843439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25" dirty="0"/>
          </a:p>
        </p:txBody>
      </p:sp>
      <p:sp>
        <p:nvSpPr>
          <p:cNvPr id="97" name="Text 95"/>
          <p:cNvSpPr/>
          <p:nvPr/>
        </p:nvSpPr>
        <p:spPr>
          <a:xfrm>
            <a:off x="12798326" y="5843439"/>
            <a:ext cx="3863251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08"/>
              </a:lnSpc>
              <a:buNone/>
            </a:pPr>
            <a:r>
              <a:rPr lang="en-US" sz="16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unificado Capital + Trillia</a:t>
            </a:r>
            <a:endParaRPr lang="en-US" sz="1650" dirty="0"/>
          </a:p>
        </p:txBody>
      </p:sp>
      <p:sp>
        <p:nvSpPr>
          <p:cNvPr id="98" name="Text 96"/>
          <p:cNvSpPr/>
          <p:nvPr/>
        </p:nvSpPr>
        <p:spPr>
          <a:xfrm>
            <a:off x="12798326" y="6122491"/>
            <a:ext cx="386325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1500" dirty="0">
                <a:solidFill>
                  <a:srgbClr val="4A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canal e SLA de resposta definidos.</a:t>
            </a:r>
            <a:endParaRPr lang="en-US" sz="1500" dirty="0"/>
          </a:p>
        </p:txBody>
      </p:sp>
      <p:sp>
        <p:nvSpPr>
          <p:cNvPr id="99" name="Text 97"/>
          <p:cNvSpPr/>
          <p:nvPr/>
        </p:nvSpPr>
        <p:spPr>
          <a:xfrm>
            <a:off x="609600" y="8914656"/>
            <a:ext cx="52721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" kern="0" dirty="0">
                <a:solidFill>
                  <a:srgbClr val="0A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 APÓS IMPLANTAÇÃO</a:t>
            </a:r>
            <a:endParaRPr lang="en-US" sz="1650" dirty="0"/>
          </a:p>
        </p:txBody>
      </p:sp>
      <p:sp>
        <p:nvSpPr>
          <p:cNvPr id="100" name="Text 98"/>
          <p:cNvSpPr/>
          <p:nvPr/>
        </p:nvSpPr>
        <p:spPr>
          <a:xfrm>
            <a:off x="13823156" y="8952756"/>
            <a:ext cx="42407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4A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Benefícios medidos via indicadores antes × depois</a:t>
            </a:r>
            <a:endParaRPr lang="en-US" sz="1350" dirty="0"/>
          </a:p>
        </p:txBody>
      </p:sp>
      <p:sp>
        <p:nvSpPr>
          <p:cNvPr id="101" name="Shape 99"/>
          <p:cNvSpPr/>
          <p:nvPr/>
        </p:nvSpPr>
        <p:spPr>
          <a:xfrm>
            <a:off x="609600" y="9238506"/>
            <a:ext cx="2340322" cy="838944"/>
          </a:xfrm>
          <a:prstGeom prst="roundRect">
            <a:avLst>
              <a:gd name="adj" fmla="val 9083"/>
            </a:avLst>
          </a:prstGeom>
          <a:solidFill>
            <a:srgbClr val="FFFFFF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52475" y="9343281"/>
            <a:ext cx="2260029" cy="246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18"/>
              </a:lnSpc>
              <a:buNone/>
            </a:pPr>
            <a:r>
              <a:rPr lang="en-US" sz="1425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rastreável</a:t>
            </a:r>
            <a:endParaRPr lang="en-US" sz="1425" dirty="0"/>
          </a:p>
        </p:txBody>
      </p:sp>
      <p:sp>
        <p:nvSpPr>
          <p:cNvPr id="103" name="Text 101"/>
          <p:cNvSpPr/>
          <p:nvPr/>
        </p:nvSpPr>
        <p:spPr>
          <a:xfrm>
            <a:off x="752475" y="9570393"/>
            <a:ext cx="2260029" cy="232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75" dirty="0">
                <a:solidFill>
                  <a:srgbClr val="4A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venda à cobrança</a:t>
            </a:r>
            <a:endParaRPr lang="en-US" sz="1275" dirty="0"/>
          </a:p>
        </p:txBody>
      </p:sp>
      <p:sp>
        <p:nvSpPr>
          <p:cNvPr id="104" name="Shape 102"/>
          <p:cNvSpPr/>
          <p:nvPr/>
        </p:nvSpPr>
        <p:spPr>
          <a:xfrm>
            <a:off x="3064222" y="9238506"/>
            <a:ext cx="2340471" cy="838944"/>
          </a:xfrm>
          <a:prstGeom prst="roundRect">
            <a:avLst>
              <a:gd name="adj" fmla="val 9083"/>
            </a:avLst>
          </a:prstGeom>
          <a:solidFill>
            <a:srgbClr val="FFFFFF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207097" y="9343281"/>
            <a:ext cx="2260193" cy="246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18"/>
              </a:lnSpc>
              <a:buNone/>
            </a:pPr>
            <a:r>
              <a:rPr lang="en-US" sz="1425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validada</a:t>
            </a:r>
            <a:endParaRPr lang="en-US" sz="1425" dirty="0"/>
          </a:p>
        </p:txBody>
      </p:sp>
      <p:sp>
        <p:nvSpPr>
          <p:cNvPr id="106" name="Text 104"/>
          <p:cNvSpPr/>
          <p:nvPr/>
        </p:nvSpPr>
        <p:spPr>
          <a:xfrm>
            <a:off x="3207097" y="9570393"/>
            <a:ext cx="2260193" cy="232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75" dirty="0">
                <a:solidFill>
                  <a:srgbClr val="4A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da produção</a:t>
            </a:r>
            <a:endParaRPr lang="en-US" sz="1275" dirty="0"/>
          </a:p>
        </p:txBody>
      </p:sp>
      <p:sp>
        <p:nvSpPr>
          <p:cNvPr id="107" name="Shape 105"/>
          <p:cNvSpPr/>
          <p:nvPr/>
        </p:nvSpPr>
        <p:spPr>
          <a:xfrm>
            <a:off x="5518993" y="9238506"/>
            <a:ext cx="2340471" cy="838944"/>
          </a:xfrm>
          <a:prstGeom prst="roundRect">
            <a:avLst>
              <a:gd name="adj" fmla="val 9083"/>
            </a:avLst>
          </a:prstGeom>
          <a:solidFill>
            <a:srgbClr val="FFFFFF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661868" y="9343281"/>
            <a:ext cx="2260193" cy="246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18"/>
              </a:lnSpc>
              <a:buNone/>
            </a:pPr>
            <a:r>
              <a:rPr lang="en-US" sz="1425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ajustes</a:t>
            </a:r>
            <a:endParaRPr lang="en-US" sz="1425" dirty="0"/>
          </a:p>
        </p:txBody>
      </p:sp>
      <p:sp>
        <p:nvSpPr>
          <p:cNvPr id="109" name="Text 107"/>
          <p:cNvSpPr/>
          <p:nvPr/>
        </p:nvSpPr>
        <p:spPr>
          <a:xfrm>
            <a:off x="5661868" y="9570393"/>
            <a:ext cx="2260193" cy="232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75" dirty="0">
                <a:solidFill>
                  <a:srgbClr val="4A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retrabalho manual</a:t>
            </a:r>
            <a:endParaRPr lang="en-US" sz="1275" dirty="0"/>
          </a:p>
        </p:txBody>
      </p:sp>
      <p:sp>
        <p:nvSpPr>
          <p:cNvPr id="110" name="Shape 108"/>
          <p:cNvSpPr/>
          <p:nvPr/>
        </p:nvSpPr>
        <p:spPr>
          <a:xfrm>
            <a:off x="7973764" y="9238506"/>
            <a:ext cx="2340322" cy="838944"/>
          </a:xfrm>
          <a:prstGeom prst="roundRect">
            <a:avLst>
              <a:gd name="adj" fmla="val 9083"/>
            </a:avLst>
          </a:prstGeom>
          <a:solidFill>
            <a:srgbClr val="FFFFFF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116639" y="9343281"/>
            <a:ext cx="2260029" cy="246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18"/>
              </a:lnSpc>
              <a:buNone/>
            </a:pPr>
            <a:r>
              <a:rPr lang="en-US" sz="1425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risco</a:t>
            </a:r>
            <a:endParaRPr lang="en-US" sz="1425" dirty="0"/>
          </a:p>
        </p:txBody>
      </p:sp>
      <p:sp>
        <p:nvSpPr>
          <p:cNvPr id="112" name="Text 110"/>
          <p:cNvSpPr/>
          <p:nvPr/>
        </p:nvSpPr>
        <p:spPr>
          <a:xfrm>
            <a:off x="8116639" y="9570393"/>
            <a:ext cx="2130772" cy="426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75" dirty="0">
                <a:solidFill>
                  <a:srgbClr val="4A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divergência e de não faturamento</a:t>
            </a:r>
            <a:endParaRPr lang="en-US" sz="1275" dirty="0"/>
          </a:p>
        </p:txBody>
      </p:sp>
      <p:sp>
        <p:nvSpPr>
          <p:cNvPr id="113" name="Shape 111"/>
          <p:cNvSpPr/>
          <p:nvPr/>
        </p:nvSpPr>
        <p:spPr>
          <a:xfrm>
            <a:off x="10428387" y="9238506"/>
            <a:ext cx="2340471" cy="838944"/>
          </a:xfrm>
          <a:prstGeom prst="roundRect">
            <a:avLst>
              <a:gd name="adj" fmla="val 9083"/>
            </a:avLst>
          </a:prstGeom>
          <a:solidFill>
            <a:srgbClr val="FFFFFF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0571262" y="9343281"/>
            <a:ext cx="2260193" cy="246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18"/>
              </a:lnSpc>
              <a:buNone/>
            </a:pPr>
            <a:r>
              <a:rPr lang="en-US" sz="1425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</a:t>
            </a:r>
            <a:endParaRPr lang="en-US" sz="1425" dirty="0"/>
          </a:p>
        </p:txBody>
      </p:sp>
      <p:sp>
        <p:nvSpPr>
          <p:cNvPr id="115" name="Text 113"/>
          <p:cNvSpPr/>
          <p:nvPr/>
        </p:nvSpPr>
        <p:spPr>
          <a:xfrm>
            <a:off x="10571262" y="9570393"/>
            <a:ext cx="2130921" cy="426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75" dirty="0">
                <a:solidFill>
                  <a:srgbClr val="4A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itens recebidos e não faturados</a:t>
            </a:r>
            <a:endParaRPr lang="en-US" sz="1275" dirty="0"/>
          </a:p>
        </p:txBody>
      </p:sp>
      <p:sp>
        <p:nvSpPr>
          <p:cNvPr id="116" name="Shape 114"/>
          <p:cNvSpPr/>
          <p:nvPr/>
        </p:nvSpPr>
        <p:spPr>
          <a:xfrm>
            <a:off x="12883158" y="9238506"/>
            <a:ext cx="2340471" cy="838944"/>
          </a:xfrm>
          <a:prstGeom prst="roundRect">
            <a:avLst>
              <a:gd name="adj" fmla="val 9083"/>
            </a:avLst>
          </a:prstGeom>
          <a:solidFill>
            <a:srgbClr val="FFFFFF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3026033" y="9343281"/>
            <a:ext cx="2130921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18"/>
              </a:lnSpc>
              <a:buNone/>
            </a:pPr>
            <a:r>
              <a:rPr lang="en-US" sz="1425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e responsabilidades</a:t>
            </a:r>
            <a:endParaRPr lang="en-US" sz="1425" dirty="0"/>
          </a:p>
        </p:txBody>
      </p:sp>
      <p:sp>
        <p:nvSpPr>
          <p:cNvPr id="118" name="Text 116"/>
          <p:cNvSpPr/>
          <p:nvPr/>
        </p:nvSpPr>
        <p:spPr>
          <a:xfrm>
            <a:off x="13026033" y="9778454"/>
            <a:ext cx="2260193" cy="232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75" dirty="0">
                <a:solidFill>
                  <a:srgbClr val="4A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Claros</a:t>
            </a:r>
            <a:endParaRPr lang="en-US" sz="1275" dirty="0"/>
          </a:p>
        </p:txBody>
      </p:sp>
      <p:sp>
        <p:nvSpPr>
          <p:cNvPr id="119" name="Shape 117"/>
          <p:cNvSpPr/>
          <p:nvPr/>
        </p:nvSpPr>
        <p:spPr>
          <a:xfrm>
            <a:off x="15337929" y="9238506"/>
            <a:ext cx="2340322" cy="838944"/>
          </a:xfrm>
          <a:prstGeom prst="roundRect">
            <a:avLst>
              <a:gd name="adj" fmla="val 9083"/>
            </a:avLst>
          </a:prstGeom>
          <a:solidFill>
            <a:srgbClr val="FFFFFF"/>
          </a:solidFill>
          <a:ln w="9525">
            <a:solidFill>
              <a:srgbClr val="DCE2EC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5480804" y="9343281"/>
            <a:ext cx="2260029" cy="246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18"/>
              </a:lnSpc>
              <a:buNone/>
            </a:pPr>
            <a:r>
              <a:rPr lang="en-US" sz="1425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de dores</a:t>
            </a:r>
            <a:endParaRPr lang="en-US" sz="1425" dirty="0"/>
          </a:p>
        </p:txBody>
      </p:sp>
      <p:sp>
        <p:nvSpPr>
          <p:cNvPr id="121" name="Text 119"/>
          <p:cNvSpPr/>
          <p:nvPr/>
        </p:nvSpPr>
        <p:spPr>
          <a:xfrm>
            <a:off x="15480804" y="9570393"/>
            <a:ext cx="2130772" cy="426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75" dirty="0">
                <a:solidFill>
                  <a:srgbClr val="4A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jornada de vendas e atendimento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2026-10-12T21:14:12Z</dcterms:created>
  <dcterms:modified xsi:type="dcterms:W3CDTF">2026-10-12T21:14:12Z</dcterms:modified>
</cp:coreProperties>
</file>