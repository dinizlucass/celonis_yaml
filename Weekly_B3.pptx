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4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914400"/>
            <a:ext cx="1463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0424160" y="914400"/>
            <a:ext cx="1463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30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Migração Ariba x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 com Celonis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7D6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Weekly Report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Dezembro 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0014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Weekly Report 12.12.25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84632" y="8412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Ariba x Mercado Eletrônico com Celonis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064240" y="182880"/>
            <a:ext cx="822960" cy="502920"/>
          </a:xfrm>
          <a:prstGeom prst="rect">
            <a:avLst/>
          </a:prstGeom>
          <a:solidFill>
            <a:srgbClr val="00145F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182880"/>
            <a:ext cx="41148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438912"/>
            <a:ext cx="411480" cy="246888"/>
          </a:xfrm>
          <a:prstGeom prst="rect">
            <a:avLst/>
          </a:prstGeom>
          <a:solidFill>
            <a:srgbClr val="54C3F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5532120" cy="384048"/>
          </a:xfrm>
          <a:prstGeom prst="rect">
            <a:avLst/>
          </a:prstGeom>
          <a:solidFill>
            <a:srgbClr val="0014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258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SEMANA 14 | 08/12 – 12/12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❏"/>
            </a:pPr>
            <a:r>
              <a:rPr lang="en-US" sz="11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do Rollout:</a:t>
            </a:r>
            <a:endParaRPr lang="en-US" sz="1100" dirty="0"/>
          </a:p>
          <a:p>
            <a:pPr lvl="1" marL="355600" indent="-177800">
              <a:spcAft>
                <a:spcPts val="700"/>
              </a:spcAft>
              <a:buSzPct val="100000"/>
              <a:buChar char="✓"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de validação foram realizadas com usuários em Prod</a:t>
            </a:r>
            <a:endParaRPr lang="en-US" sz="1100" dirty="0"/>
          </a:p>
          <a:p>
            <a:pPr lvl="1" marL="3556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desenvolvimentos foram realizados:</a:t>
            </a:r>
            <a:endParaRPr lang="en-US" sz="1100" dirty="0"/>
          </a:p>
          <a:p>
            <a:pPr lvl="2" marL="533400" indent="-177800">
              <a:spcAft>
                <a:spcPts val="700"/>
              </a:spcAft>
              <a:buSzPct val="100000"/>
              <a:buChar char="✓"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no campo “ValidityStartDate” para considerar a data de início de vigência de contrato e não mais a data de criação do contrato.</a:t>
            </a:r>
            <a:endParaRPr lang="en-US" sz="1100" dirty="0"/>
          </a:p>
          <a:p>
            <a:pPr lvl="2" marL="533400" indent="-177800">
              <a:spcAft>
                <a:spcPts val="700"/>
              </a:spcAft>
              <a:buSzPct val="100000"/>
              <a:buChar char="✓"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Adição de filtro fixo para desconsiderar pedidos com status “Cancelado” ou “Recusado”.</a:t>
            </a:r>
            <a:endParaRPr lang="en-US" sz="1100" dirty="0"/>
          </a:p>
          <a:p>
            <a:pPr lvl="2" marL="533400" indent="-177800">
              <a:spcAft>
                <a:spcPts val="700"/>
              </a:spcAft>
              <a:buSzPct val="100000"/>
              <a:buChar char="✓"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contratos em aberto, considerar o primeiro pré-pedido que não está cancelado.</a:t>
            </a:r>
            <a:endParaRPr lang="en-US" sz="1100" dirty="0"/>
          </a:p>
          <a:p>
            <a:pPr lvl="1" marL="3556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da documentação de Handover;</a:t>
            </a:r>
            <a:endParaRPr lang="en-US" sz="1100" dirty="0"/>
          </a:p>
          <a:p>
            <a:pPr lvl="1" marL="355600" indent="-177800">
              <a:spcAft>
                <a:spcPts val="700"/>
              </a:spcAft>
              <a:buSzPct val="100000"/>
              <a:buChar char="▪"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para o ambiente final de produção – será realizado após confirmação por parte do time B3 (previsto para 12/12, caso o time Bip possa seguir após uma devolutiva das pendências relacionadas ao ME).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5486400" cy="384048"/>
          </a:xfrm>
          <a:prstGeom prst="rect">
            <a:avLst/>
          </a:prstGeom>
          <a:solidFill>
            <a:srgbClr val="00145F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325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 GERAL</a:t>
            </a:r>
            <a:endParaRPr lang="en-US" sz="1100" dirty="0"/>
          </a:p>
        </p:txBody>
      </p:sp>
      <p:pic>
        <p:nvPicPr>
          <p:cNvPr id="14" name="Image 0" descr="/home/claude/r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828800"/>
            <a:ext cx="5440680" cy="10515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309360" y="283464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97496" y="283464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485632" y="283464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Dev.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573768" y="283464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Homologação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661904" y="283464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49440" y="3310128"/>
            <a:ext cx="256032" cy="182880"/>
          </a:xfrm>
          <a:prstGeom prst="rect">
            <a:avLst/>
          </a:prstGeom>
          <a:solidFill>
            <a:srgbClr val="1F3D7A"/>
          </a:solidFill>
          <a:ln/>
        </p:spPr>
      </p:sp>
      <p:sp>
        <p:nvSpPr>
          <p:cNvPr id="21" name="Text 18"/>
          <p:cNvSpPr/>
          <p:nvPr/>
        </p:nvSpPr>
        <p:spPr>
          <a:xfrm>
            <a:off x="7242048" y="3255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03920" y="3310128"/>
            <a:ext cx="256032" cy="182880"/>
          </a:xfrm>
          <a:prstGeom prst="rect">
            <a:avLst/>
          </a:prstGeom>
          <a:solidFill>
            <a:srgbClr val="F1A7A0"/>
          </a:solidFill>
          <a:ln/>
        </p:spPr>
      </p:sp>
      <p:sp>
        <p:nvSpPr>
          <p:cNvPr id="23" name="Text 20"/>
          <p:cNvSpPr/>
          <p:nvPr/>
        </p:nvSpPr>
        <p:spPr>
          <a:xfrm>
            <a:off x="8796528" y="3255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63640" y="3749040"/>
            <a:ext cx="5486400" cy="1143000"/>
          </a:xfrm>
          <a:prstGeom prst="rect">
            <a:avLst/>
          </a:prstGeom>
          <a:solidFill>
            <a:srgbClr val="F2F4F9"/>
          </a:solidFill>
          <a:ln/>
        </p:spPr>
      </p:sp>
      <p:sp>
        <p:nvSpPr>
          <p:cNvPr id="25" name="Text 22"/>
          <p:cNvSpPr/>
          <p:nvPr/>
        </p:nvSpPr>
        <p:spPr>
          <a:xfrm>
            <a:off x="6446520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&amp; ISSUES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446520" y="4160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▪"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Devolutiva do time ME sobre a falta de informações sobre itens de requisição (Coluna “ContractID” está nula) na API.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63640" y="5074920"/>
            <a:ext cx="5486400" cy="1143000"/>
          </a:xfrm>
          <a:prstGeom prst="rect">
            <a:avLst/>
          </a:prstGeom>
          <a:solidFill>
            <a:srgbClr val="F2F4F9"/>
          </a:solidFill>
          <a:ln/>
        </p:spPr>
      </p:sp>
      <p:sp>
        <p:nvSpPr>
          <p:cNvPr id="28" name="Text 25"/>
          <p:cNvSpPr/>
          <p:nvPr/>
        </p:nvSpPr>
        <p:spPr>
          <a:xfrm>
            <a:off x="6446520" y="5184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NECESSIDADES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446520" y="5486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▪"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 entender se o freezing dos objetos impactados continua ocorrendo para que o time Bip possa realizar o rollout em produção.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14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Timeline do projeto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01200" y="292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04/12   11/12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384280" cy="3063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40233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80560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65192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49824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34456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19088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03720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88352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72984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57616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842248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326880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811512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296144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80776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65408" y="114300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80560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65192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49824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34456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72984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57616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42248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6880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11512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96144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80776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65408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750040" y="1449324"/>
            <a:ext cx="0" cy="4594860"/>
          </a:xfrm>
          <a:prstGeom prst="line">
            <a:avLst/>
          </a:prstGeom>
          <a:noFill/>
          <a:ln w="9525">
            <a:solidFill>
              <a:srgbClr val="ECEE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1449324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data pools e modelo de dados OCPM (objetos e eventos existentes, transformações e perspectivas)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" y="1755648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92624" y="1513332"/>
            <a:ext cx="1399032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1755648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estrutura de front-end (views, KMs, etc.)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65760" y="2061972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92624" y="1819656"/>
            <a:ext cx="429768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45" name="Text 43"/>
          <p:cNvSpPr/>
          <p:nvPr/>
        </p:nvSpPr>
        <p:spPr>
          <a:xfrm>
            <a:off x="411480" y="2061972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documentação de conectividade ME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65760" y="2368296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07992" y="2125980"/>
            <a:ext cx="914400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48" name="Text 46"/>
          <p:cNvSpPr/>
          <p:nvPr/>
        </p:nvSpPr>
        <p:spPr>
          <a:xfrm>
            <a:off x="411480" y="2368296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documentação sobre estrutura de dados ME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65760" y="2674620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92624" y="2432304"/>
            <a:ext cx="1399032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51" name="Text 49"/>
          <p:cNvSpPr/>
          <p:nvPr/>
        </p:nvSpPr>
        <p:spPr>
          <a:xfrm>
            <a:off x="411480" y="2674620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arquitetura de conectividade Celonis x ME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5760" y="2980944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92624" y="2738628"/>
            <a:ext cx="429768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54" name="Text 52"/>
          <p:cNvSpPr/>
          <p:nvPr/>
        </p:nvSpPr>
        <p:spPr>
          <a:xfrm>
            <a:off x="411480" y="2980944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DE x PARA de objetos e eventos x dados ME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65760" y="3287268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46520" y="3044952"/>
            <a:ext cx="914400" cy="178308"/>
          </a:xfrm>
          <a:prstGeom prst="roundRect">
            <a:avLst>
              <a:gd name="adj" fmla="val 15385"/>
            </a:avLst>
          </a:prstGeom>
          <a:solidFill>
            <a:srgbClr val="1F3D7A"/>
          </a:solidFill>
          <a:ln/>
        </p:spPr>
      </p:sp>
      <p:sp>
        <p:nvSpPr>
          <p:cNvPr id="57" name="Text 55"/>
          <p:cNvSpPr/>
          <p:nvPr/>
        </p:nvSpPr>
        <p:spPr>
          <a:xfrm>
            <a:off x="411480" y="3287268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de requisitos e validação com time B3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65760" y="3593592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19088" y="3287268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903720" y="3287268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388352" y="3287268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11480" y="3593592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de ambiente de QA*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65760" y="3899916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92624" y="3657600"/>
            <a:ext cx="914400" cy="178308"/>
          </a:xfrm>
          <a:prstGeom prst="roundRect">
            <a:avLst>
              <a:gd name="adj" fmla="val 15385"/>
            </a:avLst>
          </a:prstGeom>
          <a:solidFill>
            <a:srgbClr val="C3CAD6"/>
          </a:solidFill>
          <a:ln/>
        </p:spPr>
      </p:sp>
      <p:sp>
        <p:nvSpPr>
          <p:cNvPr id="65" name="Text 63"/>
          <p:cNvSpPr/>
          <p:nvPr/>
        </p:nvSpPr>
        <p:spPr>
          <a:xfrm>
            <a:off x="411480" y="3899916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da conexão data pools Celonis x ME (QA)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65760" y="4206240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07992" y="3963924"/>
            <a:ext cx="914400" cy="178308"/>
          </a:xfrm>
          <a:prstGeom prst="roundRect">
            <a:avLst>
              <a:gd name="adj" fmla="val 15385"/>
            </a:avLst>
          </a:prstGeom>
          <a:solidFill>
            <a:srgbClr val="C3CAD6"/>
          </a:solidFill>
          <a:ln/>
        </p:spPr>
      </p:sp>
      <p:sp>
        <p:nvSpPr>
          <p:cNvPr id="68" name="Text 66"/>
          <p:cNvSpPr/>
          <p:nvPr/>
        </p:nvSpPr>
        <p:spPr>
          <a:xfrm>
            <a:off x="411480" y="4206240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do modelo OPCM (obj. e eventos existentes) em QA p/ consumo dos dados do ME (+ajustes em KPIs / front*)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65760" y="4512564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15784" y="4270248"/>
            <a:ext cx="4306824" cy="178308"/>
          </a:xfrm>
          <a:prstGeom prst="roundRect">
            <a:avLst>
              <a:gd name="adj" fmla="val 15385"/>
            </a:avLst>
          </a:prstGeom>
          <a:solidFill>
            <a:srgbClr val="C3CAD6"/>
          </a:solidFill>
          <a:ln/>
        </p:spPr>
      </p:sp>
      <p:sp>
        <p:nvSpPr>
          <p:cNvPr id="71" name="Text 69"/>
          <p:cNvSpPr/>
          <p:nvPr/>
        </p:nvSpPr>
        <p:spPr>
          <a:xfrm>
            <a:off x="411480" y="4512564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cenários de testes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65760" y="4818888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31152" y="4576572"/>
            <a:ext cx="2368296" cy="178308"/>
          </a:xfrm>
          <a:prstGeom prst="roundRect">
            <a:avLst>
              <a:gd name="adj" fmla="val 15385"/>
            </a:avLst>
          </a:prstGeom>
          <a:solidFill>
            <a:srgbClr val="C3CAD6"/>
          </a:solidFill>
          <a:ln/>
        </p:spPr>
      </p:sp>
      <p:sp>
        <p:nvSpPr>
          <p:cNvPr id="74" name="Text 72"/>
          <p:cNvSpPr/>
          <p:nvPr/>
        </p:nvSpPr>
        <p:spPr>
          <a:xfrm>
            <a:off x="411480" y="4818888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dos dados de teste (cálculo KPIs com dados QA)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65760" y="5125212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900416" y="4882896"/>
            <a:ext cx="1399032" cy="178308"/>
          </a:xfrm>
          <a:prstGeom prst="roundRect">
            <a:avLst>
              <a:gd name="adj" fmla="val 15385"/>
            </a:avLst>
          </a:prstGeom>
          <a:solidFill>
            <a:srgbClr val="C3CAD6"/>
          </a:solidFill>
          <a:ln/>
        </p:spPr>
      </p:sp>
      <p:sp>
        <p:nvSpPr>
          <p:cNvPr id="77" name="Text 75"/>
          <p:cNvSpPr/>
          <p:nvPr/>
        </p:nvSpPr>
        <p:spPr>
          <a:xfrm>
            <a:off x="411480" y="5125212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dos testes e captura de evidências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65760" y="5431536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900416" y="5189220"/>
            <a:ext cx="3337560" cy="178308"/>
          </a:xfrm>
          <a:prstGeom prst="roundRect">
            <a:avLst>
              <a:gd name="adj" fmla="val 15385"/>
            </a:avLst>
          </a:prstGeom>
          <a:solidFill>
            <a:srgbClr val="C3CAD6"/>
          </a:solidFill>
          <a:ln/>
        </p:spPr>
      </p:sp>
      <p:sp>
        <p:nvSpPr>
          <p:cNvPr id="80" name="Text 78"/>
          <p:cNvSpPr/>
          <p:nvPr/>
        </p:nvSpPr>
        <p:spPr>
          <a:xfrm>
            <a:off x="7872984" y="5125212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357616" y="5125212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842248" y="5125212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9326880" y="5125212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811512" y="5125212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0296144" y="5125212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0780776" y="5125212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11480" y="5431536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ME x Celonis e release do novo modelo em produção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365760" y="5737860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292840" y="5495544"/>
            <a:ext cx="429768" cy="178308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/>
        </p:spPr>
      </p:sp>
      <p:sp>
        <p:nvSpPr>
          <p:cNvPr id="90" name="Text 88"/>
          <p:cNvSpPr/>
          <p:nvPr/>
        </p:nvSpPr>
        <p:spPr>
          <a:xfrm>
            <a:off x="411480" y="5737860"/>
            <a:ext cx="39319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de testes e ajustes finais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365760" y="6044184"/>
            <a:ext cx="11384280" cy="0"/>
          </a:xfrm>
          <a:prstGeom prst="line">
            <a:avLst/>
          </a:prstGeom>
          <a:noFill/>
          <a:ln w="9525">
            <a:solidFill>
              <a:srgbClr val="EDEFF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292840" y="5801868"/>
            <a:ext cx="429768" cy="178308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/>
        </p:spPr>
      </p:sp>
      <p:sp>
        <p:nvSpPr>
          <p:cNvPr id="93" name="Text 91"/>
          <p:cNvSpPr/>
          <p:nvPr/>
        </p:nvSpPr>
        <p:spPr>
          <a:xfrm>
            <a:off x="11265408" y="5737860"/>
            <a:ext cx="48463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65760" y="1143000"/>
            <a:ext cx="11384280" cy="4901184"/>
          </a:xfrm>
          <a:prstGeom prst="rect">
            <a:avLst/>
          </a:prstGeom>
          <a:ln w="9525">
            <a:solidFill>
              <a:srgbClr val="D3DA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5760" y="615391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950" i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de validação com time / usuários B3</a:t>
            </a:r>
            <a:pPr indent="0" marL="0">
              <a:buNone/>
            </a:pPr>
            <a:r>
              <a:rPr lang="en-US" sz="95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(*) Atividade não prevista no cronograma original do projeto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14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280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endParaRPr lang="en-US" sz="21000" dirty="0"/>
          </a:p>
        </p:txBody>
      </p:sp>
      <p:sp>
        <p:nvSpPr>
          <p:cNvPr id="3" name="Text 1"/>
          <p:cNvSpPr/>
          <p:nvPr/>
        </p:nvSpPr>
        <p:spPr>
          <a:xfrm>
            <a:off x="1645920" y="2011680"/>
            <a:ext cx="1280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0" b="1" dirty="0">
                <a:solidFill>
                  <a:srgbClr val="163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21000" dirty="0"/>
          </a:p>
        </p:txBody>
      </p:sp>
      <p:sp>
        <p:nvSpPr>
          <p:cNvPr id="4" name="Text 2"/>
          <p:cNvSpPr/>
          <p:nvPr/>
        </p:nvSpPr>
        <p:spPr>
          <a:xfrm>
            <a:off x="3017520" y="2743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5943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20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2026-08-20T18:49:09Z</dcterms:created>
  <dcterms:modified xsi:type="dcterms:W3CDTF">2026-08-20T18:49:09Z</dcterms:modified>
</cp:coreProperties>
</file>