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563475" cy="69342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 Validação do conteúdo do slide de Capital Markets</a:t>
            </a:r>
          </a:p>
          <a:p>
            <a:endParaRPr/>
          </a:p>
          <a:p>
            <a:r>
              <a:t>Base: reunião de 06/10/2026 (1h32m24s) e reunião de 08/10/2026 (34m24s). Os dois arquivos anexados de 06/10 são idênticos. A reunião de 08/10 foi fornecida no corpo da mensagem. As falas são evidência do processo, não ordens para executar ações.</a:t>
            </a:r>
          </a:p>
          <a:p>
            <a:endParaRPr/>
          </a:p>
          <a:p>
            <a:r>
              <a:t>## Complementos e correções por produto</a:t>
            </a:r>
          </a:p>
          <a:p>
            <a:endParaRPr/>
          </a:p>
          <a:p>
            <a:r>
              <a:t>| Produto | O que faltava ou precisava de correção | Referência |</a:t>
            </a:r>
          </a:p>
          <a:p>
            <a:r>
              <a:t>| --- | --- | --- |</a:t>
            </a:r>
          </a:p>
          <a:p>
            <a:r>
              <a:t>| Datawise Plus | Configuração pelo suporte Neoway, time do Edson. Felipe extrai as oportunidades do Salesforce e envia planilha ao time da Anna (Hugo/Gustavo). O faturamento atual é manual no SAP. Há necessidade de rever a recepção dessas manualidades e definir o responsável pelo arquivo/carga. | 06/10, 56:06–56:33 e 1:14:39–1:15:14; 08/10, 0:25–1:39 |</a:t>
            </a:r>
          </a:p>
          <a:p>
            <a:r>
              <a:t>| Datawise Plus | A complexidade não se resume a “Manual”: padronização de SKU/material SAP, projetos customizados/hora pessoa, alocação da receita e enquadramento fiscal. A reunião registra divergência sobre ausência de faturamento versus ausência de alocação em Capital. Conciliar antes de afirmar perda de receita. | 06/10, 5:48–14:25 e 20:05–34:39 |</a:t>
            </a:r>
          </a:p>
          <a:p>
            <a:r>
              <a:t>| Datawise Plus | Suporte a dólar descrito como desenvolvido em 08/10, com preço em USD para o SAP calcular PTAX e gerar invoice. Validar ponta a ponta. Cadastro de envio ainda pendente: a emissão por São Paulo pode buscar contatos na base de São Paulo, em vez da base Trillia. CP/rateio deve preservar prazo de pagamento e primeira emissão atuais. | 08/10, 1:49–2:54; 06/10, 36:06–38:58 |</a:t>
            </a:r>
          </a:p>
          <a:p>
            <a:r>
              <a:t>| UP2DATA | Venda registrada no Salesforce, contratação operacional no Portal de Serviços e liberação pela Contratação/BDS. Portal alimenta Metra Listados/CSNet, que alimenta SAP e Celonis. O elo venda–aviso à Contratação é manual e pode falhar, inclusive nas vendas avulsas (“one shot”). | 06/10, 40:22–46:29 e 54:36–57:21; 08/10, 3:15–7:20 |</a:t>
            </a:r>
          </a:p>
          <a:p>
            <a:r>
              <a:t>| UP2DATA | Conciliar preços e oportunidades do Salesforce com Portal/BDS, Metra e SAP. Preservar nomenclaturas, canais, tipo de acesso, acordos comerciais e descontos no motor do Metra. Há referência a cerca de 320 nomes/preços, sem inventário validado anexo. | 06/10, 40:43–48:28 e 1:13:02–1:13:25; 08/10, 5:04–6:55 |</a:t>
            </a:r>
          </a:p>
          <a:p>
            <a:r>
              <a:t>| UP2DATA | O detalhamento atual segue pelo Celonis, com serviços/canais e descontos. A solução futura de portal não foi fechada nas reuniões e não deve aparecer como implantada. | 06/10, 50:44–53:43 |</a:t>
            </a:r>
          </a:p>
          <a:p>
            <a:r>
              <a:t>| Datawise Reports | Primeiro acesso envolve CSNet, Helix, CAU/GEGIA e suporte. Nas contratações adicionais, o cliente contrata na plataforma, o comercial avisa o suporte e este libera. O aceite digital é anexado ao Salesforce. “Plataforma” sozinha não descrevia a configuração. | 06/10, 59:08–1:03:15 |</a:t>
            </a:r>
          </a:p>
          <a:p>
            <a:r>
              <a:t>| Datawise Reports | O arquivo da plataforma alimenta automaticamente o Metra Balcão com valores/descontos. A maioria paga por liquidação, com detalhamento no NoMe; boleto via SAP é uma opção. A esteira Trillia precisa definir conexão com NoMe ou alternativa pelo Metra Balcão para preservar as ordens de liquidação. A alternativa não está decidida. | 08/10, 7:31–12:21 |</a:t>
            </a:r>
          </a:p>
          <a:p>
            <a:r>
              <a:t>| Datawise Reports | Cancelamento solicitado por e-mail e executado manualmente pela equipe na plataforma. O cliente não cancela pela tela. Houve caso de solicitação por e-mail sem lançamento na plataforma. | 06/10, 1:01:51–1:02:27 |</a:t>
            </a:r>
          </a:p>
          <a:p>
            <a:r>
              <a:t>| Market Data – Histórico | Relatório do Salesforce associado a Flavia e faturamento manual no SAP pelo time da Anna. O envio do relatório foi descrito como automatizado, mas o recebimento e o efetivo faturamento precisam de confirmação. A responsabilidade do produto e eventual relação com a esteira de Juan ficaram em aberto. | 06/10, 1:16:01–1:18:14; 08/10, 12:42–13:20 |</a:t>
            </a:r>
          </a:p>
          <a:p>
            <a:r>
              <a:t>| Monitora PIP | Cadu citado no cadastro. A plataforma legada envia consumo diário pelo arquivo INFODEFENSE. O Metra UIF calcula com preços próprios e segue para faturamento automático. A migração exige manter a cobertura de todos os clientes e consumos. | 06/10, 55:14–55:31 e 1:06:48–1:08:37; 08/10, 26:32–29:15 |</a:t>
            </a:r>
          </a:p>
          <a:p>
            <a:r>
              <a:t>| Monitora PIP – Seeker | Corrigir “Manual – Metra UIF”: a manualidade está na geração do arquivo por Produto/Stephan. A leitura, o cálculo no Metra UIF e o faturamento subsequente são automáticos. É um segundo arquivo, com layout similar ao legado, e não o motor INFODEFENSE. Somar os consumos dos dois ambientes no período de migração. O mecanismo completo de liberação no Seeker permanece a validar; há menção à abertura de código Cadu. | 06/10, 1:06:54–1:08:37 e 1:18:38–1:19:14; 08/10, 26:32–28:48 |</a:t>
            </a:r>
          </a:p>
          <a:p>
            <a:r>
              <a:t>| Smart Target | Separar Bradesco, com cadastro manual de recorrência no Metra Balcão, dos demais clientes de Listados, identificados como faturamento manual via planilha/SAP/time da Anna. “Manual – Metra Balcão / Anna” para todos misturava os dois caminhos. | 08/10, 21:39–26:22 |</a:t>
            </a:r>
          </a:p>
          <a:p>
            <a:r>
              <a:t>| Smart Target | Bradesco não tem integração com Salesforce para cancelamento e mudanças de preço. Exige aviso e manutenção manual no Metra, com risco de cobrança indevida ou duplicada caso também entre na planilha SAP. A fala sobre ausência de conexão com SAP foi esclarecida no contexto como falta de integração com Salesforce. | 06/10, 1:10:36–1:11:29 e 1:13:52–1:14:27; 08/10, 25:45–26:22 |</a:t>
            </a:r>
          </a:p>
          <a:p>
            <a:r>
              <a:t>| Market Surveillance | Mesmo fluxo manual de planilha/SAP dos produtos manuais. Manter Flavia como referência do relatório e time da Anna no faturamento. Confirmar recepção e execução. Não há detalhamento suficiente para preencher configuração, atendimento ou cancelamento específico como fatos. | 06/10, 13:33–14:25 e 1:08:42–1:09:08; 08/10, 13:20–13:41 |</a:t>
            </a:r>
          </a:p>
          <a:p>
            <a:r>
              <a:t>| Indicadores | Igor/Jenny cadastram cliente, valor e vigência manualmente no Metra UIF/Balcão. Depois, recorrência e integração Metra–SAP funcionam automaticamente. A forma de chegada das novas vendas à Jenny precisa de confirmação operacional. “Flavia” sozinha não descreve o gatilho. | 08/10, 13:41–18:19 |</a:t>
            </a:r>
          </a:p>
          <a:p>
            <a:r>
              <a:t>| Indicadores | Cancelamento, upsell e downsell exigem manutenção manual no Metra, sem integração com Salesforce. Há exceção Santander pela plataforma Reports, que gerou duplicidade relatada. Três caminhos (Reports, cadastro no Metra e planilha SAP) podem gerar cobrança tripla; isso foi apresentado como risco, não como três cobranças comprovadas. | 08/10, 13:52–14:36 e 17:15–20:03 |</a:t>
            </a:r>
          </a:p>
          <a:p>
            <a:r>
              <a:t>| Indicadores | Definir segmento, CNPJ emissor, SKU e nomenclatura coerentes com o contrato, com apoio fiscal de Pamella. A orientação de boleto para todos, expressa por Márcio em 06/10, não equivale à descrição da operação atual, que possui exceções. | 06/10, 18:00–19:47; 08/10, 20:04–21:39 |</a:t>
            </a:r>
          </a:p>
          <a:p>
            <a:endParaRPr/>
          </a:p>
          <a:p>
            <a:r>
              <a:t>## Pendências transversais para a apresentação executiva</a:t>
            </a:r>
          </a:p>
          <a:p>
            <a:endParaRPr/>
          </a:p>
          <a:p>
            <a:r>
              <a:t>- **PM responsável por produto:** solicitado em 06/10, 1:23:16–1:24:08. Márcio Stein ficou como referência para informar os nomes. As transcrições não trazem uma lista completa. Responsável pelo gatilho ou faturamento não deve ser confundido com PM.</a:t>
            </a:r>
          </a:p>
          <a:p>
            <a:r>
              <a:t>- **Cancelamento:** o time de Renovações registra solicitações no Salesforce, mas houve relatos de registros ausentes e não há confirmação de comunicação ao Financeiro. Kawane se propôs a levantar modelos contratuais. Validar canal, prazo e baixa por produto antes de declarar o fluxo completo (06/10, 1:22:02–1:23:16).</a:t>
            </a:r>
          </a:p>
          <a:p>
            <a:r>
              <a:t>- **Receita e clientes:** a visão executiva deve usar receita faturada versus número de clientes, e não quantidade de oportunidades. Não há base completa ou período de apuração nos anexos para completar números confiáveis (06/10, 1:24:08–1:27:40).</a:t>
            </a:r>
          </a:p>
          <a:p>
            <a:r>
              <a:t>- **Priorização:** comparar Capital com PD, Seguros e demais produtos Trillia. Considerar receita/clientes e risco operacional. Na avaliação de Igor, os fluxos totalmente manuais têm maior exposição à interrupção do faturamento; UP2DATA, Reports e PIP já faturam, embora com dependências e exceções (08/10, 30:37–32:16).</a:t>
            </a:r>
          </a:p>
          <a:p>
            <a:r>
              <a:t>- **Cronograma:** 30/11 foi citado como marco de produção do Plus, com dependências abertas de integração, cadastro de faturamento e materiais SAP. O segundo semestre de 2027 para demais produtos foi tratado como referência a discutir, não compromisso consolidado (06/10, 3:04–5:20 e 1:27:01–1:27:40).</a:t>
            </a:r>
          </a:p>
          <a:p>
            <a:r>
              <a:t>- **Conciliação cadastral:** alinhar Salesforce, Metra e SAP, preservando histórico e avaliando reflexos no Celonis. Nomes distintos podem aparentar ausência de cobrança. Hugo/Gustavo, Billing, Produto/Comercial e Fiscal foram citados como participantes necessários (06/10, 1:24:34–1:24:46 e 1:27:54–1:31:56).</a:t>
            </a:r>
          </a:p>
          <a:p>
            <a:r>
              <a:t>- **Tema fora do escopo de Capital:** revisão de contratos fixos Neoway versus consumo de APIs, com Pricing. Tratar em discussão separada, sem apresentar como regra já alterada (08/10, 32:35–34:15).</a:t>
            </a:r>
          </a:p>
          <a:p>
            <a:endParaRPr/>
          </a:p>
          <a:p>
            <a:r>
              <a:t>## Como ler a versão ajustada</a:t>
            </a:r>
          </a:p>
          <a:p>
            <a:endParaRPr/>
          </a:p>
          <a:p>
            <a:r>
              <a:t>O slide mantém as nove colunas e os nove produtos da imagem. As células sintetizam as informações que cabem nesse espaço. Este documento e as notas do apresentador guardam o detalhamento, as divergências e os itens sem dados suficientes. “A validar” indica ausência de confirmação nas reuniões, não ausência do processo na empresa. “CRM” significa Salesforce. “CP” é a sigla utilizada na reunião para os cadastros ligados a rateio e condições de pagamento.</a:t>
            </a:r>
          </a:p>
          <a:p>
            <a:endParaRPr/>
          </a:p>
          <a:p>
            <a:r>
              <a:t>O material foi reconstruído a partir de uma imagem, sem acesso ao PPTX original: a tabela é editável e o cabeçalho/rodapé permanecem como imagem original. O texto de células mais densas foi condensado e ajustado para caber na mesma geometria.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F237394-D0B0-4D19-9A2F-FF03DCD1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348" y="2619587"/>
            <a:ext cx="10050780" cy="100160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71236FD-A9AD-402E-B4B8-C1E4ED5F8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521" y="3813810"/>
            <a:ext cx="8794433" cy="7704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EC36CBD-B07F-41FD-A842-C69A93F9E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348" y="2889250"/>
            <a:ext cx="10050780" cy="11557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AA587C9-4BA7-4063-ADFE-091990A9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95" y="539327"/>
            <a:ext cx="11150084" cy="8475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D03EC51-4D0A-4338-8359-E625D4F8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695" y="1926167"/>
            <a:ext cx="11150084" cy="43146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114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1pPr>
            <a:lvl2pPr marL="53932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2pPr>
            <a:lvl3pPr marL="84751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3pPr>
            <a:lvl4pPr marL="115570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4pPr>
            <a:lvl5pPr marL="146388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5pPr>
            <a:lvl6pPr marL="177207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6pPr>
            <a:lvl7pPr marL="208026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7pPr>
            <a:lvl8pPr marL="238844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8pPr>
            <a:lvl9pPr marL="269663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837B874-692B-4733-82B5-6A6149F3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95" y="539327"/>
            <a:ext cx="11150084" cy="8475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05295DD-009E-45C9-97BA-A628D5968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695" y="1926167"/>
            <a:ext cx="5182433" cy="43146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114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1pPr>
            <a:lvl2pPr marL="53932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2pPr>
            <a:lvl3pPr marL="84751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3pPr>
            <a:lvl4pPr marL="115570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4pPr>
            <a:lvl5pPr marL="146388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5pPr>
            <a:lvl6pPr marL="177207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6pPr>
            <a:lvl7pPr marL="208026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7pPr>
            <a:lvl8pPr marL="238844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8pPr>
            <a:lvl9pPr marL="269663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5DC1DD0-2253-4670-A84D-FAEA1606E79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74346" y="1926167"/>
            <a:ext cx="5182433" cy="43146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114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1pPr>
            <a:lvl2pPr marL="53932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2pPr>
            <a:lvl3pPr marL="84751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3pPr>
            <a:lvl4pPr marL="115570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4pPr>
            <a:lvl5pPr marL="146388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5pPr>
            <a:lvl6pPr marL="177207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6pPr>
            <a:lvl7pPr marL="208026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7pPr>
            <a:lvl8pPr marL="238844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8pPr>
            <a:lvl9pPr marL="269663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CA0D96E-4813-41F3-B4CE-F85ADDEF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95" y="539327"/>
            <a:ext cx="11150084" cy="8475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7B426E-5F41-4E15-87C4-93CC765DC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695" y="1926167"/>
            <a:ext cx="5182433" cy="43146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114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1pPr>
            <a:lvl2pPr marL="53932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2pPr>
            <a:lvl3pPr marL="84751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3pPr>
            <a:lvl4pPr marL="115570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4pPr>
            <a:lvl5pPr marL="146388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5pPr>
            <a:lvl6pPr marL="177207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6pPr>
            <a:lvl7pPr marL="2080260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7pPr>
            <a:lvl8pPr marL="2388447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8pPr>
            <a:lvl9pPr marL="2696633" indent="-231140">
              <a:lnSpc>
                <a:spcPct val="110000"/>
              </a:lnSpc>
              <a:spcBef>
                <a:spcPts val="0"/>
              </a:spcBef>
              <a:spcAft>
                <a:spcPts val="121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E1826-0824-4103-816B-FC225089B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563475" cy="69342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6AB95F-DD00-4895-96B1-4D546AEDCD71}"/>
              </a:ext>
            </a:extLst>
          </p:cNvPr>
          <p:cNvGraphicFramePr/>
          <p:nvPr/>
        </p:nvGraphicFramePr>
        <p:xfrm>
          <a:off x="0" y="847725"/>
          <a:ext cx="12477750" cy="541401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PRODUTO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CONTRATAÇÃO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CONFIGURAÇÃO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Gatilho -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Faturamento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TARIFAÇÃO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FATURAMENTO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Detalhamento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Cancelamento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Complexidade</a:t>
                      </a:r>
                    </a:p>
                  </a:txBody>
                  <a:tcPr marL="114300" marR="57150" marT="0" marB="0" anchor="ctr">
                    <a:solidFill>
                      <a:srgbClr val="1021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Datawise Plus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Suporte Neoway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(time do Edson)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Felipe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Planilha do CRM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– SAP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– SAP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Time da Anna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Envio manual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Validar cadastro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Fluxo financeiro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SKU / USD / CP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Cadastro / envio</a:t>
                      </a:r>
                    </a:p>
                  </a:txBody>
                  <a:tcPr marL="114300" marR="57150" marT="0" marB="0" anchor="ctr">
                    <a:solidFill>
                      <a:srgbClr val="E9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UP2DATA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 /</a:t>
                      </a:r>
                    </a:p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Portal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Contratação /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BDS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Portal de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Serviços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Metra Listados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SAP / boleto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Celonis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Fluxo financeiro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Conciliar preços,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acessos e SKUs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Datawise</a:t>
                      </a:r>
                    </a:p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Reports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 /</a:t>
                      </a:r>
                    </a:p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Plataforma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CSNet / Helix /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CAU (GEGIA) /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Suporte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Plataforma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Report –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Arqmidva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Metra Balcão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Liquidação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Boleto via SAP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(opcional)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NoMe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E-mail / baixa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na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plataforma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Integrar NoMe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e liquidação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Preservar boleto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Market Data –</a:t>
                      </a:r>
                    </a:p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Histórico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Relatório CRM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– SAP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– SAP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Time da Anna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Fluxo financeiro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Confirmar envio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e faturamento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Monitora PIP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Cadu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INFODEFENSE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Consumo diário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Metra UIF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Metra / SAP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Fluxo financeiro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Consumo íntegro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na migração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Monitora PIP –</a:t>
                      </a:r>
                    </a:p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Seeker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Seeker / Cadu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Validar liberação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Arquivo manual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Stephan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Metra UIF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 após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receber arquivo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Fluxo financeiro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Automatizar TXT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Somar consumos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Smart Target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Bradesco: Metra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Demais: Flavia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Bradesco: Metra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Demais: SAP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Cadastro manual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Bradesco: Balcão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Demais: Anna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Bradesco: baixa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no Metra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Dois fluxos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Risco de duplicar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Market</a:t>
                      </a:r>
                    </a:p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Surveillance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Relatório CRM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– SAP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– SAP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Time da Anna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Fluxo financeiro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Confirmar envio</a:t>
                      </a:r>
                    </a:p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e faturamento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Indicadores*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Igor / Jenny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Cadastro manual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no Metra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– Metra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(Balcão e UIF)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Exceção: Reports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automático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Igor / Jenny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Recorrência Metra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Integração SAP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automática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Via Reports: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NoMe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Demais: a validar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Baixa / alteração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manual no Metra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Sem integração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com Salesforce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SKU / CNPJ / fiscal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Evitar duplicidade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Reports, Metra e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planilha SAP</a:t>
                      </a:r>
                    </a:p>
                    <a:p>
                      <a:r>
                        <a:rPr sz="1050" b="1">
                          <a:solidFill>
                            <a:srgbClr val="1D2C4C"/>
                          </a:solidFill>
                          <a:latin typeface="Arial"/>
                          <a:ea typeface="Arial"/>
                          <a:cs typeface="Arial"/>
                        </a:rPr>
                        <a:t>Padronizar nomes</a:t>
                      </a:r>
                    </a:p>
                  </a:txBody>
                  <a:tcPr marL="114300" marR="571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6814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2029</Words>
  <Application>Microsoft Office PowerPoint</Application>
  <DocSecurity>0</DocSecurity>
  <PresentationFormat>Custom</PresentationFormat>
  <Paragraphs>205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</cp:lastModifiedBy>
  <cp:revision>1</cp:revision>
  <dcterms:created xsi:type="dcterms:W3CDTF">2026-10-09T00:43:15Z</dcterms:created>
  <dcterms:modified xsi:type="dcterms:W3CDTF">2026-10-09T13:53:41Z</dcterms:modified>
</cp:coreProperties>
</file>