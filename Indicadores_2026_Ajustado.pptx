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imagem codex-clipboard-35644ce9-6307-4b5f-9d3b-0ec0f91911b3.png. Ano 2026 confirmado pelo usuário. Valores preservados: Datawise Plus 13M, 58% pagamento no prazo, 19% estorno, 90 faturas (abrangência não confirmada), 2,77M em faturas estornadas. UP2DATA 8,46M, 56%, 14%, 274, 1,3M. Moeda não confirmada. O percentual de estorno não é recalculado pelo valor, pois o denominador não foi informado. Não se interpreta o complemento do pagamento no prazo como inadimplência. Redesign solicitado: composição tipográfica em duas colunas, fundo branco, sem tabela ou gráficos, com todos os indicadores editáveis.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7B31F5C3-4B73-40BE-B047-4D7B3C5E5B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181100"/>
          </a:xfrm>
          <a:prstGeom prst="rect">
            <a:avLst/>
          </a:prstGeom>
          <a:solidFill>
            <a:srgbClr val="DEEBF7"/>
          </a:solidFill>
          <a:ln w="0">
            <a:noFill/>
          </a:ln>
        </p:spPr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2425" y="267692"/>
            <a:ext cx="733425" cy="7028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AF25B4E-C5C3-4066-A724-A6D33A6C71E5}"/>
              </a:ext>
            </a:extLst>
          </p:cNvPr>
          <p:cNvSpPr>
            <a:spLocks noGrp="1"/>
          </p:cNvSpPr>
          <p:nvPr/>
        </p:nvSpPr>
        <p:spPr>
          <a:xfrm>
            <a:off x="1314450" y="4381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Faturamento 2026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B58EA3-03D1-4432-98E0-FCF2C850109F}"/>
              </a:ext>
            </a:extLst>
          </p:cNvPr>
          <p:cNvSpPr>
            <a:spLocks noGrp="1"/>
          </p:cNvSpPr>
          <p:nvPr/>
        </p:nvSpPr>
        <p:spPr>
          <a:xfrm>
            <a:off x="12049125" y="542925"/>
            <a:ext cx="2667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Capital Markets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0A42400-48B8-44C2-B9B4-EEF48B477F21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609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25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Datawise Plus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306A1F-0D9B-47B4-9007-26EC656F857E}"/>
              </a:ext>
            </a:extLst>
          </p:cNvPr>
          <p:cNvSpPr>
            <a:spLocks noGrp="1"/>
          </p:cNvSpPr>
          <p:nvPr/>
        </p:nvSpPr>
        <p:spPr>
          <a:xfrm>
            <a:off x="857250" y="2609850"/>
            <a:ext cx="6096000" cy="9525"/>
          </a:xfrm>
          <a:prstGeom prst="rect">
            <a:avLst/>
          </a:prstGeom>
          <a:solidFill>
            <a:srgbClr val="D7E0EB"/>
          </a:solidFill>
          <a:ln w="0">
            <a:noFill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F89FE6B-1403-4549-8D6C-0BE26FA63670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Valor total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66CBD2-C4D9-4DE7-80FA-13435CA4EDBC}"/>
              </a:ext>
            </a:extLst>
          </p:cNvPr>
          <p:cNvSpPr>
            <a:spLocks noGrp="1"/>
          </p:cNvSpPr>
          <p:nvPr/>
        </p:nvSpPr>
        <p:spPr>
          <a:xfrm>
            <a:off x="5334000" y="293370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13 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DD9A1AC-9BC7-423D-A2BA-DE09543B25C5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Pagamento no prazo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BC70264-1510-4BC0-810A-9D5A7EE6F0C9}"/>
              </a:ext>
            </a:extLst>
          </p:cNvPr>
          <p:cNvSpPr>
            <a:spLocks noGrp="1"/>
          </p:cNvSpPr>
          <p:nvPr/>
        </p:nvSpPr>
        <p:spPr>
          <a:xfrm>
            <a:off x="5334000" y="3686175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58%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8B519CD-B395-44D7-8F21-E994785EC109}"/>
              </a:ext>
            </a:extLst>
          </p:cNvPr>
          <p:cNvSpPr>
            <a:spLocks noGrp="1"/>
          </p:cNvSpPr>
          <p:nvPr/>
        </p:nvSpPr>
        <p:spPr>
          <a:xfrm>
            <a:off x="857250" y="450532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Estornos¹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2C287E3-FB06-4276-881A-FB9D346E9188}"/>
              </a:ext>
            </a:extLst>
          </p:cNvPr>
          <p:cNvSpPr>
            <a:spLocks noGrp="1"/>
          </p:cNvSpPr>
          <p:nvPr/>
        </p:nvSpPr>
        <p:spPr>
          <a:xfrm>
            <a:off x="5334000" y="443865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BA671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6715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4814A71-1068-4712-85C7-C90853475895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Quantidade de faturas¹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C0113B8-BEA6-4B9E-B407-06DC9674FD99}"/>
              </a:ext>
            </a:extLst>
          </p:cNvPr>
          <p:cNvSpPr>
            <a:spLocks noGrp="1"/>
          </p:cNvSpPr>
          <p:nvPr/>
        </p:nvSpPr>
        <p:spPr>
          <a:xfrm>
            <a:off x="5334000" y="5191125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E671CC7-B5EB-4A3E-808C-57DEA083D0BC}"/>
              </a:ext>
            </a:extLst>
          </p:cNvPr>
          <p:cNvSpPr>
            <a:spLocks noGrp="1"/>
          </p:cNvSpPr>
          <p:nvPr/>
        </p:nvSpPr>
        <p:spPr>
          <a:xfrm>
            <a:off x="857250" y="601027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Valor de faturas estornadas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E9417B3-A7A7-4DA3-91B6-031F271D9154}"/>
              </a:ext>
            </a:extLst>
          </p:cNvPr>
          <p:cNvSpPr>
            <a:spLocks noGrp="1"/>
          </p:cNvSpPr>
          <p:nvPr/>
        </p:nvSpPr>
        <p:spPr>
          <a:xfrm>
            <a:off x="5334000" y="594360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BA671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6715"/>
                </a:solidFill>
                <a:latin typeface="Arial"/>
                <a:ea typeface="Arial"/>
                <a:cs typeface="Arial"/>
              </a:rPr>
              <a:t>2,77 M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543C12B-E43E-4DD6-958D-36A55A132D07}"/>
              </a:ext>
            </a:extLst>
          </p:cNvPr>
          <p:cNvSpPr>
            <a:spLocks noGrp="1"/>
          </p:cNvSpPr>
          <p:nvPr/>
        </p:nvSpPr>
        <p:spPr>
          <a:xfrm>
            <a:off x="8286750" y="2047875"/>
            <a:ext cx="609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25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UP2DATA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0ED374-14B5-4EBF-A602-FD12BA8E2AFF}"/>
              </a:ext>
            </a:extLst>
          </p:cNvPr>
          <p:cNvSpPr>
            <a:spLocks noGrp="1"/>
          </p:cNvSpPr>
          <p:nvPr/>
        </p:nvSpPr>
        <p:spPr>
          <a:xfrm>
            <a:off x="8286750" y="2609850"/>
            <a:ext cx="6096000" cy="9525"/>
          </a:xfrm>
          <a:prstGeom prst="rect">
            <a:avLst/>
          </a:prstGeom>
          <a:solidFill>
            <a:srgbClr val="D7E0EB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29B26A3-4D85-477F-B347-B63DA838753A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Valor total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287835E-B661-482E-A6FA-E9474F8D363C}"/>
              </a:ext>
            </a:extLst>
          </p:cNvPr>
          <p:cNvSpPr>
            <a:spLocks noGrp="1"/>
          </p:cNvSpPr>
          <p:nvPr/>
        </p:nvSpPr>
        <p:spPr>
          <a:xfrm>
            <a:off x="12763500" y="293370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8,46 M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DD90DE9-AE4D-4DCB-A8B2-1E984A8199C7}"/>
              </a:ext>
            </a:extLst>
          </p:cNvPr>
          <p:cNvSpPr>
            <a:spLocks noGrp="1"/>
          </p:cNvSpPr>
          <p:nvPr/>
        </p:nvSpPr>
        <p:spPr>
          <a:xfrm>
            <a:off x="8286750" y="3752850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Pagamento no prazo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6611164-BCB8-4C45-BD9A-CB81747F4571}"/>
              </a:ext>
            </a:extLst>
          </p:cNvPr>
          <p:cNvSpPr>
            <a:spLocks noGrp="1"/>
          </p:cNvSpPr>
          <p:nvPr/>
        </p:nvSpPr>
        <p:spPr>
          <a:xfrm>
            <a:off x="12763500" y="3686175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56%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E03E8AF-18A8-43E2-9F74-43B0D0D34773}"/>
              </a:ext>
            </a:extLst>
          </p:cNvPr>
          <p:cNvSpPr>
            <a:spLocks noGrp="1"/>
          </p:cNvSpPr>
          <p:nvPr/>
        </p:nvSpPr>
        <p:spPr>
          <a:xfrm>
            <a:off x="8286750" y="450532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Estornos¹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83C19E7-03AF-42ED-8384-59BA678D7AAC}"/>
              </a:ext>
            </a:extLst>
          </p:cNvPr>
          <p:cNvSpPr>
            <a:spLocks noGrp="1"/>
          </p:cNvSpPr>
          <p:nvPr/>
        </p:nvSpPr>
        <p:spPr>
          <a:xfrm>
            <a:off x="12763500" y="443865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BA671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6715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57E1D3F-1649-4157-9445-4C44BC826D1E}"/>
              </a:ext>
            </a:extLst>
          </p:cNvPr>
          <p:cNvSpPr>
            <a:spLocks noGrp="1"/>
          </p:cNvSpPr>
          <p:nvPr/>
        </p:nvSpPr>
        <p:spPr>
          <a:xfrm>
            <a:off x="8286750" y="5257800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Quantidade de faturas¹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32A94B0-8D23-4C2D-8DB5-88A5AC31164D}"/>
              </a:ext>
            </a:extLst>
          </p:cNvPr>
          <p:cNvSpPr>
            <a:spLocks noGrp="1"/>
          </p:cNvSpPr>
          <p:nvPr/>
        </p:nvSpPr>
        <p:spPr>
          <a:xfrm>
            <a:off x="12763500" y="5191125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274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7F6E338-E63A-4C80-A43E-BA15510B484F}"/>
              </a:ext>
            </a:extLst>
          </p:cNvPr>
          <p:cNvSpPr>
            <a:spLocks noGrp="1"/>
          </p:cNvSpPr>
          <p:nvPr/>
        </p:nvSpPr>
        <p:spPr>
          <a:xfrm>
            <a:off x="8286750" y="601027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Valor de faturas estornadas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B8080DB-E328-40FE-B0CB-25F0E4F75CC2}"/>
              </a:ext>
            </a:extLst>
          </p:cNvPr>
          <p:cNvSpPr>
            <a:spLocks noGrp="1"/>
          </p:cNvSpPr>
          <p:nvPr/>
        </p:nvSpPr>
        <p:spPr>
          <a:xfrm>
            <a:off x="12763500" y="594360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BA671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A6715"/>
                </a:solidFill>
                <a:latin typeface="Arial"/>
                <a:ea typeface="Arial"/>
                <a:cs typeface="Arial"/>
              </a:rPr>
              <a:t>1,3 M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C6AF89D-5F51-4804-AC7F-62680B022848}"/>
              </a:ext>
            </a:extLst>
          </p:cNvPr>
          <p:cNvSpPr>
            <a:spLocks noGrp="1"/>
          </p:cNvSpPr>
          <p:nvPr/>
        </p:nvSpPr>
        <p:spPr>
          <a:xfrm>
            <a:off x="857250" y="7696200"/>
            <a:ext cx="1352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M = milhões. ¹ Moeda, abrangência da quantidade de faturas e base do percentual de estorno a confirmar.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81D7C58-000A-4AE5-9495-E241A6733045}"/>
              </a:ext>
            </a:extLst>
          </p:cNvPr>
          <p:cNvSpPr>
            <a:spLocks noGrp="1"/>
          </p:cNvSpPr>
          <p:nvPr/>
        </p:nvSpPr>
        <p:spPr>
          <a:xfrm>
            <a:off x="857250" y="8058150"/>
            <a:ext cx="13525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Fonte: dados fornecidos para 2026.</a:t>
            </a:r>
          </a:p>
        </p:txBody>
      </p:sp>
    </p:spTree>
    <p:extLst>
      <p:ext uri="{BB962C8B-B14F-4D97-AF65-F5344CB8AC3E}">
        <p14:creationId xmlns:p14="http://schemas.microsoft.com/office/powerpoint/2010/main" val="13043847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DocSecurity>0</DocSecurity>
  <PresentationFormat>Personalizar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Diniz</cp:lastModifiedBy>
  <cp:revision>1</cp:revision>
  <dcterms:created xsi:type="dcterms:W3CDTF">2026-09-28T00:59:23Z</dcterms:created>
  <dcterms:modified xsi:type="dcterms:W3CDTF">2026-09-28T01:34:03Z</dcterms:modified>
</cp:coreProperties>
</file>