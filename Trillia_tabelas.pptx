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Recriado a partir de tabelas Trillia.pptx.pdf. Tabelas nativas editáveis; cabeçalho e rodapé preservados do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Recriado a partir de tabelas Trillia.pptx.pdf. Tabelas nativas editáveis; cabeçalho e rodapé preservados do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8255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</p:spPr>
      </p:pic>
      <p:graphicFrame>
        <p:nvGraphicFramePr>
          <p:cNvPr id="41" name="Table 40"/>
          <p:cNvGraphicFramePr/>
          <p:nvPr/>
        </p:nvGraphicFramePr>
        <p:xfrm>
          <a:off x="507492" y="920496"/>
          <a:ext cx="5524500" cy="4896612"/>
        </p:xfrm>
        <a:graphic>
          <a:graphicData uri="http://schemas.openxmlformats.org/drawingml/2006/table">
            <a:tbl>
              <a:tblPr/>
              <a:tblGrid>
                <a:gridCol w="890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SISTEMA</a:t>
                      </a:r>
                    </a:p>
                  </a:txBody>
                  <a:tcPr marL="114300" marR="38100" marT="0" marB="76200" anchor="b">
                    <a:solidFill>
                      <a:srgbClr val="0B1E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marL="114300" marR="38100" marT="0" marB="76200" anchor="b">
                    <a:solidFill>
                      <a:srgbClr val="0B1E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marL="114300" marR="38100" marT="0" marB="76200" anchor="b">
                    <a:solidFill>
                      <a:srgbClr val="0B1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601">
                <a:tc rowSpan="3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1E5B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</a:p>
                  </a:txBody>
                  <a:tcPr marL="114300" marR="38100" marT="0" marB="0" anchor="ctr"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Definir e aprovar orçamento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Leandro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01">
                <a:tc v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Construir novo Metranet – Trillia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Vitor Lima / Living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01">
                <a:tc v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Integrar</a:t>
                      </a:r>
                      <a:r>
                        <a:rPr sz="1200" dirty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 Salesforce </a:t>
                      </a:r>
                      <a:r>
                        <a:rPr sz="1200" dirty="0" err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ao</a:t>
                      </a:r>
                      <a:r>
                        <a:rPr sz="1200" dirty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dirty="0" err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  <a:endParaRPr sz="1200" dirty="0">
                        <a:solidFill>
                          <a:srgbClr val="1D294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Marija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6" b="1">
                          <a:solidFill>
                            <a:srgbClr val="0B1E5B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38100" marT="0" marB="0" anchor="ctr">
                    <a:solidFill>
                      <a:srgbClr val="9CC3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Validar oportunidades e rateios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01">
                <a:tc rowSpan="3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1E5B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</a:txBody>
                  <a:tcPr marL="114300" marR="38100" marT="0" marB="0" anchor="ctr">
                    <a:solidFill>
                      <a:srgbClr val="A9D8C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Revisar materiais e SKUs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Phelipe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01">
                <a:tc v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Ajustar materiais no SAP + comunicar</a:t>
                      </a:r>
                    </a:p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clientes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Atendimento / SAP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601">
                <a:tc v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Configurar local da fatura – Capital</a:t>
                      </a:r>
                    </a:p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Markets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Tiago Talarico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601">
                <a:tc row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1E5B"/>
                          </a:solidFill>
                          <a:latin typeface="Arial"/>
                          <a:ea typeface="Arial"/>
                          <a:cs typeface="Arial"/>
                        </a:rPr>
                        <a:t>Gestão</a:t>
                      </a:r>
                    </a:p>
                  </a:txBody>
                  <a:tcPr marL="114300" marR="38100" marT="0" marB="0" anchor="ctr">
                    <a:solidFill>
                      <a:srgbClr val="C9D2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Papéis e responsabilidades + formalização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Lucas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601">
                <a:tc v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Priorizar próximos produtos Capital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Lucas / Igor / Stein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601">
                <a:tc rowSpan="3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1E5B"/>
                          </a:solidFill>
                          <a:latin typeface="Arial"/>
                          <a:ea typeface="Arial"/>
                          <a:cs typeface="Arial"/>
                        </a:rPr>
                        <a:t>Go-live</a:t>
                      </a:r>
                    </a:p>
                  </a:txBody>
                  <a:tcPr marL="114300" marR="38100" marT="0" marB="0" anchor="ctr">
                    <a:solidFill>
                      <a:srgbClr val="FFE7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Testes ponta a ponta + produção paralela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Marija / Vitor /</a:t>
                      </a:r>
                    </a:p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Talarico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601">
                <a:tc v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Desligar Metranet CSNet e ligar Trillia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445777"/>
                          </a:solidFill>
                          <a:latin typeface="Arial"/>
                          <a:ea typeface="Arial"/>
                          <a:cs typeface="Arial"/>
                        </a:rPr>
                        <a:t>Igor / Vitor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601">
                <a:tc v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96" b="1" dirty="0">
                          <a:solidFill>
                            <a:srgbClr val="0B1E5B"/>
                          </a:solidFill>
                          <a:latin typeface="Arial"/>
                          <a:ea typeface="Arial"/>
                          <a:cs typeface="Arial"/>
                        </a:rPr>
                        <a:t>GO-LIVE DATAWISE PLUS</a:t>
                      </a:r>
                    </a:p>
                  </a:txBody>
                  <a:tcPr marL="114300" marR="38100" marT="0" marB="0" anchor="ctr">
                    <a:solidFill>
                      <a:srgbClr val="FFF6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/>
          <p:nvPr/>
        </p:nvGraphicFramePr>
        <p:xfrm>
          <a:off x="6031992" y="920496"/>
          <a:ext cx="5652517" cy="4896612"/>
        </p:xfrm>
        <a:graphic>
          <a:graphicData uri="http://schemas.openxmlformats.org/drawingml/2006/table">
            <a:tbl>
              <a:tblPr/>
              <a:tblGrid>
                <a:gridCol w="434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48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0416">
                <a:tc gridSpan="4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NOV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8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114300" marR="38100" marT="0" marB="0" anchor="ctr">
                    <a:solidFill>
                      <a:srgbClr val="2462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3DEEC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D9E2E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D9E2EE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5EBF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5EBF3"/>
                        </a:gs>
                        <a:gs pos="100000">
                          <a:srgbClr val="EDF1F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DF1F6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DFEFE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3601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8DDB3"/>
                        </a:gs>
                        <a:gs pos="100000">
                          <a:srgbClr val="E8DDB3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8DDB3"/>
                        </a:gs>
                        <a:gs pos="100000">
                          <a:srgbClr val="ECE2B9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CE2B9"/>
                        </a:gs>
                        <a:gs pos="100000">
                          <a:srgbClr val="ECE2B9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CE2B9"/>
                        </a:gs>
                        <a:gs pos="100000">
                          <a:srgbClr val="ECE2B9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ECE2B9"/>
                        </a:gs>
                        <a:gs pos="100000">
                          <a:srgbClr val="F0E6BF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0E6BF"/>
                        </a:gs>
                        <a:gs pos="100000">
                          <a:srgbClr val="F4EBC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4EBC6"/>
                        </a:gs>
                        <a:gs pos="100000">
                          <a:srgbClr val="F4EBC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4EBC6"/>
                        </a:gs>
                        <a:gs pos="100000">
                          <a:srgbClr val="F4EBC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4EBC6"/>
                        </a:gs>
                        <a:gs pos="100000">
                          <a:srgbClr val="F4EBC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4EBC6"/>
                        </a:gs>
                        <a:gs pos="100000">
                          <a:srgbClr val="F9F0CE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9F0CE"/>
                        </a:gs>
                        <a:gs pos="100000">
                          <a:srgbClr val="FEF5D5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EF5D5"/>
                        </a:gs>
                        <a:gs pos="100000">
                          <a:srgbClr val="FEF5D5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38100" marT="0" marB="0" anchor="ctr">
                    <a:gradFill rotWithShape="1">
                      <a:gsLst>
                        <a:gs pos="0">
                          <a:srgbClr val="FEF5D5"/>
                        </a:gs>
                        <a:gs pos="100000">
                          <a:srgbClr val="FDFEFE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1457F1D-7548-4D54-908F-A878AAA9A698}"/>
              </a:ext>
            </a:extLst>
          </p:cNvPr>
          <p:cNvSpPr>
            <a:spLocks noGrp="1"/>
          </p:cNvSpPr>
          <p:nvPr/>
        </p:nvSpPr>
        <p:spPr>
          <a:xfrm>
            <a:off x="1397508" y="1810512"/>
            <a:ext cx="10287000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CAA1B-3C83-4E5A-95D6-4CD85EA7712F}"/>
              </a:ext>
            </a:extLst>
          </p:cNvPr>
          <p:cNvSpPr>
            <a:spLocks noGrp="1"/>
          </p:cNvSpPr>
          <p:nvPr/>
        </p:nvSpPr>
        <p:spPr>
          <a:xfrm>
            <a:off x="1397508" y="2171700"/>
            <a:ext cx="10287000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82751-BB52-4C11-AA3F-D09D68DDBECA}"/>
              </a:ext>
            </a:extLst>
          </p:cNvPr>
          <p:cNvSpPr>
            <a:spLocks noGrp="1"/>
          </p:cNvSpPr>
          <p:nvPr/>
        </p:nvSpPr>
        <p:spPr>
          <a:xfrm>
            <a:off x="1397508" y="3270504"/>
            <a:ext cx="10287000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06F8E-376B-4814-965F-6BDBF595B0B3}"/>
              </a:ext>
            </a:extLst>
          </p:cNvPr>
          <p:cNvSpPr>
            <a:spLocks noGrp="1"/>
          </p:cNvSpPr>
          <p:nvPr/>
        </p:nvSpPr>
        <p:spPr>
          <a:xfrm>
            <a:off x="1397508" y="3631692"/>
            <a:ext cx="10287000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7F8D25-522A-4241-B06E-57DFED7F0EB3}"/>
              </a:ext>
            </a:extLst>
          </p:cNvPr>
          <p:cNvSpPr>
            <a:spLocks noGrp="1"/>
          </p:cNvSpPr>
          <p:nvPr/>
        </p:nvSpPr>
        <p:spPr>
          <a:xfrm>
            <a:off x="1397508" y="4363212"/>
            <a:ext cx="10287000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E6C5A1-B7D7-47AA-9296-679F6D775E88}"/>
              </a:ext>
            </a:extLst>
          </p:cNvPr>
          <p:cNvSpPr>
            <a:spLocks noGrp="1"/>
          </p:cNvSpPr>
          <p:nvPr/>
        </p:nvSpPr>
        <p:spPr>
          <a:xfrm>
            <a:off x="1397508" y="5093208"/>
            <a:ext cx="10287000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844F45-2D9E-4EAF-AE31-537D72312227}"/>
              </a:ext>
            </a:extLst>
          </p:cNvPr>
          <p:cNvSpPr>
            <a:spLocks noGrp="1"/>
          </p:cNvSpPr>
          <p:nvPr/>
        </p:nvSpPr>
        <p:spPr>
          <a:xfrm>
            <a:off x="507492" y="2534412"/>
            <a:ext cx="11177016" cy="12192"/>
          </a:xfrm>
          <a:prstGeom prst="rect">
            <a:avLst/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0BD219-45A4-40B3-9417-2C9B6F5B6003}"/>
              </a:ext>
            </a:extLst>
          </p:cNvPr>
          <p:cNvSpPr>
            <a:spLocks noGrp="1"/>
          </p:cNvSpPr>
          <p:nvPr/>
        </p:nvSpPr>
        <p:spPr>
          <a:xfrm>
            <a:off x="507492" y="2901696"/>
            <a:ext cx="11177016" cy="12192"/>
          </a:xfrm>
          <a:prstGeom prst="rect">
            <a:avLst/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02C358-083E-4692-9FC3-389426E3ED70}"/>
              </a:ext>
            </a:extLst>
          </p:cNvPr>
          <p:cNvSpPr>
            <a:spLocks noGrp="1"/>
          </p:cNvSpPr>
          <p:nvPr/>
        </p:nvSpPr>
        <p:spPr>
          <a:xfrm>
            <a:off x="507492" y="3994404"/>
            <a:ext cx="11177016" cy="12192"/>
          </a:xfrm>
          <a:prstGeom prst="rect">
            <a:avLst/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EF3FA8-D658-4A40-822C-EDC812B64705}"/>
              </a:ext>
            </a:extLst>
          </p:cNvPr>
          <p:cNvSpPr>
            <a:spLocks noGrp="1"/>
          </p:cNvSpPr>
          <p:nvPr/>
        </p:nvSpPr>
        <p:spPr>
          <a:xfrm>
            <a:off x="507492" y="4724400"/>
            <a:ext cx="11177016" cy="12192"/>
          </a:xfrm>
          <a:prstGeom prst="rect">
            <a:avLst/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3FDA4E-A3AF-423A-B1F2-F6227A43475A}"/>
              </a:ext>
            </a:extLst>
          </p:cNvPr>
          <p:cNvSpPr>
            <a:spLocks noGrp="1"/>
          </p:cNvSpPr>
          <p:nvPr/>
        </p:nvSpPr>
        <p:spPr>
          <a:xfrm>
            <a:off x="6070600" y="1564640"/>
            <a:ext cx="78740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0EFA87-3003-4482-B2C4-187349C3D43E}"/>
              </a:ext>
            </a:extLst>
          </p:cNvPr>
          <p:cNvSpPr>
            <a:spLocks noGrp="1"/>
          </p:cNvSpPr>
          <p:nvPr/>
        </p:nvSpPr>
        <p:spPr>
          <a:xfrm>
            <a:off x="6946900" y="152654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17/09*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B8BE4F-3F90-46E0-94F1-0724D29232CA}"/>
              </a:ext>
            </a:extLst>
          </p:cNvPr>
          <p:cNvSpPr>
            <a:spLocks noGrp="1"/>
          </p:cNvSpPr>
          <p:nvPr/>
        </p:nvSpPr>
        <p:spPr>
          <a:xfrm>
            <a:off x="6944360" y="1929130"/>
            <a:ext cx="2527300" cy="137160"/>
          </a:xfrm>
          <a:prstGeom prst="roundRect">
            <a:avLst>
              <a:gd name="adj" fmla="val 50000"/>
            </a:avLst>
          </a:prstGeom>
          <a:solidFill>
            <a:srgbClr val="DD8323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95A00E-E1E4-4E20-994C-43D760E7E1A4}"/>
              </a:ext>
            </a:extLst>
          </p:cNvPr>
          <p:cNvSpPr>
            <a:spLocks noGrp="1"/>
          </p:cNvSpPr>
          <p:nvPr/>
        </p:nvSpPr>
        <p:spPr>
          <a:xfrm>
            <a:off x="9556750" y="189103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BD68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6813"/>
                </a:solidFill>
                <a:latin typeface="Arial"/>
                <a:ea typeface="Arial"/>
                <a:cs typeface="Arial"/>
              </a:rPr>
              <a:t>30/10 · 1ª entrega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7EDAE6-763B-4ABE-97D4-6DA4C56FD5CA}"/>
              </a:ext>
            </a:extLst>
          </p:cNvPr>
          <p:cNvSpPr>
            <a:spLocks noGrp="1"/>
          </p:cNvSpPr>
          <p:nvPr/>
        </p:nvSpPr>
        <p:spPr>
          <a:xfrm>
            <a:off x="6070600" y="2289810"/>
            <a:ext cx="166116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74A2AC-F821-4FCF-9FD9-0B815E7ED085}"/>
              </a:ext>
            </a:extLst>
          </p:cNvPr>
          <p:cNvSpPr>
            <a:spLocks noGrp="1"/>
          </p:cNvSpPr>
          <p:nvPr/>
        </p:nvSpPr>
        <p:spPr>
          <a:xfrm>
            <a:off x="7816850" y="225171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02/10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435917-A61A-429E-BDE5-DBDD0DDB3CD6}"/>
              </a:ext>
            </a:extLst>
          </p:cNvPr>
          <p:cNvSpPr>
            <a:spLocks noGrp="1"/>
          </p:cNvSpPr>
          <p:nvPr/>
        </p:nvSpPr>
        <p:spPr>
          <a:xfrm>
            <a:off x="6070600" y="2654300"/>
            <a:ext cx="166116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9B783D-843F-4590-845F-C95C790E9969}"/>
              </a:ext>
            </a:extLst>
          </p:cNvPr>
          <p:cNvSpPr>
            <a:spLocks noGrp="1"/>
          </p:cNvSpPr>
          <p:nvPr/>
        </p:nvSpPr>
        <p:spPr>
          <a:xfrm>
            <a:off x="7816850" y="261620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02/10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A6CF84B-1157-44E6-824B-277196B2ECE1}"/>
              </a:ext>
            </a:extLst>
          </p:cNvPr>
          <p:cNvSpPr>
            <a:spLocks noGrp="1"/>
          </p:cNvSpPr>
          <p:nvPr/>
        </p:nvSpPr>
        <p:spPr>
          <a:xfrm>
            <a:off x="6506210" y="3017520"/>
            <a:ext cx="122555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0D2034-F7E5-44D5-AB20-6382758F6424}"/>
              </a:ext>
            </a:extLst>
          </p:cNvPr>
          <p:cNvSpPr>
            <a:spLocks noGrp="1"/>
          </p:cNvSpPr>
          <p:nvPr/>
        </p:nvSpPr>
        <p:spPr>
          <a:xfrm>
            <a:off x="7816850" y="297942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02/10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CE4379-CBBC-4E48-8192-41979A656D58}"/>
              </a:ext>
            </a:extLst>
          </p:cNvPr>
          <p:cNvSpPr>
            <a:spLocks noGrp="1"/>
          </p:cNvSpPr>
          <p:nvPr/>
        </p:nvSpPr>
        <p:spPr>
          <a:xfrm>
            <a:off x="7816850" y="3382010"/>
            <a:ext cx="165481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BD0305-298B-44E0-BB8C-19B4AF0C3C86}"/>
              </a:ext>
            </a:extLst>
          </p:cNvPr>
          <p:cNvSpPr>
            <a:spLocks noGrp="1"/>
          </p:cNvSpPr>
          <p:nvPr/>
        </p:nvSpPr>
        <p:spPr>
          <a:xfrm>
            <a:off x="9556750" y="334391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30/10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E11FE0C-7B01-4E2E-AE80-728BB6D03156}"/>
              </a:ext>
            </a:extLst>
          </p:cNvPr>
          <p:cNvSpPr>
            <a:spLocks noGrp="1"/>
          </p:cNvSpPr>
          <p:nvPr/>
        </p:nvSpPr>
        <p:spPr>
          <a:xfrm>
            <a:off x="6070600" y="3745230"/>
            <a:ext cx="166116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0DEB0-A98F-4FA2-BD29-4878C1BF7C92}"/>
              </a:ext>
            </a:extLst>
          </p:cNvPr>
          <p:cNvSpPr>
            <a:spLocks noGrp="1"/>
          </p:cNvSpPr>
          <p:nvPr/>
        </p:nvSpPr>
        <p:spPr>
          <a:xfrm>
            <a:off x="7816850" y="370713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02/10*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C849F3C-7F45-4E5A-B92A-D4993D1B329C}"/>
              </a:ext>
            </a:extLst>
          </p:cNvPr>
          <p:cNvSpPr>
            <a:spLocks noGrp="1"/>
          </p:cNvSpPr>
          <p:nvPr/>
        </p:nvSpPr>
        <p:spPr>
          <a:xfrm>
            <a:off x="6070600" y="4109720"/>
            <a:ext cx="166116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230EAA-1E91-4FC7-92D5-2746E593CD1E}"/>
              </a:ext>
            </a:extLst>
          </p:cNvPr>
          <p:cNvSpPr>
            <a:spLocks noGrp="1"/>
          </p:cNvSpPr>
          <p:nvPr/>
        </p:nvSpPr>
        <p:spPr>
          <a:xfrm>
            <a:off x="7816850" y="407162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02/10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6CDB7C5-6C48-4120-A72B-D4A7930DF965}"/>
              </a:ext>
            </a:extLst>
          </p:cNvPr>
          <p:cNvSpPr>
            <a:spLocks noGrp="1"/>
          </p:cNvSpPr>
          <p:nvPr/>
        </p:nvSpPr>
        <p:spPr>
          <a:xfrm>
            <a:off x="7816850" y="4472940"/>
            <a:ext cx="35560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531299-C411-495B-8D38-578E30CC86EE}"/>
              </a:ext>
            </a:extLst>
          </p:cNvPr>
          <p:cNvSpPr>
            <a:spLocks noGrp="1"/>
          </p:cNvSpPr>
          <p:nvPr/>
        </p:nvSpPr>
        <p:spPr>
          <a:xfrm>
            <a:off x="8261350" y="4434840"/>
            <a:ext cx="2057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05/10*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B9AC3F0-E929-490D-B8CA-1A69C283C0EE}"/>
              </a:ext>
            </a:extLst>
          </p:cNvPr>
          <p:cNvSpPr>
            <a:spLocks noGrp="1"/>
          </p:cNvSpPr>
          <p:nvPr/>
        </p:nvSpPr>
        <p:spPr>
          <a:xfrm>
            <a:off x="9555480" y="4824730"/>
            <a:ext cx="1661160" cy="182880"/>
          </a:xfrm>
          <a:prstGeom prst="roundRect">
            <a:avLst>
              <a:gd name="adj" fmla="val 41667"/>
            </a:avLst>
          </a:prstGeom>
          <a:solidFill>
            <a:srgbClr val="2462B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8B10DCA-1D52-48C2-9DDE-561111E1490A}"/>
              </a:ext>
            </a:extLst>
          </p:cNvPr>
          <p:cNvSpPr>
            <a:spLocks noGrp="1"/>
          </p:cNvSpPr>
          <p:nvPr/>
        </p:nvSpPr>
        <p:spPr>
          <a:xfrm>
            <a:off x="11292840" y="5205730"/>
            <a:ext cx="355600" cy="137160"/>
          </a:xfrm>
          <a:prstGeom prst="roundRect">
            <a:avLst>
              <a:gd name="adj" fmla="val 50000"/>
            </a:avLst>
          </a:prstGeom>
          <a:solidFill>
            <a:srgbClr val="0B1E5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E8B3F1-136A-4120-95A1-EEF1684F7711}"/>
              </a:ext>
            </a:extLst>
          </p:cNvPr>
          <p:cNvSpPr>
            <a:spLocks noGrp="1"/>
          </p:cNvSpPr>
          <p:nvPr/>
        </p:nvSpPr>
        <p:spPr>
          <a:xfrm>
            <a:off x="9555480" y="4815840"/>
            <a:ext cx="166116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8638A2-974A-46CD-8CD5-AA3E678E780E}"/>
              </a:ext>
            </a:extLst>
          </p:cNvPr>
          <p:cNvSpPr>
            <a:spLocks noGrp="1"/>
          </p:cNvSpPr>
          <p:nvPr/>
        </p:nvSpPr>
        <p:spPr>
          <a:xfrm>
            <a:off x="9829800" y="5120640"/>
            <a:ext cx="1339850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445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5777"/>
                </a:solidFill>
                <a:latin typeface="Arial"/>
                <a:ea typeface="Arial"/>
                <a:cs typeface="Arial"/>
              </a:rPr>
              <a:t>sem cobrança em</a:t>
            </a:r>
          </a:p>
          <a:p>
            <a:pPr algn="r">
              <a:defRPr sz="1200" b="0">
                <a:solidFill>
                  <a:srgbClr val="445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5777"/>
                </a:solidFill>
                <a:latin typeface="Arial"/>
                <a:ea typeface="Arial"/>
                <a:cs typeface="Arial"/>
              </a:rPr>
              <a:t>duplicidade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0B5C32-5A81-4B17-BCBA-4E025BF10374}"/>
              </a:ext>
            </a:extLst>
          </p:cNvPr>
          <p:cNvSpPr>
            <a:spLocks noGrp="1"/>
          </p:cNvSpPr>
          <p:nvPr/>
        </p:nvSpPr>
        <p:spPr>
          <a:xfrm>
            <a:off x="10693400" y="5511800"/>
            <a:ext cx="457200" cy="241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1">
                <a:solidFill>
                  <a:srgbClr val="0B1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E5B"/>
                </a:solidFill>
                <a:latin typeface="Arial"/>
                <a:ea typeface="Arial"/>
                <a:cs typeface="Arial"/>
              </a:rPr>
              <a:t>30/11</a:t>
            </a:r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B47E4776-58D3-4874-9720-98ABB0C24FFD}"/>
              </a:ext>
            </a:extLst>
          </p:cNvPr>
          <p:cNvSpPr>
            <a:spLocks noGrp="1"/>
          </p:cNvSpPr>
          <p:nvPr/>
        </p:nvSpPr>
        <p:spPr>
          <a:xfrm>
            <a:off x="11366500" y="5537200"/>
            <a:ext cx="203200" cy="203200"/>
          </a:xfrm>
          <a:prstGeom prst="diamond">
            <a:avLst/>
          </a:prstGeom>
          <a:solidFill>
            <a:srgbClr val="DD8323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30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825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5715000"/>
            <a:ext cx="12192000" cy="1143000"/>
          </a:xfrm>
          <a:prstGeom prst="rect">
            <a:avLst/>
          </a:prstGeom>
        </p:spPr>
      </p:pic>
      <p:graphicFrame>
        <p:nvGraphicFramePr>
          <p:cNvPr id="17" name="Table 16"/>
          <p:cNvGraphicFramePr/>
          <p:nvPr/>
        </p:nvGraphicFramePr>
        <p:xfrm>
          <a:off x="507492" y="896112"/>
          <a:ext cx="11177016" cy="4806696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8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09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PRODUTO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ESTEIRA ATUAL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COMPLEXIDADE PRINCIPAL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ONDA</a:t>
                      </a:r>
                    </a:p>
                  </a:txBody>
                  <a:tcPr marL="114300" marR="38100" marT="0" marB="0" anchor="ctr">
                    <a:solidFill>
                      <a:srgbClr val="0B1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9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Datawise Plus</a:t>
                      </a:r>
                    </a:p>
                  </a:txBody>
                  <a:tcPr marL="114300" marR="38100" marT="0" marB="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Manual (planilha)</a:t>
                      </a:r>
                    </a:p>
                  </a:txBody>
                  <a:tcPr marL="114300" marR="38100" marT="0" marB="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235 Ops · R$ 10,2M</a:t>
                      </a:r>
                    </a:p>
                  </a:txBody>
                  <a:tcPr marL="114300" marR="38100" marT="0" marB="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Base comercial, rateios e cadastro SAP</a:t>
                      </a:r>
                    </a:p>
                  </a:txBody>
                  <a:tcPr marL="114300" marR="38100" marT="0" marB="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462B5"/>
                          </a:solidFill>
                          <a:latin typeface="Arial"/>
                          <a:ea typeface="Arial"/>
                          <a:cs typeface="Arial"/>
                        </a:rPr>
                        <a:t>1 · 30/11/26</a:t>
                      </a:r>
                    </a:p>
                  </a:txBody>
                  <a:tcPr marL="114300" marR="38100" marT="0" marB="0" anchor="ctr"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9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Indicadores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Manual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Validar base e requisitos de automação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Market Data – Histórico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Manual; automação perdida na</a:t>
                      </a:r>
                    </a:p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migração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Regras de cálculo (linhas/MB) e cobrança one-shot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99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Monitora PIP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Arquivo diário de consumo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Vincular consumo às Ops do CRM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99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Monitora PIP – Seeker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Particularidades da via Seeker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99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Smart Target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Detalhar fluxo e dependências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99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Market Surveillance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Detalhar fluxo e dependências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Projeto customizado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validar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Detalhar fluxo e dependências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7388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UP2DATA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Portal de Serviços › Metranet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Terceiro (BDS): acessos, política de preços do site e</a:t>
                      </a:r>
                    </a:p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Ops no CRM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Datawise Reports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Vinculado à esteira B3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~335 Ops* · R$ 14,3M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Apartar do faturamento B3 preservando a integração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99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CED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Novo (set/26)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a levantar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Termo de adesão, não contrato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Governança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Plataforma Renda Fixa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Venda a partir de 2027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67799B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Pavimentar fluxo antes da comercialização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D2946"/>
                          </a:solidFill>
                          <a:latin typeface="Arial"/>
                          <a:ea typeface="Arial"/>
                          <a:cs typeface="Arial"/>
                        </a:rPr>
                        <a:t>Governança</a:t>
                      </a:r>
                    </a:p>
                  </a:txBody>
                  <a:tcPr marL="114300" marR="38100" marT="0" marB="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C489F0D-8EDC-4D06-80B4-A336B6BD64D1}"/>
              </a:ext>
            </a:extLst>
          </p:cNvPr>
          <p:cNvSpPr>
            <a:spLocks noGrp="1"/>
          </p:cNvSpPr>
          <p:nvPr/>
        </p:nvSpPr>
        <p:spPr>
          <a:xfrm>
            <a:off x="507492" y="1594104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BB8709-71B0-4EC5-9F42-9D26E983468D}"/>
              </a:ext>
            </a:extLst>
          </p:cNvPr>
          <p:cNvSpPr>
            <a:spLocks noGrp="1"/>
          </p:cNvSpPr>
          <p:nvPr/>
        </p:nvSpPr>
        <p:spPr>
          <a:xfrm>
            <a:off x="507492" y="1943100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9BC22-F04F-4FA6-9E1C-809EFDCF9A65}"/>
              </a:ext>
            </a:extLst>
          </p:cNvPr>
          <p:cNvSpPr>
            <a:spLocks noGrp="1"/>
          </p:cNvSpPr>
          <p:nvPr/>
        </p:nvSpPr>
        <p:spPr>
          <a:xfrm>
            <a:off x="507492" y="2382012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A3A843-5BCA-44F8-86E3-38A4B32A9F8F}"/>
              </a:ext>
            </a:extLst>
          </p:cNvPr>
          <p:cNvSpPr>
            <a:spLocks noGrp="1"/>
          </p:cNvSpPr>
          <p:nvPr/>
        </p:nvSpPr>
        <p:spPr>
          <a:xfrm>
            <a:off x="507492" y="2731008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BD9507-0B51-47A5-83B4-D66505D9A90C}"/>
              </a:ext>
            </a:extLst>
          </p:cNvPr>
          <p:cNvSpPr>
            <a:spLocks noGrp="1"/>
          </p:cNvSpPr>
          <p:nvPr/>
        </p:nvSpPr>
        <p:spPr>
          <a:xfrm>
            <a:off x="507492" y="3080004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6F7592-3399-481B-AE8E-27C172F2CD6F}"/>
              </a:ext>
            </a:extLst>
          </p:cNvPr>
          <p:cNvSpPr>
            <a:spLocks noGrp="1"/>
          </p:cNvSpPr>
          <p:nvPr/>
        </p:nvSpPr>
        <p:spPr>
          <a:xfrm>
            <a:off x="507492" y="3429000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A90126-F595-4250-B073-948ECA20A38D}"/>
              </a:ext>
            </a:extLst>
          </p:cNvPr>
          <p:cNvSpPr>
            <a:spLocks noGrp="1"/>
          </p:cNvSpPr>
          <p:nvPr/>
        </p:nvSpPr>
        <p:spPr>
          <a:xfrm>
            <a:off x="507492" y="3777996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3AAD73-E947-4153-8EE3-6AA7DA74D5EC}"/>
              </a:ext>
            </a:extLst>
          </p:cNvPr>
          <p:cNvSpPr>
            <a:spLocks noGrp="1"/>
          </p:cNvSpPr>
          <p:nvPr/>
        </p:nvSpPr>
        <p:spPr>
          <a:xfrm>
            <a:off x="507492" y="4128516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90D90-D1FA-4B67-943E-74480178F5F3}"/>
              </a:ext>
            </a:extLst>
          </p:cNvPr>
          <p:cNvSpPr>
            <a:spLocks noGrp="1"/>
          </p:cNvSpPr>
          <p:nvPr/>
        </p:nvSpPr>
        <p:spPr>
          <a:xfrm>
            <a:off x="507492" y="4565904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60FF3-0BC2-4046-B464-01059AA5B8C9}"/>
              </a:ext>
            </a:extLst>
          </p:cNvPr>
          <p:cNvSpPr>
            <a:spLocks noGrp="1"/>
          </p:cNvSpPr>
          <p:nvPr/>
        </p:nvSpPr>
        <p:spPr>
          <a:xfrm>
            <a:off x="507492" y="5004816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9C878C-8652-46A5-8658-51B9D79C3867}"/>
              </a:ext>
            </a:extLst>
          </p:cNvPr>
          <p:cNvSpPr>
            <a:spLocks noGrp="1"/>
          </p:cNvSpPr>
          <p:nvPr/>
        </p:nvSpPr>
        <p:spPr>
          <a:xfrm>
            <a:off x="507492" y="5353812"/>
            <a:ext cx="11177016" cy="6096"/>
          </a:xfrm>
          <a:prstGeom prst="rect">
            <a:avLst/>
          </a:prstGeom>
          <a:solidFill>
            <a:srgbClr val="D3DE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11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DocSecurity>0</DocSecurity>
  <PresentationFormat>Widescreen</PresentationFormat>
  <Paragraphs>132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</cp:lastModifiedBy>
  <cp:revision>1</cp:revision>
  <dcterms:created xsi:type="dcterms:W3CDTF">2026-10-06T12:40:39Z</dcterms:created>
  <dcterms:modified xsi:type="dcterms:W3CDTF">2026-10-06T12:46:42Z</dcterms:modified>
</cp:coreProperties>
</file>