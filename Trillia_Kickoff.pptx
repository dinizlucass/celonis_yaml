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1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148840"/>
            <a:ext cx="137160" cy="246888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4884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448056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5" name="Shape 3"/>
          <p:cNvSpPr/>
          <p:nvPr/>
        </p:nvSpPr>
        <p:spPr>
          <a:xfrm>
            <a:off x="2788920" y="2148840"/>
            <a:ext cx="137160" cy="246888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6" name="Shape 4"/>
          <p:cNvSpPr/>
          <p:nvPr/>
        </p:nvSpPr>
        <p:spPr>
          <a:xfrm>
            <a:off x="2542032" y="214884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7" name="Shape 5"/>
          <p:cNvSpPr/>
          <p:nvPr/>
        </p:nvSpPr>
        <p:spPr>
          <a:xfrm>
            <a:off x="2542032" y="448056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7432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Faturamento </a:t>
            </a:r>
            <a:pPr indent="0" marL="0">
              <a:buNone/>
            </a:pPr>
            <a:r>
              <a:rPr lang="en-US" sz="40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Trillia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456432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Kickoff do projeto de faturamento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92640" y="6309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data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874520"/>
            <a:ext cx="137160" cy="301752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" y="187452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475488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5" name="Shape 3"/>
          <p:cNvSpPr/>
          <p:nvPr/>
        </p:nvSpPr>
        <p:spPr>
          <a:xfrm>
            <a:off x="3108960" y="1874520"/>
            <a:ext cx="137160" cy="301752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6" name="Shape 4"/>
          <p:cNvSpPr/>
          <p:nvPr/>
        </p:nvSpPr>
        <p:spPr>
          <a:xfrm>
            <a:off x="2862072" y="187452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7" name="Shape 5"/>
          <p:cNvSpPr/>
          <p:nvPr/>
        </p:nvSpPr>
        <p:spPr>
          <a:xfrm>
            <a:off x="2862072" y="475488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1874520"/>
            <a:ext cx="18288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114800" y="16002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indent="0" marL="0">
              <a:buNone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pauta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114800" y="20574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indent="0" marL="0">
              <a:buNone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Lições aprendidas e acordos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114800" y="25146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e o que podemos reutilizar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0" y="29718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dos produtos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114800" y="34290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 grupo de trabalho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0" y="38862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</a:t>
            </a:r>
            <a:pPr indent="0" marL="0">
              <a:buNone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fizemos e já estamos fazendo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114800" y="43434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</a:t>
            </a:r>
            <a:pPr indent="0" marL="0">
              <a:buNone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114800" y="4800600"/>
            <a:ext cx="7315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</a:t>
            </a:r>
            <a:pPr indent="0" marL="0">
              <a:buNone/>
            </a:pPr>
            <a:r>
              <a:rPr lang="en-US" sz="15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92640" y="6309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data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da pauta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1274552" cy="603504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430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 início ao trabalho de faturamento da Trillia reaproveitando o que aprendemos e entregamos em Listados e em Tecnologia, Dados e Serviços.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Nesta reunião vamos: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642616"/>
            <a:ext cx="10058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834640"/>
            <a:ext cx="6400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as lições de Listados e firmar acordos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que já existe e é reutilizável na Trillia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os produtos da Trillia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o grupo de trabalho e as responsabilidades</a:t>
            </a:r>
            <a:endParaRPr lang="en-US" sz="135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Alinhar cronograma e próximos passos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498080" y="2331720"/>
            <a:ext cx="4206240" cy="1965960"/>
          </a:xfrm>
          <a:prstGeom prst="rect">
            <a:avLst/>
          </a:prstGeom>
          <a:solidFill>
            <a:srgbClr val="D8E3F9"/>
          </a:solidFill>
          <a:ln w="12700">
            <a:solidFill>
              <a:srgbClr val="1D1D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24871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esperado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2880360"/>
            <a:ext cx="3703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Sair com o grupo de trabalho definido, os produtos priorizados e o cronograma da 1ª onda acordado.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148840"/>
            <a:ext cx="137160" cy="246888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4884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448056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5" name="Shape 3"/>
          <p:cNvSpPr/>
          <p:nvPr/>
        </p:nvSpPr>
        <p:spPr>
          <a:xfrm>
            <a:off x="2788920" y="2148840"/>
            <a:ext cx="137160" cy="246888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6" name="Shape 4"/>
          <p:cNvSpPr/>
          <p:nvPr/>
        </p:nvSpPr>
        <p:spPr>
          <a:xfrm>
            <a:off x="2542032" y="214884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7" name="Shape 5"/>
          <p:cNvSpPr/>
          <p:nvPr/>
        </p:nvSpPr>
        <p:spPr>
          <a:xfrm>
            <a:off x="2542032" y="448056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697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Lições aprendidas e acordos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56432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Listados nos ensinou — e como vamos trabalhar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92640" y="6309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data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Lições aprendidas e acordos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 lição não é técnica: </a:t>
            </a:r>
            <a:pPr indent="0" marL="0">
              <a:buNone/>
            </a:pPr>
            <a:r>
              <a:rPr lang="en-US" sz="14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só evolui quando o time abre a cozinha, se engaja e assume donos claros.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502920" cy="502920"/>
          </a:xfrm>
          <a:prstGeom prst="rect">
            <a:avLst/>
          </a:prstGeom>
          <a:solidFill>
            <a:srgbClr val="1B2A8F"/>
          </a:solidFill>
          <a:ln/>
        </p:spPr>
      </p:sp>
      <p:pic>
        <p:nvPicPr>
          <p:cNvPr id="10" name="Image 0" descr="/home/claude/icons/cozinh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872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a cozinha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48640" y="25146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Mostrar o processo como ele é, sem caixa-preta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não é dito vira divergência escondida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acelera o diagnóstico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229100" y="1920240"/>
            <a:ext cx="0" cy="214884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43400" y="1828800"/>
            <a:ext cx="502920" cy="502920"/>
          </a:xfrm>
          <a:prstGeom prst="rect">
            <a:avLst/>
          </a:prstGeom>
          <a:solidFill>
            <a:srgbClr val="1B2A8F"/>
          </a:solidFill>
          <a:ln/>
        </p:spPr>
      </p:sp>
      <p:pic>
        <p:nvPicPr>
          <p:cNvPr id="15" name="Image 1" descr="/home/claude/icons/engajament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840" y="192024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98348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Engajamento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4343400" y="25146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trabalho anda na velocidade de quem aparece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nas sessões vale mais que relatório depois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passivo = diagnóstico parado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23860" y="1920240"/>
            <a:ext cx="0" cy="214884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138160" y="1828800"/>
            <a:ext cx="502920" cy="502920"/>
          </a:xfrm>
          <a:prstGeom prst="rect">
            <a:avLst/>
          </a:prstGeom>
          <a:solidFill>
            <a:srgbClr val="1B2A8F"/>
          </a:solidFill>
          <a:ln/>
        </p:spPr>
      </p:sp>
      <p:pic>
        <p:nvPicPr>
          <p:cNvPr id="20" name="Image 2" descr="/home/claude/icons/papei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192024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778240" y="1828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Papéis e responsabilidades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138160" y="251460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dono claro por etapa, desde o começo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decide, quem executa, quem valida</a:t>
            </a:r>
            <a:endParaRPr lang="en-US" sz="12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dono, a divergência fica órfã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48640" y="4709160"/>
            <a:ext cx="11155680" cy="1234440"/>
          </a:xfrm>
          <a:prstGeom prst="rect">
            <a:avLst/>
          </a:prstGeom>
          <a:solidFill>
            <a:srgbClr val="FBEAD6"/>
          </a:solidFill>
          <a:ln w="12700">
            <a:solidFill>
              <a:srgbClr val="E8993A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777240" y="4846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7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Acordos deste kickoff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822960" y="5303520"/>
            <a:ext cx="3429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93A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22960" y="5303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dono de processo por área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4526280" y="5303520"/>
            <a:ext cx="3429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93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526280" y="5303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Presença nas sessões de mapeamento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8229600" y="5303520"/>
            <a:ext cx="3429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993A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229600" y="53035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 de dados e acessos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148840"/>
            <a:ext cx="137160" cy="246888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4884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448056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5" name="Shape 3"/>
          <p:cNvSpPr/>
          <p:nvPr/>
        </p:nvSpPr>
        <p:spPr>
          <a:xfrm>
            <a:off x="2788920" y="2148840"/>
            <a:ext cx="137160" cy="246888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6" name="Shape 4"/>
          <p:cNvSpPr/>
          <p:nvPr/>
        </p:nvSpPr>
        <p:spPr>
          <a:xfrm>
            <a:off x="2542032" y="214884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7" name="Shape 5"/>
          <p:cNvSpPr/>
          <p:nvPr/>
        </p:nvSpPr>
        <p:spPr>
          <a:xfrm>
            <a:off x="2542032" y="448056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697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e o que podemos reutilizar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56432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que Listados já construiu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92640" y="6309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data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e o que podemos reutilizar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563624"/>
            <a:ext cx="3657600" cy="658368"/>
          </a:xfrm>
          <a:prstGeom prst="rect">
            <a:avLst/>
          </a:prstGeom>
          <a:solidFill>
            <a:srgbClr val="3FA45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221992"/>
            <a:ext cx="3657600" cy="3712464"/>
          </a:xfrm>
          <a:prstGeom prst="rect">
            <a:avLst/>
          </a:prstGeom>
          <a:solidFill>
            <a:srgbClr val="E0EEE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563624"/>
            <a:ext cx="3657600" cy="4370832"/>
          </a:xfrm>
          <a:prstGeom prst="rect">
            <a:avLst/>
          </a:prstGeom>
          <a:ln w="12700">
            <a:solidFill>
              <a:srgbClr val="3FA45C"/>
            </a:solidFill>
            <a:prstDash val="solid"/>
          </a:ln>
        </p:spPr>
      </p:sp>
      <p:pic>
        <p:nvPicPr>
          <p:cNvPr id="11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28216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78992" y="16184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Entregas realizadas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5800" y="23865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Listados / Tec-Dados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" y="2697480"/>
            <a:ext cx="10058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2843784"/>
            <a:ext cx="3246120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Metranet × SAP no Celonis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de leakage e divergências por cliente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da fatura por cliente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prévia (prevenção de erros)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de manualidades (SAP e Metra)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atendimento no ServiceNow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 automática Portal × Metranet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e 2ª via de boletos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incidentes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1563624"/>
            <a:ext cx="3657600" cy="658368"/>
          </a:xfrm>
          <a:prstGeom prst="rect">
            <a:avLst/>
          </a:prstGeom>
          <a:solidFill>
            <a:srgbClr val="6C7A93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1960" y="2221992"/>
            <a:ext cx="3657600" cy="3712464"/>
          </a:xfrm>
          <a:prstGeom prst="rect">
            <a:avLst/>
          </a:prstGeom>
          <a:solidFill>
            <a:srgbClr val="E5EAF1"/>
          </a:solidFill>
          <a:ln/>
        </p:spPr>
      </p:sp>
      <p:sp>
        <p:nvSpPr>
          <p:cNvPr id="18" name="Shape 15"/>
          <p:cNvSpPr/>
          <p:nvPr/>
        </p:nvSpPr>
        <p:spPr>
          <a:xfrm>
            <a:off x="4251960" y="1563624"/>
            <a:ext cx="3657600" cy="4370832"/>
          </a:xfrm>
          <a:prstGeom prst="rect">
            <a:avLst/>
          </a:prstGeom>
          <a:ln w="12700">
            <a:solidFill>
              <a:srgbClr val="6C7A93"/>
            </a:solidFill>
            <a:prstDash val="solid"/>
          </a:ln>
        </p:spPr>
      </p:sp>
      <p:pic>
        <p:nvPicPr>
          <p:cNvPr id="19" name="Image 1" descr="/home/claude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1728216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73752" y="16184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Reutilizável na Trillia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4480560" y="23865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levamos direto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480560" y="2697480"/>
            <a:ext cx="10058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80560" y="2843784"/>
            <a:ext cx="3246120" cy="2267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OCPM de reconciliação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de leakage por cliente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Flow de detalhamento por cliente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erros e indicadores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financeiro (IA Metranet × SAP)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prévia de faturamento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de mapeamento E2E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046720" y="1563624"/>
            <a:ext cx="3657600" cy="658368"/>
          </a:xfrm>
          <a:prstGeom prst="rect">
            <a:avLst/>
          </a:prstGeom>
          <a:solidFill>
            <a:srgbClr val="E8993A"/>
          </a:solidFill>
          <a:ln/>
        </p:spPr>
      </p:sp>
      <p:sp>
        <p:nvSpPr>
          <p:cNvPr id="25" name="Shape 21"/>
          <p:cNvSpPr/>
          <p:nvPr/>
        </p:nvSpPr>
        <p:spPr>
          <a:xfrm>
            <a:off x="8046720" y="2221992"/>
            <a:ext cx="3657600" cy="3712464"/>
          </a:xfrm>
          <a:prstGeom prst="rect">
            <a:avLst/>
          </a:prstGeom>
          <a:solidFill>
            <a:srgbClr val="FBEAD6"/>
          </a:solidFill>
          <a:ln/>
        </p:spPr>
      </p:sp>
      <p:sp>
        <p:nvSpPr>
          <p:cNvPr id="26" name="Shape 22"/>
          <p:cNvSpPr/>
          <p:nvPr/>
        </p:nvSpPr>
        <p:spPr>
          <a:xfrm>
            <a:off x="8046720" y="1563624"/>
            <a:ext cx="3657600" cy="4370832"/>
          </a:xfrm>
          <a:prstGeom prst="rect">
            <a:avLst/>
          </a:prstGeom>
          <a:ln w="12700">
            <a:solidFill>
              <a:srgbClr val="E8993A"/>
            </a:solidFill>
            <a:prstDash val="solid"/>
          </a:ln>
        </p:spPr>
      </p:sp>
      <p:pic>
        <p:nvPicPr>
          <p:cNvPr id="27" name="Image 2" descr="/home/claude/icons/search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1728216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668512" y="161848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8275320" y="238658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na Trillia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275320" y="2697480"/>
            <a:ext cx="10058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275320" y="2843784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Tarifação e produtos próprios (ex-Capital Market)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às fontes de dados da Trillia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Expandir detalhamento pode elevar chamados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estorno específicas a mapear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Novos donos de processo a alinhar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148840"/>
            <a:ext cx="137160" cy="246888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14884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448056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5" name="Shape 3"/>
          <p:cNvSpPr/>
          <p:nvPr/>
        </p:nvSpPr>
        <p:spPr>
          <a:xfrm>
            <a:off x="2788920" y="2148840"/>
            <a:ext cx="137160" cy="246888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6" name="Shape 4"/>
          <p:cNvSpPr/>
          <p:nvPr/>
        </p:nvSpPr>
        <p:spPr>
          <a:xfrm>
            <a:off x="2542032" y="214884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7" name="Shape 5"/>
          <p:cNvSpPr/>
          <p:nvPr/>
        </p:nvSpPr>
        <p:spPr>
          <a:xfrm>
            <a:off x="2542032" y="448056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697480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dos produtos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56432" y="3611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onde começar na Trillia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92640" y="6309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data ]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dos produtos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1274552" cy="603504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430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Priorizar em ondas: começar pelo produto que ensina mais e tem maior impacto, evoluir para diagnóstico e correções estruturais.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286000"/>
            <a:ext cx="3200400" cy="2743200"/>
          </a:xfrm>
          <a:prstGeom prst="rect">
            <a:avLst/>
          </a:prstGeom>
          <a:solidFill>
            <a:srgbClr val="EBEFF6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45059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priorização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77240" y="2926080"/>
            <a:ext cx="2788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e faturas em aberto</a:t>
            </a:r>
            <a:endParaRPr lang="en-US" sz="1250" dirty="0"/>
          </a:p>
          <a:p>
            <a:pPr marL="127000" indent="-1270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de divergência / leakage</a:t>
            </a:r>
            <a:endParaRPr lang="en-US" sz="1250" dirty="0"/>
          </a:p>
          <a:p>
            <a:pPr marL="127000" indent="-1270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 de atendimento (chamados)</a:t>
            </a:r>
            <a:endParaRPr lang="en-US" sz="1250" dirty="0"/>
          </a:p>
          <a:p>
            <a:pPr marL="127000" indent="-127000">
              <a:spcAft>
                <a:spcPts val="1300"/>
              </a:spcAft>
              <a:buSzPct val="100000"/>
              <a:buChar char="•"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 de tarifação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160520" y="2286000"/>
            <a:ext cx="2450592" cy="530352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14" name="Shape 12"/>
          <p:cNvSpPr/>
          <p:nvPr/>
        </p:nvSpPr>
        <p:spPr>
          <a:xfrm>
            <a:off x="4160520" y="2816352"/>
            <a:ext cx="2450592" cy="2212848"/>
          </a:xfrm>
          <a:prstGeom prst="rect">
            <a:avLst/>
          </a:prstGeom>
          <a:solidFill>
            <a:srgbClr val="D8E3F9"/>
          </a:solidFill>
          <a:ln/>
        </p:spPr>
      </p:sp>
      <p:sp>
        <p:nvSpPr>
          <p:cNvPr id="15" name="Shape 13"/>
          <p:cNvSpPr/>
          <p:nvPr/>
        </p:nvSpPr>
        <p:spPr>
          <a:xfrm>
            <a:off x="4160520" y="2286000"/>
            <a:ext cx="2450592" cy="2743200"/>
          </a:xfrm>
          <a:prstGeom prst="rect">
            <a:avLst/>
          </a:prstGeom>
          <a:ln w="12700">
            <a:solidFill>
              <a:srgbClr val="1D1D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3400" y="228600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1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343400" y="2926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&amp; detalhar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43400" y="338328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produto Trillia ]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E2E (as-is)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da fatura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611112" y="3520440"/>
            <a:ext cx="128016" cy="219456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0" name="Shape 18"/>
          <p:cNvSpPr/>
          <p:nvPr/>
        </p:nvSpPr>
        <p:spPr>
          <a:xfrm>
            <a:off x="6748272" y="2286000"/>
            <a:ext cx="2450592" cy="530352"/>
          </a:xfrm>
          <a:prstGeom prst="rect">
            <a:avLst/>
          </a:prstGeom>
          <a:solidFill>
            <a:srgbClr val="E8993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48272" y="2816352"/>
            <a:ext cx="2450592" cy="2212848"/>
          </a:xfrm>
          <a:prstGeom prst="rect">
            <a:avLst/>
          </a:prstGeom>
          <a:solidFill>
            <a:srgbClr val="FBEAD6"/>
          </a:solidFill>
          <a:ln/>
        </p:spPr>
      </p:sp>
      <p:sp>
        <p:nvSpPr>
          <p:cNvPr id="22" name="Shape 20"/>
          <p:cNvSpPr/>
          <p:nvPr/>
        </p:nvSpPr>
        <p:spPr>
          <a:xfrm>
            <a:off x="6748272" y="2286000"/>
            <a:ext cx="2450592" cy="2743200"/>
          </a:xfrm>
          <a:prstGeom prst="rect">
            <a:avLst/>
          </a:prstGeom>
          <a:ln w="12700">
            <a:solidFill>
              <a:srgbClr val="E899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31152" y="228600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31152" y="2926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&amp; indicadores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31152" y="338328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no Celonis (OCPM)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erros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produtos ]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98864" y="3520440"/>
            <a:ext cx="128016" cy="219456"/>
          </a:xfrm>
          <a:prstGeom prst="rightArrow">
            <a:avLst/>
          </a:prstGeom>
          <a:solidFill>
            <a:srgbClr val="F5A623"/>
          </a:solidFill>
          <a:ln/>
        </p:spPr>
      </p:sp>
      <p:sp>
        <p:nvSpPr>
          <p:cNvPr id="27" name="Shape 25"/>
          <p:cNvSpPr/>
          <p:nvPr/>
        </p:nvSpPr>
        <p:spPr>
          <a:xfrm>
            <a:off x="9336024" y="2286000"/>
            <a:ext cx="2450592" cy="530352"/>
          </a:xfrm>
          <a:prstGeom prst="rect">
            <a:avLst/>
          </a:prstGeom>
          <a:solidFill>
            <a:srgbClr val="3FA45C"/>
          </a:solidFill>
          <a:ln/>
        </p:spPr>
      </p:sp>
      <p:sp>
        <p:nvSpPr>
          <p:cNvPr id="28" name="Shape 26"/>
          <p:cNvSpPr/>
          <p:nvPr/>
        </p:nvSpPr>
        <p:spPr>
          <a:xfrm>
            <a:off x="9336024" y="2816352"/>
            <a:ext cx="2450592" cy="2212848"/>
          </a:xfrm>
          <a:prstGeom prst="rect">
            <a:avLst/>
          </a:prstGeom>
          <a:solidFill>
            <a:srgbClr val="E0EEE5"/>
          </a:solidFill>
          <a:ln/>
        </p:spPr>
      </p:sp>
      <p:sp>
        <p:nvSpPr>
          <p:cNvPr id="29" name="Shape 27"/>
          <p:cNvSpPr/>
          <p:nvPr/>
        </p:nvSpPr>
        <p:spPr>
          <a:xfrm>
            <a:off x="9336024" y="2286000"/>
            <a:ext cx="2450592" cy="2743200"/>
          </a:xfrm>
          <a:prstGeom prst="rect">
            <a:avLst/>
          </a:prstGeom>
          <a:ln w="12700">
            <a:solidFill>
              <a:srgbClr val="3FA4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18904" y="2286000"/>
            <a:ext cx="20848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Onda 3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518904" y="292608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Correções estruturais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518904" y="3383280"/>
            <a:ext cx="213055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 de tarifação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controles</a:t>
            </a:r>
            <a:endParaRPr lang="en-US" sz="1200" dirty="0"/>
          </a:p>
          <a:p>
            <a:pPr marL="127000" indent="-1270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 e donos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1663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↳ Substituir os campos em laranja pelos produtos reais da Trillia e sua ordem.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do grupo de trabalho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1274552" cy="603504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430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dono por área desde o início — foi a lição nº1 de Listados. Nomes a confirmar no kickoff.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" y="2331720"/>
            <a:ext cx="2569464" cy="1554480"/>
          </a:xfrm>
          <a:prstGeom prst="rect">
            <a:avLst/>
          </a:prstGeom>
          <a:solidFill>
            <a:srgbClr val="EBEFF6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31720"/>
            <a:ext cx="82296" cy="1554480"/>
          </a:xfrm>
          <a:prstGeom prst="rect">
            <a:avLst/>
          </a:prstGeom>
          <a:solidFill>
            <a:srgbClr val="1B2A8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4780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/ Liderança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7240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Patrocínio e decisão de prazo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Resp.: </a:t>
            </a:r>
            <a:pPr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nome 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2331720"/>
            <a:ext cx="2569464" cy="1554480"/>
          </a:xfrm>
          <a:prstGeom prst="rect">
            <a:avLst/>
          </a:prstGeom>
          <a:solidFill>
            <a:srgbClr val="EBEFF6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46704" y="2331720"/>
            <a:ext cx="82296" cy="1554480"/>
          </a:xfrm>
          <a:prstGeom prst="rect">
            <a:avLst/>
          </a:prstGeom>
          <a:solidFill>
            <a:srgbClr val="1B2A8F"/>
          </a:solidFill>
          <a:ln/>
        </p:spPr>
      </p:sp>
      <p:sp>
        <p:nvSpPr>
          <p:cNvPr id="17" name="Text 15"/>
          <p:cNvSpPr/>
          <p:nvPr/>
        </p:nvSpPr>
        <p:spPr>
          <a:xfrm>
            <a:off x="3575304" y="24780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Líder do projeto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575304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Condução e integração das frentes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575304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Resp.: </a:t>
            </a:r>
            <a:pPr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nome 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27064" y="2331720"/>
            <a:ext cx="2569464" cy="1554480"/>
          </a:xfrm>
          <a:prstGeom prst="rect">
            <a:avLst/>
          </a:prstGeom>
          <a:solidFill>
            <a:srgbClr val="EBEFF6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44768" y="2331720"/>
            <a:ext cx="82296" cy="1554480"/>
          </a:xfrm>
          <a:prstGeom prst="rect">
            <a:avLst/>
          </a:prstGeom>
          <a:solidFill>
            <a:srgbClr val="1B2A8F"/>
          </a:solidFill>
          <a:ln/>
        </p:spPr>
      </p:sp>
      <p:sp>
        <p:nvSpPr>
          <p:cNvPr id="22" name="Text 20"/>
          <p:cNvSpPr/>
          <p:nvPr/>
        </p:nvSpPr>
        <p:spPr>
          <a:xfrm>
            <a:off x="6373368" y="24780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Mining (Celonis)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373368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OCPM, KM, views e dashboards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73368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Resp.: </a:t>
            </a:r>
            <a:pPr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nome 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025128" y="2331720"/>
            <a:ext cx="2569464" cy="1554480"/>
          </a:xfrm>
          <a:prstGeom prst="rect">
            <a:avLst/>
          </a:prstGeom>
          <a:solidFill>
            <a:srgbClr val="EBEFF6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42832" y="2331720"/>
            <a:ext cx="82296" cy="1554480"/>
          </a:xfrm>
          <a:prstGeom prst="rect">
            <a:avLst/>
          </a:prstGeom>
          <a:solidFill>
            <a:srgbClr val="1B2A8F"/>
          </a:solidFill>
          <a:ln/>
        </p:spPr>
      </p:sp>
      <p:sp>
        <p:nvSpPr>
          <p:cNvPr id="27" name="Text 25"/>
          <p:cNvSpPr/>
          <p:nvPr/>
        </p:nvSpPr>
        <p:spPr>
          <a:xfrm>
            <a:off x="9171432" y="247802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de processo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171432" y="2971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 E2E, regras e exceções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171432" y="35021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Resp.: </a:t>
            </a:r>
            <a:pPr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nome 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30936" y="4069080"/>
            <a:ext cx="2569464" cy="1554480"/>
          </a:xfrm>
          <a:prstGeom prst="rect">
            <a:avLst/>
          </a:prstGeom>
          <a:solidFill>
            <a:srgbClr val="EBEFF6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4069080"/>
            <a:ext cx="82296" cy="1554480"/>
          </a:xfrm>
          <a:prstGeom prst="rect">
            <a:avLst/>
          </a:prstGeom>
          <a:solidFill>
            <a:srgbClr val="1B2A8F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2153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— Produto Trillia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77240" y="4709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Tarifação e regras de negócio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7240" y="5239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Resp.: </a:t>
            </a:r>
            <a:pPr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nome ]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29000" y="4069080"/>
            <a:ext cx="2569464" cy="1554480"/>
          </a:xfrm>
          <a:prstGeom prst="rect">
            <a:avLst/>
          </a:prstGeom>
          <a:solidFill>
            <a:srgbClr val="EBEFF6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46704" y="4069080"/>
            <a:ext cx="82296" cy="1554480"/>
          </a:xfrm>
          <a:prstGeom prst="rect">
            <a:avLst/>
          </a:prstGeom>
          <a:solidFill>
            <a:srgbClr val="1B2A8F"/>
          </a:solidFill>
          <a:ln/>
        </p:spPr>
      </p:sp>
      <p:sp>
        <p:nvSpPr>
          <p:cNvPr id="37" name="Text 35"/>
          <p:cNvSpPr/>
          <p:nvPr/>
        </p:nvSpPr>
        <p:spPr>
          <a:xfrm>
            <a:off x="3575304" y="42153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— Cobrança / Financeiro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575304" y="4709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Fatura, boletos e SAP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575304" y="5239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Resp.: </a:t>
            </a:r>
            <a:pPr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nome ]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27064" y="4069080"/>
            <a:ext cx="2569464" cy="1554480"/>
          </a:xfrm>
          <a:prstGeom prst="rect">
            <a:avLst/>
          </a:prstGeom>
          <a:solidFill>
            <a:srgbClr val="EBEFF6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44768" y="4069080"/>
            <a:ext cx="82296" cy="1554480"/>
          </a:xfrm>
          <a:prstGeom prst="rect">
            <a:avLst/>
          </a:prstGeom>
          <a:solidFill>
            <a:srgbClr val="1B2A8F"/>
          </a:solidFill>
          <a:ln/>
        </p:spPr>
      </p:sp>
      <p:sp>
        <p:nvSpPr>
          <p:cNvPr id="42" name="Text 40"/>
          <p:cNvSpPr/>
          <p:nvPr/>
        </p:nvSpPr>
        <p:spPr>
          <a:xfrm>
            <a:off x="6373368" y="42153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— Atendimento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373368" y="4709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Chamados e relacionamento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373368" y="5239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Resp.: </a:t>
            </a:r>
            <a:pPr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nome ]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025128" y="4069080"/>
            <a:ext cx="2569464" cy="1554480"/>
          </a:xfrm>
          <a:prstGeom prst="rect">
            <a:avLst/>
          </a:prstGeom>
          <a:solidFill>
            <a:srgbClr val="EBEFF6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942832" y="4069080"/>
            <a:ext cx="82296" cy="1554480"/>
          </a:xfrm>
          <a:prstGeom prst="rect">
            <a:avLst/>
          </a:prstGeom>
          <a:solidFill>
            <a:srgbClr val="1B2A8F"/>
          </a:solidFill>
          <a:ln/>
        </p:spPr>
      </p:sp>
      <p:sp>
        <p:nvSpPr>
          <p:cNvPr id="47" name="Text 45"/>
          <p:cNvSpPr/>
          <p:nvPr/>
        </p:nvSpPr>
        <p:spPr>
          <a:xfrm>
            <a:off x="9171432" y="4215384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 — Tecnologia / Dados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9171432" y="4709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C77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Fontes, acessos e integração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171432" y="52395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Resp.: </a:t>
            </a:r>
            <a:pPr indent="0" marL="0">
              <a:buNone/>
            </a:pPr>
            <a:r>
              <a:rPr lang="en-US" sz="11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nome 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já fizemos e já estamos fazendo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340864"/>
            <a:ext cx="3657600" cy="658368"/>
          </a:xfrm>
          <a:prstGeom prst="rect">
            <a:avLst/>
          </a:prstGeom>
          <a:solidFill>
            <a:srgbClr val="3FA45C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2999232"/>
            <a:ext cx="3657600" cy="2157984"/>
          </a:xfrm>
          <a:prstGeom prst="rect">
            <a:avLst/>
          </a:prstGeom>
          <a:solidFill>
            <a:srgbClr val="E0EEE5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2340864"/>
            <a:ext cx="3657600" cy="2816352"/>
          </a:xfrm>
          <a:prstGeom prst="rect">
            <a:avLst/>
          </a:prstGeom>
          <a:ln w="12700">
            <a:solidFill>
              <a:srgbClr val="3FA45C"/>
            </a:solidFill>
            <a:prstDash val="solid"/>
          </a:ln>
        </p:spPr>
      </p:sp>
      <p:pic>
        <p:nvPicPr>
          <p:cNvPr id="11" name="Image 0" descr="/home/claude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2505456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78992" y="23957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fizemos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85800" y="3163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F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Concluído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85800" y="3474720"/>
            <a:ext cx="10058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3621024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Reaproveitamento do modelo de Listados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Olhada inicial nas fontes da Trillia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entregas Trillia já feitas ]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251960" y="2340864"/>
            <a:ext cx="3657600" cy="658368"/>
          </a:xfrm>
          <a:prstGeom prst="rect">
            <a:avLst/>
          </a:prstGeom>
          <a:solidFill>
            <a:srgbClr val="6C7A93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1960" y="2999232"/>
            <a:ext cx="3657600" cy="2157984"/>
          </a:xfrm>
          <a:prstGeom prst="rect">
            <a:avLst/>
          </a:prstGeom>
          <a:solidFill>
            <a:srgbClr val="E5EAF1"/>
          </a:solidFill>
          <a:ln/>
        </p:spPr>
      </p:sp>
      <p:sp>
        <p:nvSpPr>
          <p:cNvPr id="18" name="Shape 15"/>
          <p:cNvSpPr/>
          <p:nvPr/>
        </p:nvSpPr>
        <p:spPr>
          <a:xfrm>
            <a:off x="4251960" y="2340864"/>
            <a:ext cx="3657600" cy="2816352"/>
          </a:xfrm>
          <a:prstGeom prst="rect">
            <a:avLst/>
          </a:prstGeom>
          <a:ln w="12700">
            <a:solidFill>
              <a:srgbClr val="6C7A93"/>
            </a:solidFill>
            <a:prstDash val="solid"/>
          </a:ln>
        </p:spPr>
      </p:sp>
      <p:pic>
        <p:nvPicPr>
          <p:cNvPr id="19" name="Image 1" descr="/home/claude/icons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505456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73752" y="23957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andamento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4480560" y="3163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Rodando agora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480560" y="3474720"/>
            <a:ext cx="10058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80560" y="3621024"/>
            <a:ext cx="3246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Mapeamento E2E da Trillia (as-is)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de dados no Celonis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frentes em curso ]</a:t>
            </a:r>
            <a:endParaRPr lang="en-US" sz="1150" dirty="0"/>
          </a:p>
        </p:txBody>
      </p:sp>
      <p:sp>
        <p:nvSpPr>
          <p:cNvPr id="24" name="Shape 20"/>
          <p:cNvSpPr/>
          <p:nvPr/>
        </p:nvSpPr>
        <p:spPr>
          <a:xfrm>
            <a:off x="8046720" y="2340864"/>
            <a:ext cx="3657600" cy="658368"/>
          </a:xfrm>
          <a:prstGeom prst="rect">
            <a:avLst/>
          </a:prstGeom>
          <a:solidFill>
            <a:srgbClr val="E8993A"/>
          </a:solidFill>
          <a:ln/>
        </p:spPr>
      </p:sp>
      <p:sp>
        <p:nvSpPr>
          <p:cNvPr id="25" name="Shape 21"/>
          <p:cNvSpPr/>
          <p:nvPr/>
        </p:nvSpPr>
        <p:spPr>
          <a:xfrm>
            <a:off x="8046720" y="2999232"/>
            <a:ext cx="3657600" cy="2157984"/>
          </a:xfrm>
          <a:prstGeom prst="rect">
            <a:avLst/>
          </a:prstGeom>
          <a:solidFill>
            <a:srgbClr val="FBEAD6"/>
          </a:solidFill>
          <a:ln/>
        </p:spPr>
      </p:sp>
      <p:sp>
        <p:nvSpPr>
          <p:cNvPr id="26" name="Shape 22"/>
          <p:cNvSpPr/>
          <p:nvPr/>
        </p:nvSpPr>
        <p:spPr>
          <a:xfrm>
            <a:off x="8046720" y="2340864"/>
            <a:ext cx="3657600" cy="2816352"/>
          </a:xfrm>
          <a:prstGeom prst="rect">
            <a:avLst/>
          </a:prstGeom>
          <a:ln w="12700">
            <a:solidFill>
              <a:srgbClr val="E8993A"/>
            </a:solidFill>
            <a:prstDash val="solid"/>
          </a:ln>
        </p:spPr>
      </p:sp>
      <p:pic>
        <p:nvPicPr>
          <p:cNvPr id="27" name="Image 2" descr="/home/claude/icons/fla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47888" y="2505456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668512" y="2395728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iniciar / priorizar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8275320" y="3163824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Próximas frentes</a:t>
            </a:r>
            <a:endParaRPr lang="en-US" sz="1250" dirty="0"/>
          </a:p>
        </p:txBody>
      </p:sp>
      <p:sp>
        <p:nvSpPr>
          <p:cNvPr id="30" name="Shape 25"/>
          <p:cNvSpPr/>
          <p:nvPr/>
        </p:nvSpPr>
        <p:spPr>
          <a:xfrm>
            <a:off x="8275320" y="3474720"/>
            <a:ext cx="100584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275320" y="3621024"/>
            <a:ext cx="3246120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dos produtos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e detalhamento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de erros e indicadores</a:t>
            </a:r>
            <a:endParaRPr lang="en-US" sz="1150" dirty="0"/>
          </a:p>
          <a:p>
            <a:pPr marL="127000" indent="-127000">
              <a:spcAft>
                <a:spcPts val="500"/>
              </a:spcAft>
              <a:buSzPct val="100000"/>
              <a:buChar char="•"/>
            </a:pPr>
            <a:r>
              <a:rPr lang="en-US" sz="115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demais itens ]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11274552" cy="603504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43000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 em fases — cada fase entrega valor e prepara a próxima. Datas a confirmar com o grupo de trabalho.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1618488" y="2514600"/>
            <a:ext cx="512064" cy="512064"/>
          </a:xfrm>
          <a:prstGeom prst="ellipse">
            <a:avLst/>
          </a:prstGeom>
          <a:solidFill>
            <a:srgbClr val="1B2A8F"/>
          </a:solidFill>
          <a:ln/>
        </p:spPr>
      </p:sp>
      <p:sp>
        <p:nvSpPr>
          <p:cNvPr id="11" name="Text 9"/>
          <p:cNvSpPr/>
          <p:nvPr/>
        </p:nvSpPr>
        <p:spPr>
          <a:xfrm>
            <a:off x="1618488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48840" y="2770632"/>
            <a:ext cx="2606040" cy="0"/>
          </a:xfrm>
          <a:prstGeom prst="line">
            <a:avLst/>
          </a:prstGeom>
          <a:noFill/>
          <a:ln w="19050">
            <a:solidFill>
              <a:srgbClr val="C7CE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46120"/>
            <a:ext cx="2651760" cy="502920"/>
          </a:xfrm>
          <a:prstGeom prst="rect">
            <a:avLst/>
          </a:prstGeom>
          <a:solidFill>
            <a:srgbClr val="1B2A8F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749040"/>
            <a:ext cx="2651760" cy="1920240"/>
          </a:xfrm>
          <a:prstGeom prst="rect">
            <a:avLst/>
          </a:prstGeom>
          <a:solidFill>
            <a:srgbClr val="EBEFF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246120"/>
            <a:ext cx="2651760" cy="2423160"/>
          </a:xfrm>
          <a:prstGeom prst="rect">
            <a:avLst/>
          </a:prstGeom>
          <a:ln w="12700">
            <a:solidFill>
              <a:srgbClr val="1B2A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Mapear &amp; priorizar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3152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as-is + escolha da Onda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do processo e produto priorizado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425696" y="2514600"/>
            <a:ext cx="512064" cy="512064"/>
          </a:xfrm>
          <a:prstGeom prst="ellipse">
            <a:avLst/>
          </a:prstGeom>
          <a:solidFill>
            <a:srgbClr val="1D1DC9"/>
          </a:solidFill>
          <a:ln/>
        </p:spPr>
      </p:sp>
      <p:sp>
        <p:nvSpPr>
          <p:cNvPr id="22" name="Text 20"/>
          <p:cNvSpPr/>
          <p:nvPr/>
        </p:nvSpPr>
        <p:spPr>
          <a:xfrm>
            <a:off x="4425696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956048" y="2770632"/>
            <a:ext cx="2606040" cy="0"/>
          </a:xfrm>
          <a:prstGeom prst="line">
            <a:avLst/>
          </a:prstGeom>
          <a:noFill/>
          <a:ln w="19050">
            <a:solidFill>
              <a:srgbClr val="C7CE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55848" y="3246120"/>
            <a:ext cx="2651760" cy="502920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25" name="Shape 23"/>
          <p:cNvSpPr/>
          <p:nvPr/>
        </p:nvSpPr>
        <p:spPr>
          <a:xfrm>
            <a:off x="3355848" y="3749040"/>
            <a:ext cx="2651760" cy="1920240"/>
          </a:xfrm>
          <a:prstGeom prst="rect">
            <a:avLst/>
          </a:prstGeom>
          <a:solidFill>
            <a:srgbClr val="EBEFF6"/>
          </a:solidFill>
          <a:ln/>
        </p:spPr>
      </p:sp>
      <p:sp>
        <p:nvSpPr>
          <p:cNvPr id="26" name="Shape 24"/>
          <p:cNvSpPr/>
          <p:nvPr/>
        </p:nvSpPr>
        <p:spPr>
          <a:xfrm>
            <a:off x="3355848" y="3246120"/>
            <a:ext cx="2651760" cy="2423160"/>
          </a:xfrm>
          <a:prstGeom prst="rect">
            <a:avLst/>
          </a:prstGeom>
          <a:ln w="12700">
            <a:solidFill>
              <a:srgbClr val="1D1D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93008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&amp; modelo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38728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38728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da Trillia no Celonis (OCPM)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38728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538728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objeto-cêntrico carregado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232904" y="2514600"/>
            <a:ext cx="512064" cy="512064"/>
          </a:xfrm>
          <a:prstGeom prst="ellipse">
            <a:avLst/>
          </a:prstGeom>
          <a:solidFill>
            <a:srgbClr val="E8993A"/>
          </a:solidFill>
          <a:ln/>
        </p:spPr>
      </p:sp>
      <p:sp>
        <p:nvSpPr>
          <p:cNvPr id="33" name="Text 31"/>
          <p:cNvSpPr/>
          <p:nvPr/>
        </p:nvSpPr>
        <p:spPr>
          <a:xfrm>
            <a:off x="7232904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763256" y="2770632"/>
            <a:ext cx="2606040" cy="0"/>
          </a:xfrm>
          <a:prstGeom prst="line">
            <a:avLst/>
          </a:prstGeom>
          <a:noFill/>
          <a:ln w="19050">
            <a:solidFill>
              <a:srgbClr val="C7CE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63056" y="3246120"/>
            <a:ext cx="2651760" cy="502920"/>
          </a:xfrm>
          <a:prstGeom prst="rect">
            <a:avLst/>
          </a:prstGeom>
          <a:solidFill>
            <a:srgbClr val="E8993A"/>
          </a:solidFill>
          <a:ln/>
        </p:spPr>
      </p:sp>
      <p:sp>
        <p:nvSpPr>
          <p:cNvPr id="36" name="Shape 34"/>
          <p:cNvSpPr/>
          <p:nvPr/>
        </p:nvSpPr>
        <p:spPr>
          <a:xfrm>
            <a:off x="6163056" y="3749040"/>
            <a:ext cx="2651760" cy="1920240"/>
          </a:xfrm>
          <a:prstGeom prst="rect">
            <a:avLst/>
          </a:prstGeom>
          <a:solidFill>
            <a:srgbClr val="EBEFF6"/>
          </a:solidFill>
          <a:ln/>
        </p:spPr>
      </p:sp>
      <p:sp>
        <p:nvSpPr>
          <p:cNvPr id="37" name="Shape 35"/>
          <p:cNvSpPr/>
          <p:nvPr/>
        </p:nvSpPr>
        <p:spPr>
          <a:xfrm>
            <a:off x="6163056" y="3246120"/>
            <a:ext cx="2651760" cy="2423160"/>
          </a:xfrm>
          <a:prstGeom prst="rect">
            <a:avLst/>
          </a:prstGeom>
          <a:ln w="12700">
            <a:solidFill>
              <a:srgbClr val="E8993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00216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Reconciliação &amp; detalhamento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345936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45936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Metranet × SAP + fatura detalhada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45936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45936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de divergências + detalhamento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10040112" y="2514600"/>
            <a:ext cx="512064" cy="512064"/>
          </a:xfrm>
          <a:prstGeom prst="ellipse">
            <a:avLst/>
          </a:prstGeom>
          <a:solidFill>
            <a:srgbClr val="3FA45C"/>
          </a:solidFill>
          <a:ln/>
        </p:spPr>
      </p:sp>
      <p:sp>
        <p:nvSpPr>
          <p:cNvPr id="44" name="Text 42"/>
          <p:cNvSpPr/>
          <p:nvPr/>
        </p:nvSpPr>
        <p:spPr>
          <a:xfrm>
            <a:off x="10040112" y="25146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8970264" y="3246120"/>
            <a:ext cx="2651760" cy="502920"/>
          </a:xfrm>
          <a:prstGeom prst="rect">
            <a:avLst/>
          </a:prstGeom>
          <a:solidFill>
            <a:srgbClr val="3FA45C"/>
          </a:solidFill>
          <a:ln/>
        </p:spPr>
      </p:sp>
      <p:sp>
        <p:nvSpPr>
          <p:cNvPr id="46" name="Shape 44"/>
          <p:cNvSpPr/>
          <p:nvPr/>
        </p:nvSpPr>
        <p:spPr>
          <a:xfrm>
            <a:off x="8970264" y="3749040"/>
            <a:ext cx="2651760" cy="1920240"/>
          </a:xfrm>
          <a:prstGeom prst="rect">
            <a:avLst/>
          </a:prstGeom>
          <a:solidFill>
            <a:srgbClr val="EBEFF6"/>
          </a:solidFill>
          <a:ln/>
        </p:spPr>
      </p:sp>
      <p:sp>
        <p:nvSpPr>
          <p:cNvPr id="47" name="Shape 45"/>
          <p:cNvSpPr/>
          <p:nvPr/>
        </p:nvSpPr>
        <p:spPr>
          <a:xfrm>
            <a:off x="8970264" y="3246120"/>
            <a:ext cx="2651760" cy="2423160"/>
          </a:xfrm>
          <a:prstGeom prst="rect">
            <a:avLst/>
          </a:prstGeom>
          <a:ln w="12700">
            <a:solidFill>
              <a:srgbClr val="3FA4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07424" y="32461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automação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153144" y="38862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9153144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Indicadores, cockpit e Action Flow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9153144" y="4663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A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9153144" y="489204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Painéis e envio automatizado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48640" y="58704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Quando:  </a:t>
            </a:r>
            <a:pPr indent="0" marL="0">
              <a:buNone/>
            </a:pPr>
            <a:r>
              <a:rPr lang="en-US" sz="115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preencher os meses de cada fase ]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E4E9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36676"/>
            <a:ext cx="12188952" cy="36576"/>
          </a:xfrm>
          <a:prstGeom prst="rect">
            <a:avLst/>
          </a:prstGeom>
          <a:solidFill>
            <a:srgbClr val="1D1DC9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[B]</a:t>
            </a:r>
            <a:pPr indent="0" marL="0">
              <a:buNone/>
            </a:pPr>
            <a:r>
              <a:rPr lang="en-US" sz="2000" b="1" baseline="30000" dirty="0">
                <a:solidFill>
                  <a:srgbClr val="001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17320" y="18288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10515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A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INFORMAÇÃO INTERNA – INTERNAL INFORMATION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280160"/>
            <a:ext cx="6400800" cy="3063240"/>
          </a:xfrm>
          <a:prstGeom prst="rect">
            <a:avLst/>
          </a:prstGeom>
          <a:solidFill>
            <a:srgbClr val="D8E3F9"/>
          </a:solidFill>
          <a:ln w="12700">
            <a:solidFill>
              <a:srgbClr val="1D1D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44475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precisamos agora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5852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os donos de processo por área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as sessões de mapeamento (as-is)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 acessos aos dados e sistemas da Trillia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escopo e o produto da Onda 1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Fechar o cronograma com o grupo de trabalho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178040" y="1280160"/>
            <a:ext cx="4526280" cy="3063240"/>
          </a:xfrm>
          <a:prstGeom prst="rect">
            <a:avLst/>
          </a:prstGeom>
          <a:solidFill>
            <a:srgbClr val="EBEFF6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14447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vamos tocar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452360" y="2011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Cadência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52360" y="22951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semanais + revisão quinzenal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452360" y="2587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Frentes em paralelo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52360" y="287121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Celonis + mapeamento desde já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452360" y="31638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marco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52360" y="34472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77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da Onda 1 validado — [ data ]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452360" y="37398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52360" y="40233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8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 room para tempestividade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5806440"/>
            <a:ext cx="12188952" cy="566928"/>
          </a:xfrm>
          <a:prstGeom prst="rect">
            <a:avLst/>
          </a:prstGeom>
          <a:solidFill>
            <a:srgbClr val="00145F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580644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esperada: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o grupo de trabalho, a priorização inicial e o cronograma da Onda 1.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71600" y="2286000"/>
            <a:ext cx="137160" cy="21945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" y="228600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434340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5" name="Shape 3"/>
          <p:cNvSpPr/>
          <p:nvPr/>
        </p:nvSpPr>
        <p:spPr>
          <a:xfrm>
            <a:off x="2788920" y="2286000"/>
            <a:ext cx="137160" cy="21945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6" name="Shape 4"/>
          <p:cNvSpPr/>
          <p:nvPr/>
        </p:nvSpPr>
        <p:spPr>
          <a:xfrm>
            <a:off x="2542032" y="228600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7" name="Shape 5"/>
          <p:cNvSpPr/>
          <p:nvPr/>
        </p:nvSpPr>
        <p:spPr>
          <a:xfrm>
            <a:off x="2542032" y="4343400"/>
            <a:ext cx="384048" cy="137160"/>
          </a:xfrm>
          <a:prstGeom prst="rect">
            <a:avLst/>
          </a:prstGeom>
          <a:solidFill>
            <a:srgbClr val="F8C29A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2743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obrigado.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D1D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B3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Lucas</dc:creator>
  <cp:lastModifiedBy>Lucas</cp:lastModifiedBy>
  <cp:revision>1</cp:revision>
  <dcterms:created xsi:type="dcterms:W3CDTF">2026-08-17T23:12:47Z</dcterms:created>
  <dcterms:modified xsi:type="dcterms:W3CDTF">2026-08-17T23:12:47Z</dcterms:modified>
</cp:coreProperties>
</file>