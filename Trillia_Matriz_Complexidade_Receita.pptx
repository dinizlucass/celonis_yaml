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fdde7e7f2844fb" /><Relationship Type="http://schemas.openxmlformats.org/officeDocument/2006/relationships/extended-properties" Target="/docProps/app.xml" Id="Re922528ea8984f80" /><Relationship Type="http://schemas.openxmlformats.org/officeDocument/2006/relationships/officeDocument" Target="/ppt/presentation.xml" Id="R83896fcbb92149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39e834050e41aa"/>
  </p:sldMasterIdLst>
  <p:notesMasterIdLst>
    <p:notesMasterId xmlns:r="http://schemas.openxmlformats.org/officeDocument/2006/relationships" r:id="Rf68aa270974e47fd"/>
  </p:notesMasterIdLst>
  <p:sldIdLst>
    <p:sldId xmlns:r="http://schemas.openxmlformats.org/officeDocument/2006/relationships" id="256" r:id="Rcc9486ab2caf47b5"/>
  </p:sldIdLst>
  <p:sldSz cx="12192000" cy="6800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eab72e00fa434c" /><Relationship Type="http://schemas.openxmlformats.org/officeDocument/2006/relationships/slideMaster" Target="/ppt/slideMasters/slideMaster1.xml" Id="Rf439e834050e41aa" /><Relationship Type="http://schemas.openxmlformats.org/officeDocument/2006/relationships/notesMaster" Target="/ppt/notesMasters/notesMaster1.xml" Id="Rf68aa270974e47fd" /><Relationship Type="http://schemas.openxmlformats.org/officeDocument/2006/relationships/presProps" Target="/ppt/presProps.xml" Id="R39a5634f593049aa" /><Relationship Type="http://schemas.openxmlformats.org/officeDocument/2006/relationships/tableStyles" Target="/ppt/tableStyles.xml" Id="Rc54a8af2835b493f" /><Relationship Type="http://schemas.openxmlformats.org/officeDocument/2006/relationships/slide" Target="/ppt/slides/slide1.xml" Id="Rcc9486ab2caf47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b11c409b4345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b83d1efccd4bf2" /><Relationship Type="http://schemas.openxmlformats.org/officeDocument/2006/relationships/notesMaster" Target="/ppt/notesMasters/notesMaster1.xml" Id="R45c244a5e75a4f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Dados: gráfico enviado pelo usuário em 14/10/2026, Matriz complexidade x receita. Complexidade ordinal: 1 Baixa; 2 Média; 3 Alta; 4 Muito alta. Receita em milhões de reais. Divisão horizontal em R$ 8 milhões. Monitora PIP mantido em R$ 2,8 milhões conforme o gráfico enviado. Referência visual: imagem da apresentação Capital Markets – Visão produto a produto fornecida pelo usuário em 13/10/2026.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a646fabb444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1cce3d0a445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a24be58b448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49c5022ce42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190cc91c14f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74f680eeb48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BF51F4-8997-439A-814C-7C87ACB6A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69210"/>
            <a:ext cx="9753600" cy="982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F059A5-7E83-44E2-8DE5-8EEA245800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40468"/>
            <a:ext cx="8534400" cy="75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4BF941-E0FA-4D0D-9169-B739A2133A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33688"/>
            <a:ext cx="97536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1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C62486-9535-4A52-AE88-57FFB29B5A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28955"/>
            <a:ext cx="10820400" cy="831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E5680C-18F4-4536-BA78-F678D340C6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889125"/>
            <a:ext cx="10820400" cy="423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9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1pPr>
            <a:lvl2pPr marL="52895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2pPr>
            <a:lvl3pPr marL="83121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3pPr>
            <a:lvl4pPr marL="113347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4pPr>
            <a:lvl5pPr marL="143573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5pPr>
            <a:lvl6pPr marL="173799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6pPr>
            <a:lvl7pPr marL="204025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7pPr>
            <a:lvl8pPr marL="234251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8pPr>
            <a:lvl9pPr marL="264477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F5E717-EF74-4243-AD45-54D83FCBF2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28955"/>
            <a:ext cx="10820400" cy="831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706A8A-D274-4724-B7A1-D73BE1E0C6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889125"/>
            <a:ext cx="5029200" cy="423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9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1pPr>
            <a:lvl2pPr marL="52895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2pPr>
            <a:lvl3pPr marL="83121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3pPr>
            <a:lvl4pPr marL="113347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4pPr>
            <a:lvl5pPr marL="143573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5pPr>
            <a:lvl6pPr marL="173799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6pPr>
            <a:lvl7pPr marL="204025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7pPr>
            <a:lvl8pPr marL="234251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8pPr>
            <a:lvl9pPr marL="264477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7801EF-CF06-4192-B9A1-1B6B376CC9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889125"/>
            <a:ext cx="5029200" cy="423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9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1pPr>
            <a:lvl2pPr marL="52895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2pPr>
            <a:lvl3pPr marL="83121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3pPr>
            <a:lvl4pPr marL="113347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4pPr>
            <a:lvl5pPr marL="143573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5pPr>
            <a:lvl6pPr marL="173799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6pPr>
            <a:lvl7pPr marL="204025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7pPr>
            <a:lvl8pPr marL="234251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8pPr>
            <a:lvl9pPr marL="264477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195704-5B56-471D-B4B1-1BA0DE7D82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28955"/>
            <a:ext cx="10820400" cy="831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5B8A61-28B6-4F50-9760-4229B76F6A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889125"/>
            <a:ext cx="5029200" cy="423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9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1pPr>
            <a:lvl2pPr marL="52895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2pPr>
            <a:lvl3pPr marL="83121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3pPr>
            <a:lvl4pPr marL="113347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4pPr>
            <a:lvl5pPr marL="143573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5pPr>
            <a:lvl6pPr marL="173799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6pPr>
            <a:lvl7pPr marL="204025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7pPr>
            <a:lvl8pPr marL="234251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8pPr>
            <a:lvl9pPr marL="2644775" indent="-226695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64d7157b2046a9" /><Relationship Type="http://schemas.openxmlformats.org/officeDocument/2006/relationships/slideLayout" Target="/ppt/slideLayouts/slideLayout1.xml" Id="R821ccf25327a4738" /><Relationship Type="http://schemas.openxmlformats.org/officeDocument/2006/relationships/slideLayout" Target="/ppt/slideLayouts/slideLayout2.xml" Id="R79363ce332964d8c" /><Relationship Type="http://schemas.openxmlformats.org/officeDocument/2006/relationships/slideLayout" Target="/ppt/slideLayouts/slideLayout3.xml" Id="R0f6c79d17063415a" /><Relationship Type="http://schemas.openxmlformats.org/officeDocument/2006/relationships/slideLayout" Target="/ppt/slideLayouts/slideLayout4.xml" Id="Re77265cd7351441c" /><Relationship Type="http://schemas.openxmlformats.org/officeDocument/2006/relationships/slideLayout" Target="/ppt/slideLayouts/slideLayout5.xml" Id="Rda0653e6f99c429c" /><Relationship Type="http://schemas.openxmlformats.org/officeDocument/2006/relationships/slideLayout" Target="/ppt/slideLayouts/slideLayout6.xml" Id="R206cf387ee7f45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1ccf25327a4738"/>
    <p:sldLayoutId xmlns:r="http://schemas.openxmlformats.org/officeDocument/2006/relationships" id="2147483650" r:id="R79363ce332964d8c"/>
    <p:sldLayoutId xmlns:r="http://schemas.openxmlformats.org/officeDocument/2006/relationships" id="2147483651" r:id="R0f6c79d17063415a"/>
    <p:sldLayoutId xmlns:r="http://schemas.openxmlformats.org/officeDocument/2006/relationships" id="2147483652" r:id="Re77265cd7351441c"/>
    <p:sldLayoutId xmlns:r="http://schemas.openxmlformats.org/officeDocument/2006/relationships" id="2147483653" r:id="Rda0653e6f99c429c"/>
    <p:sldLayoutId xmlns:r="http://schemas.openxmlformats.org/officeDocument/2006/relationships" id="2147483654" r:id="R206cf387ee7f45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520fd547c4c73" /><Relationship Type="http://schemas.openxmlformats.org/officeDocument/2006/relationships/image" Target="/ppt/media/image.png" Id="Rebbfad1b3c1c44d1" /><Relationship Type="http://schemas.openxmlformats.org/officeDocument/2006/relationships/chart" Target="/ppt/slides/charts/chart1.xml" Id="Re754db7b9537400e" /><Relationship Type="http://schemas.openxmlformats.org/officeDocument/2006/relationships/notesSlide" Target="/ppt/notesSlides/notesSlide1.xml" Id="Rcdb325bf86d34a9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Datawise Plus</c:v>
          </c:tx>
          <c:spPr>
            <a:solidFill xmlns:a="http://schemas.openxmlformats.org/drawingml/2006/main">
              <a:srgbClr val="122663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122663"/>
              </a:solidFill>
              <a:ln xmlns:a="http://schemas.openxmlformats.org/drawingml/2006/main" w="0">
                <a:noFill/>
                <a:prstDash val="solid"/>
              </a:ln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>
                        <a:solidFill>
                          <a:srgbClr val="122663"/>
                        </a:solidFill>
                        <a:latin typeface="Arial"/>
                        <a:ea typeface="Arial"/>
                        <a:cs typeface="Arial"/>
                      </a:rPr>
                      <a:t>Datawise Plus (R$ 10,2 M)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>
                      <a:solidFill>
                        <a:srgbClr val="12266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>
                    <a:solidFill>
                      <a:srgbClr val="122663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</c:dLbls>
          <c:xVal>
            <c:numRef>
              <c:f>'Chart Data'!$A$2:$A$2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Data'!$B$2:$B$2</c:f>
              <c:numCache>
                <c:formatCode>0</c:formatCode>
                <c:ptCount val="1"/>
                <c:pt idx="0">
                  <c:v>10.2</c:v>
                </c:pt>
              </c:numCache>
            </c:numRef>
          </c:yVal>
        </c:ser>
        <c:ser>
          <c:idx val="1"/>
          <c:order val="1"/>
          <c:tx>
            <c:v>Indicadores</c:v>
          </c:tx>
          <c:spPr>
            <a:solidFill xmlns:a="http://schemas.openxmlformats.org/drawingml/2006/main">
              <a:srgbClr val="122663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122663"/>
              </a:solidFill>
              <a:ln xmlns:a="http://schemas.openxmlformats.org/drawingml/2006/main" w="0">
                <a:noFill/>
                <a:prstDash val="solid"/>
              </a:ln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>
                        <a:solidFill>
                          <a:srgbClr val="122663"/>
                        </a:solidFill>
                        <a:latin typeface="Arial"/>
                        <a:ea typeface="Arial"/>
                        <a:cs typeface="Arial"/>
                      </a:rPr>
                      <a:t>Indicadores (R$ 13,0 M)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>
                      <a:solidFill>
                        <a:srgbClr val="12266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>
                    <a:solidFill>
                      <a:srgbClr val="122663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</c:dLbls>
          <c:xVal>
            <c:numRef>
              <c:f>'Chart Data'!$C$2:$C$2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Data'!$D$2:$D$2</c:f>
              <c:numCache>
                <c:formatCode>0</c:formatCode>
                <c:ptCount val="1"/>
                <c:pt idx="0">
                  <c:v>13</c:v>
                </c:pt>
              </c:numCache>
            </c:numRef>
          </c:yVal>
        </c:ser>
        <c:ser>
          <c:idx val="2"/>
          <c:order val="2"/>
          <c:tx>
            <c:v>Datawise Reports</c:v>
          </c:tx>
          <c:spPr>
            <a:solidFill xmlns:a="http://schemas.openxmlformats.org/drawingml/2006/main">
              <a:srgbClr val="122663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122663"/>
              </a:solidFill>
              <a:ln xmlns:a="http://schemas.openxmlformats.org/drawingml/2006/main" w="0">
                <a:noFill/>
                <a:prstDash val="solid"/>
              </a:ln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>
                        <a:solidFill>
                          <a:srgbClr val="122663"/>
                        </a:solidFill>
                        <a:latin typeface="Arial"/>
                        <a:ea typeface="Arial"/>
                        <a:cs typeface="Arial"/>
                      </a:rPr>
                      <a:t>Datawise Reports (R$ 14,0 M)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>
                      <a:solidFill>
                        <a:srgbClr val="12266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l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>
                    <a:solidFill>
                      <a:srgbClr val="122663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l"/>
            <c:showLegendKey val="0"/>
            <c:showVal val="0"/>
            <c:showCatName val="0"/>
            <c:showSerName val="1"/>
            <c:showPercent val="0"/>
            <c:showBubbleSize val="0"/>
            <c:showLeaderLines val="0"/>
          </c:dLbls>
          <c:xVal>
            <c:numRef>
              <c:f>'Chart Data'!$E$2:$E$2</c:f>
              <c:numCache>
                <c:formatCode>General</c:formatCode>
                <c:ptCount val="1"/>
                <c:pt idx="0">
                  <c:v>4</c:v>
                </c:pt>
              </c:numCache>
            </c:numRef>
          </c:xVal>
          <c:yVal>
            <c:numRef>
              <c:f>'Chart Data'!$F$2:$F$2</c:f>
              <c:numCache>
                <c:formatCode>0</c:formatCode>
                <c:ptCount val="1"/>
                <c:pt idx="0">
                  <c:v>14</c:v>
                </c:pt>
              </c:numCache>
            </c:numRef>
          </c:yVal>
        </c:ser>
        <c:ser>
          <c:idx val="3"/>
          <c:order val="3"/>
          <c:tx>
            <c:v>Up2data</c:v>
          </c:tx>
          <c:spPr>
            <a:solidFill xmlns:a="http://schemas.openxmlformats.org/drawingml/2006/main">
              <a:srgbClr val="122663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122663"/>
              </a:solidFill>
              <a:ln xmlns:a="http://schemas.openxmlformats.org/drawingml/2006/main" w="0">
                <a:noFill/>
                <a:prstDash val="solid"/>
              </a:ln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>
                        <a:solidFill>
                          <a:srgbClr val="122663"/>
                        </a:solidFill>
                        <a:latin typeface="Arial"/>
                        <a:ea typeface="Arial"/>
                        <a:cs typeface="Arial"/>
                      </a:rPr>
                      <a:t>Up2data (R$ 7,8 M)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>
                      <a:solidFill>
                        <a:srgbClr val="12266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b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>
                    <a:solidFill>
                      <a:srgbClr val="122663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b"/>
            <c:showLegendKey val="0"/>
            <c:showVal val="0"/>
            <c:showCatName val="0"/>
            <c:showSerName val="1"/>
            <c:showPercent val="0"/>
            <c:showBubbleSize val="0"/>
            <c:showLeaderLines val="0"/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'Chart Data'!$H$2:$H$2</c:f>
              <c:numCache>
                <c:formatCode>0</c:formatCode>
                <c:ptCount val="1"/>
                <c:pt idx="0">
                  <c:v>7.8</c:v>
                </c:pt>
              </c:numCache>
            </c:numRef>
          </c:yVal>
        </c:ser>
        <c:ser>
          <c:idx val="4"/>
          <c:order val="4"/>
          <c:tx>
            <c:v>Monitora PIP</c:v>
          </c:tx>
          <c:spPr>
            <a:solidFill xmlns:a="http://schemas.openxmlformats.org/drawingml/2006/main">
              <a:srgbClr val="122663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122663"/>
              </a:solidFill>
              <a:ln xmlns:a="http://schemas.openxmlformats.org/drawingml/2006/main" w="0">
                <a:noFill/>
                <a:prstDash val="solid"/>
              </a:ln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>
                        <a:solidFill>
                          <a:srgbClr val="122663"/>
                        </a:solidFill>
                        <a:latin typeface="Arial"/>
                        <a:ea typeface="Arial"/>
                        <a:cs typeface="Arial"/>
                      </a:rPr>
                      <a:t>Monitora PIP (R$ 2,8 M)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>
                      <a:solidFill>
                        <a:srgbClr val="12266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>
                    <a:solidFill>
                      <a:srgbClr val="122663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Data'!$J$2:$J$2</c:f>
              <c:numCache>
                <c:formatCode>0</c:formatCode>
                <c:ptCount val="1"/>
                <c:pt idx="0">
                  <c:v>2.8</c:v>
                </c:pt>
              </c:numCache>
            </c:numRef>
          </c:yVal>
        </c:ser>
        <c:ser>
          <c:idx val="5"/>
          <c:order val="5"/>
          <c:tx>
            <c:v>Smart Target</c:v>
          </c:tx>
          <c:spPr>
            <a:solidFill xmlns:a="http://schemas.openxmlformats.org/drawingml/2006/main">
              <a:srgbClr val="122663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122663"/>
              </a:solidFill>
              <a:ln xmlns:a="http://schemas.openxmlformats.org/drawingml/2006/main" w="0">
                <a:noFill/>
                <a:prstDash val="solid"/>
              </a:ln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>
                        <a:solidFill>
                          <a:srgbClr val="122663"/>
                        </a:solidFill>
                        <a:latin typeface="Arial"/>
                        <a:ea typeface="Arial"/>
                        <a:cs typeface="Arial"/>
                      </a:rPr>
                      <a:t>Smart Target (R$ 1,6 M)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>
                      <a:solidFill>
                        <a:srgbClr val="12266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r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>
                    <a:solidFill>
                      <a:srgbClr val="122663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</c:dLbls>
          <c:xVal>
            <c:numRef>
              <c:f>'Chart Data'!$K$2:$K$2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Data'!$L$2:$L$2</c:f>
              <c:numCache>
                <c:formatCode>0</c:formatCode>
                <c:ptCount val="1"/>
                <c:pt idx="0">
                  <c:v>1.6</c:v>
                </c:pt>
              </c:numCache>
            </c:numRef>
          </c:yVal>
        </c:ser>
        <c:ser>
          <c:idx val="6"/>
          <c:order val="6"/>
          <c:tx>
            <c:v>Divisão de receita</c:v>
          </c:tx>
          <c:spPr>
            <a:ln xmlns:a="http://schemas.openxmlformats.org/drawingml/2006/main" w="9525">
              <a:solidFill>
                <a:srgbClr val="A7B6CD"/>
              </a:solidFill>
              <a:prstDash val="dash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Data'!$M$2:$M$3</c:f>
              <c:numCache>
                <c:formatCode>General</c:formatCode>
                <c:ptCount val="2"/>
                <c:pt idx="0">
                  <c:v>0.5</c:v>
                </c:pt>
                <c:pt idx="1">
                  <c:v>4.5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8</c:v>
                </c:pt>
                <c:pt idx="1">
                  <c:v>8</c:v>
                </c:pt>
              </c:numCache>
            </c:numRef>
          </c:yVal>
        </c:ser>
        <c:ser>
          <c:idx val="7"/>
          <c:order val="7"/>
          <c:tx>
            <c:v>Divisão de complexidade</c:v>
          </c:tx>
          <c:spPr>
            <a:ln xmlns:a="http://schemas.openxmlformats.org/drawingml/2006/main" w="9525">
              <a:solidFill>
                <a:srgbClr val="A7B6CD"/>
              </a:solidFill>
              <a:prstDash val="dash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Data'!$O$2:$O$3</c:f>
              <c:numCache>
                <c:formatCode>General</c:formatCode>
                <c:ptCount val="2"/>
                <c:pt idx="0">
                  <c:v>2.5</c:v>
                </c:pt>
                <c:pt idx="1">
                  <c:v>2.5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0</c:v>
                </c:pt>
                <c:pt idx="1">
                  <c:v>16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6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A7B6C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26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4"/>
      </c:valAx>
      <c:valAx>
        <c:axId val="48650112"/>
        <c:scaling>
          <c:orientation val="minMax"/>
          <c:max val="4.5"/>
          <c:min val="0.5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A7B6C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2266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FE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4F523-E583-45D4-92C6-6B14405971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fad1b3c1c44d1"/>
          <a:srcRect xmlns:a="http://schemas.openxmlformats.org/drawingml/2006/main" l="2337" t="3714" r="93255" b="89714"/>
          <a:stretch xmlns:a="http://schemas.openxmlformats.org/drawingml/2006/main"/>
        </p:blipFill>
        <p:spPr>
          <a:xfrm xmlns:a="http://schemas.openxmlformats.org/drawingml/2006/main">
            <a:off x="285750" y="247650"/>
            <a:ext cx="55245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DF735-A892-4C76-93A8-EADBFD22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226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63"/>
                </a:solidFill>
                <a:latin typeface="Arial"/>
                <a:ea typeface="Arial"/>
                <a:cs typeface="Arial"/>
              </a:rPr>
              <a:t>Capital Markets – Matriz complexidade x receita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17549-081C-4EA0-85D4-392C229A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05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87"/>
                </a:solidFill>
                <a:latin typeface="Arial"/>
                <a:ea typeface="Arial"/>
                <a:cs typeface="Arial"/>
              </a:rPr>
              <a:t>Produtos da esteira de faturamento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B8B89AD-CB74-4A93-82A8-2D83ABF36355}"/>
              </a:ext>
            </a:extLst>
          </p:cNvPr>
          <p:cNvGraphicFramePr/>
          <p:nvPr/>
        </p:nvGraphicFramePr>
        <p:xfrm>
          <a:off xmlns:a="http://schemas.openxmlformats.org/drawingml/2006/main" x="714375" y="1581150"/>
          <a:ext xmlns:a="http://schemas.openxmlformats.org/drawingml/2006/main" cx="110680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54db7b9537400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1DD8E-147D-4FE2-B34D-7EA02364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87"/>
                </a:solidFill>
                <a:latin typeface="Arial"/>
                <a:ea typeface="Arial"/>
                <a:cs typeface="Arial"/>
              </a:rPr>
              <a:t>Receita (R$ milhões)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665E8-D670-4760-A509-02F884A3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733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226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26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663"/>
                </a:solidFill>
                <a:latin typeface="Arial"/>
                <a:ea typeface="Arial"/>
                <a:cs typeface="Arial"/>
              </a:rPr>
              <a:t>Prioridade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F428C-603C-406A-9CE4-CF2A73AE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425" b="1">
                <a:solidFill>
                  <a:srgbClr val="1226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226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663"/>
                </a:solidFill>
                <a:latin typeface="Arial"/>
                <a:ea typeface="Arial"/>
                <a:cs typeface="Arial"/>
              </a:rPr>
              <a:t>Grandes projetos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80F6C-82A5-414B-BC26-76B32C4F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543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226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26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663"/>
                </a:solidFill>
                <a:latin typeface="Arial"/>
                <a:ea typeface="Arial"/>
                <a:cs typeface="Arial"/>
              </a:rPr>
              <a:t>Ganhos rápidos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9757D-5556-42D9-98C4-BF45BAA5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43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425" b="1">
                <a:solidFill>
                  <a:srgbClr val="1226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226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663"/>
                </a:solidFill>
                <a:latin typeface="Arial"/>
                <a:ea typeface="Arial"/>
                <a:cs typeface="Arial"/>
              </a:rPr>
              <a:t>Revisar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C1C38-2226-4986-9FD2-8CFED6E4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38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87"/>
                </a:solidFill>
                <a:latin typeface="Arial"/>
                <a:ea typeface="Arial"/>
                <a:cs typeface="Arial"/>
              </a:rPr>
              <a:t>Baixa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4791B-EBAB-4FC0-9D09-F5B4E007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533" y="6038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87"/>
                </a:solidFill>
                <a:latin typeface="Arial"/>
                <a:ea typeface="Arial"/>
                <a:cs typeface="Arial"/>
              </a:rPr>
              <a:t>Média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5E012-7B76-47E6-82E3-417C8205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190" y="6038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87"/>
                </a:solidFill>
                <a:latin typeface="Arial"/>
                <a:ea typeface="Arial"/>
                <a:cs typeface="Arial"/>
              </a:rPr>
              <a:t>Alta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635C2-55BE-45E5-856C-094A6253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848" y="6038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87"/>
                </a:solidFill>
                <a:latin typeface="Arial"/>
                <a:ea typeface="Arial"/>
                <a:cs typeface="Arial"/>
              </a:rPr>
              <a:t>Muito alta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E3C3B-0F23-4C8F-AB60-FDD42D4B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19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365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87"/>
                </a:solidFill>
                <a:latin typeface="Arial"/>
                <a:ea typeface="Arial"/>
                <a:cs typeface="Arial"/>
              </a:rPr>
              <a:t>Complexidade</a:t>
            </a:r>
          </a:p>
        </p:txBody>
      </p:sp>
    </p:spTree>
    <p:extLst>
      <p:ext uri="{BB962C8B-B14F-4D97-AF65-F5344CB8AC3E}">
        <p14:creationId xmlns:p14="http://schemas.microsoft.com/office/powerpoint/2010/main" val="2083856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2026-10-14T13:40:40.8880000Z</dcterms:created>
  <dcterms:modified xsi:type="dcterms:W3CDTF">2026-10-14T13:40:40.8880000Z</dcterms:modified>
</coreProperties>
</file>