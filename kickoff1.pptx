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642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c_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085832" y="0"/>
            <a:ext cx="210312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2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331720" y="233172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BD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9235440" y="233172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BD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2743200" y="2514600"/>
            <a:ext cx="6720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54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 </a:t>
            </a: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Trilha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do projeto — frente de Tecnologia, Dados e Serviços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0" y="5989320"/>
            <a:ext cx="4416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data ]</a:t>
            </a:r>
            <a:r>
              <a:rPr lang="en-US" sz="11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Process Mining &amp; Faturamento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1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c_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085832" y="0"/>
            <a:ext cx="210312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2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17320" y="274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 jornada do faturamento, de ponta a ponta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produto da B3 percorre a mesma cadeia. Enxergá-la inteira é o que revela onde a receita vaza, onde há retrabalho e onde falta dono.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1975104" cy="1371600"/>
          </a:xfrm>
          <a:prstGeom prst="roundRect">
            <a:avLst>
              <a:gd name="adj" fmla="val 2667"/>
            </a:avLst>
          </a:prstGeom>
          <a:solidFill>
            <a:srgbClr val="0A2470"/>
          </a:solidFill>
          <a:ln w="15875">
            <a:solidFill>
              <a:srgbClr val="54C3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8803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16352" y="3008376"/>
            <a:ext cx="237744" cy="166421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1" name="Shape 8"/>
          <p:cNvSpPr/>
          <p:nvPr/>
        </p:nvSpPr>
        <p:spPr>
          <a:xfrm>
            <a:off x="3054096" y="2468880"/>
            <a:ext cx="1975104" cy="1371600"/>
          </a:xfrm>
          <a:prstGeom prst="roundRect">
            <a:avLst>
              <a:gd name="adj" fmla="val 2667"/>
            </a:avLst>
          </a:prstGeom>
          <a:solidFill>
            <a:srgbClr val="0A2470"/>
          </a:solidFill>
          <a:ln w="15875">
            <a:solidFill>
              <a:srgbClr val="54C3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63824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054096" y="28803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Habilitação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47488" y="3008376"/>
            <a:ext cx="237744" cy="166421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5" name="Shape 12"/>
          <p:cNvSpPr/>
          <p:nvPr/>
        </p:nvSpPr>
        <p:spPr>
          <a:xfrm>
            <a:off x="5285232" y="2468880"/>
            <a:ext cx="1975104" cy="1371600"/>
          </a:xfrm>
          <a:prstGeom prst="roundRect">
            <a:avLst>
              <a:gd name="adj" fmla="val 2667"/>
            </a:avLst>
          </a:prstGeom>
          <a:solidFill>
            <a:srgbClr val="0A2470"/>
          </a:solidFill>
          <a:ln w="15875">
            <a:solidFill>
              <a:srgbClr val="54C3F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5232" y="28803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Tarifação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78624" y="3008376"/>
            <a:ext cx="237744" cy="166421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9" name="Shape 16"/>
          <p:cNvSpPr/>
          <p:nvPr/>
        </p:nvSpPr>
        <p:spPr>
          <a:xfrm>
            <a:off x="7516368" y="2468880"/>
            <a:ext cx="1975104" cy="1371600"/>
          </a:xfrm>
          <a:prstGeom prst="roundRect">
            <a:avLst>
              <a:gd name="adj" fmla="val 2667"/>
            </a:avLst>
          </a:prstGeom>
          <a:solidFill>
            <a:srgbClr val="0A2470"/>
          </a:solidFill>
          <a:ln w="15875">
            <a:solidFill>
              <a:srgbClr val="54C3F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26096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516368" y="28803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509760" y="3008376"/>
            <a:ext cx="237744" cy="166421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3" name="Shape 20"/>
          <p:cNvSpPr/>
          <p:nvPr/>
        </p:nvSpPr>
        <p:spPr>
          <a:xfrm>
            <a:off x="9747504" y="2468880"/>
            <a:ext cx="1975104" cy="1371600"/>
          </a:xfrm>
          <a:prstGeom prst="roundRect">
            <a:avLst>
              <a:gd name="adj" fmla="val 2667"/>
            </a:avLst>
          </a:prstGeom>
          <a:solidFill>
            <a:srgbClr val="0A2470"/>
          </a:solidFill>
          <a:ln w="15875">
            <a:solidFill>
              <a:srgbClr val="54C3F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57232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747504" y="28803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2960" y="4480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4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de faturamento não é sobre um sistema — é sobre a costura entre todos eles.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c_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085832" y="0"/>
            <a:ext cx="210312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2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17320" y="274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Formatos x Receita — onde a Trilha se encaixa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02920" y="10972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463040"/>
            <a:ext cx="1417320" cy="502920"/>
          </a:xfrm>
          <a:prstGeom prst="roundRect">
            <a:avLst>
              <a:gd name="adj" fmla="val 7273"/>
            </a:avLst>
          </a:prstGeom>
          <a:solidFill>
            <a:srgbClr val="54C3F3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057400" y="10972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057400" y="1463040"/>
            <a:ext cx="1417320" cy="502920"/>
          </a:xfrm>
          <a:prstGeom prst="roundRect">
            <a:avLst>
              <a:gd name="adj" fmla="val 7273"/>
            </a:avLst>
          </a:prstGeom>
          <a:solidFill>
            <a:srgbClr val="54C3F3"/>
          </a:solidFill>
          <a:ln/>
        </p:spPr>
      </p:sp>
      <p:sp>
        <p:nvSpPr>
          <p:cNvPr id="11" name="Text 8"/>
          <p:cNvSpPr/>
          <p:nvPr/>
        </p:nvSpPr>
        <p:spPr>
          <a:xfrm>
            <a:off x="205740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Balcão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11880" y="10972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611880" y="1463040"/>
            <a:ext cx="1417320" cy="502920"/>
          </a:xfrm>
          <a:prstGeom prst="roundRect">
            <a:avLst>
              <a:gd name="adj" fmla="val 7273"/>
            </a:avLst>
          </a:prstGeom>
          <a:solidFill>
            <a:srgbClr val="54C3F3"/>
          </a:solidFill>
          <a:ln/>
        </p:spPr>
      </p:sp>
      <p:sp>
        <p:nvSpPr>
          <p:cNvPr id="14" name="Text 11"/>
          <p:cNvSpPr/>
          <p:nvPr/>
        </p:nvSpPr>
        <p:spPr>
          <a:xfrm>
            <a:off x="3611880" y="14630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UIF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166360" y="1097280"/>
            <a:ext cx="6519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166360" y="1463040"/>
            <a:ext cx="6519672" cy="502920"/>
          </a:xfrm>
          <a:prstGeom prst="roundRect">
            <a:avLst>
              <a:gd name="adj" fmla="val 7273"/>
            </a:avLst>
          </a:prstGeom>
          <a:solidFill>
            <a:srgbClr val="54C3F3"/>
          </a:solidFill>
          <a:ln/>
        </p:spPr>
      </p:sp>
      <p:sp>
        <p:nvSpPr>
          <p:cNvPr id="17" name="Text 14"/>
          <p:cNvSpPr/>
          <p:nvPr/>
        </p:nvSpPr>
        <p:spPr>
          <a:xfrm>
            <a:off x="5166360" y="1463040"/>
            <a:ext cx="6519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Tecnologia, Dados e Serviços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257800" y="2194560"/>
            <a:ext cx="1097280" cy="411480"/>
          </a:xfrm>
          <a:prstGeom prst="roundRect">
            <a:avLst>
              <a:gd name="adj" fmla="val 8889"/>
            </a:avLst>
          </a:prstGeom>
          <a:ln w="12700">
            <a:solidFill>
              <a:srgbClr val="FFFFFF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257800" y="21945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NW/NT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46520" y="2194560"/>
            <a:ext cx="1005840" cy="411480"/>
          </a:xfrm>
          <a:prstGeom prst="roundRect">
            <a:avLst>
              <a:gd name="adj" fmla="val 8889"/>
            </a:avLst>
          </a:prstGeom>
          <a:ln w="12700">
            <a:solidFill>
              <a:srgbClr val="FFFFFF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6446520" y="21945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Leilões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543800" y="2194560"/>
            <a:ext cx="1234440" cy="411480"/>
          </a:xfrm>
          <a:prstGeom prst="roundRect">
            <a:avLst>
              <a:gd name="adj" fmla="val 8889"/>
            </a:avLst>
          </a:prstGeom>
          <a:ln w="12700">
            <a:solidFill>
              <a:srgbClr val="FFFFFF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7543800" y="21945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915400" y="2194560"/>
            <a:ext cx="2651760" cy="411480"/>
          </a:xfrm>
          <a:prstGeom prst="roundRect">
            <a:avLst>
              <a:gd name="adj" fmla="val 8889"/>
            </a:avLst>
          </a:prstGeom>
          <a:ln w="12700">
            <a:solidFill>
              <a:srgbClr val="F5A623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8915400" y="2194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Sessões · Colocation · Up2Data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207008" y="2971800"/>
            <a:ext cx="0" cy="50292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429768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Liquidação STR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984248" y="3017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984248" y="34015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Metranet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61488" y="3739896"/>
            <a:ext cx="0" cy="50292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1984248" y="4288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538728" y="3017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SNG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3538728" y="34015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Metranet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315968" y="3739896"/>
            <a:ext cx="0" cy="50292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5" name="Text 32"/>
          <p:cNvSpPr/>
          <p:nvPr/>
        </p:nvSpPr>
        <p:spPr>
          <a:xfrm>
            <a:off x="3538728" y="4288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029200" y="3017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029200" y="34015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Metranet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806440" y="3739896"/>
            <a:ext cx="0" cy="50292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5029200" y="4288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949440" y="2971800"/>
            <a:ext cx="0" cy="50292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1" name="Text 38"/>
          <p:cNvSpPr/>
          <p:nvPr/>
        </p:nvSpPr>
        <p:spPr>
          <a:xfrm>
            <a:off x="6172200" y="3520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360920" y="3017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8138160" y="3355848"/>
            <a:ext cx="0" cy="50292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4" name="Text 41"/>
          <p:cNvSpPr/>
          <p:nvPr/>
        </p:nvSpPr>
        <p:spPr>
          <a:xfrm>
            <a:off x="7360920" y="39044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9464040" y="30175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Serviços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9464040" y="34015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Metranet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10241280" y="3739896"/>
            <a:ext cx="0" cy="50292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48" name="Text 45"/>
          <p:cNvSpPr/>
          <p:nvPr/>
        </p:nvSpPr>
        <p:spPr>
          <a:xfrm>
            <a:off x="9464040" y="4288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Cada produto tem processo próprio. A frente de dados (Trilha) será priorizada por sessões.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828800"/>
            <a:ext cx="914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BD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2240280" y="1828800"/>
            <a:ext cx="914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BD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3566160" y="2514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3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584448" y="336499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ponto de partida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584448" y="3977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fizemos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0" y="6126480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data 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0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1463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Listados  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O que construímos — e como trabalhamos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EFF4FC"/>
          </a:solidFill>
          <a:ln w="12700">
            <a:solidFill>
              <a:srgbClr val="C9D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Rodamos a frente de faturamento de Listados em duas frentes complementares. É esse método que levamos agora para a Trilha.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394960" cy="3977640"/>
          </a:xfrm>
          <a:prstGeom prst="roundRect">
            <a:avLst>
              <a:gd name="adj" fmla="val 920"/>
            </a:avLst>
          </a:prstGeom>
          <a:solidFill>
            <a:srgbClr val="EAF2FF"/>
          </a:solidFill>
          <a:ln w="15875">
            <a:solidFill>
              <a:srgbClr val="003B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5394960" cy="640080"/>
          </a:xfrm>
          <a:prstGeom prst="roundRect">
            <a:avLst>
              <a:gd name="adj" fmla="val 5714"/>
            </a:avLst>
          </a:prstGeom>
          <a:solidFill>
            <a:srgbClr val="003B8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Celonis (OCPM)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raio-X objetivo: o que de fato acontece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Metranet × SAP em cima do dado real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de leakage e divergências por cliente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da fatura e indicadores de erro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automação e monitoramento contínuo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5394960" cy="3977640"/>
          </a:xfrm>
          <a:prstGeom prst="roundRect">
            <a:avLst>
              <a:gd name="adj" fmla="val 920"/>
            </a:avLst>
          </a:prstGeom>
          <a:solidFill>
            <a:srgbClr val="FFF3E6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783080"/>
            <a:ext cx="5394960" cy="640080"/>
          </a:xfrm>
          <a:prstGeom prst="roundRect">
            <a:avLst>
              <a:gd name="adj" fmla="val 5714"/>
            </a:avLst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81051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processo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entendimento humano: por que diverge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306324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ponta a ponta do fluxo as-is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de gargalos e pontos sem dono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negócio, exceções e estornos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de papéis e responsabilidades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1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c_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085832" y="0"/>
            <a:ext cx="210312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2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17320" y="274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Listados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Grandes números do que já olhamos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85800" y="2103120"/>
            <a:ext cx="2606040" cy="2468880"/>
          </a:xfrm>
          <a:prstGeom prst="roundRect">
            <a:avLst>
              <a:gd name="adj" fmla="val 1481"/>
            </a:avLst>
          </a:prstGeom>
          <a:solidFill>
            <a:srgbClr val="0A2470"/>
          </a:solidFill>
          <a:ln w="12700">
            <a:solidFill>
              <a:srgbClr val="29A3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2423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R$ XX mi ]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68680" y="3429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divergências / leakage identificados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11880" y="2103120"/>
            <a:ext cx="2606040" cy="2468880"/>
          </a:xfrm>
          <a:prstGeom prst="roundRect">
            <a:avLst>
              <a:gd name="adj" fmla="val 1481"/>
            </a:avLst>
          </a:prstGeom>
          <a:solidFill>
            <a:srgbClr val="0A2470"/>
          </a:solidFill>
          <a:ln w="12700">
            <a:solidFill>
              <a:srgbClr val="29A3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03320" y="2423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XX% ]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3794760" y="3429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ordens com divergência Metranet × SAP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537960" y="2103120"/>
            <a:ext cx="2606040" cy="2468880"/>
          </a:xfrm>
          <a:prstGeom prst="roundRect">
            <a:avLst>
              <a:gd name="adj" fmla="val 1481"/>
            </a:avLst>
          </a:prstGeom>
          <a:solidFill>
            <a:srgbClr val="0A2470"/>
          </a:solidFill>
          <a:ln w="12700">
            <a:solidFill>
              <a:srgbClr val="29A3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9400" y="2423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XX ]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6720840" y="3429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causas-raiz mapeadas no processo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464040" y="2103120"/>
            <a:ext cx="2606040" cy="2468880"/>
          </a:xfrm>
          <a:prstGeom prst="roundRect">
            <a:avLst>
              <a:gd name="adj" fmla="val 1481"/>
            </a:avLst>
          </a:prstGeom>
          <a:solidFill>
            <a:srgbClr val="0A2470"/>
          </a:solidFill>
          <a:ln w="12700">
            <a:solidFill>
              <a:srgbClr val="29A3D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55480" y="2423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XX h ]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9646920" y="342900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trabalho manual por mês endereçadas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5800" y="4937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Preencher com os números reais de Listados. São eles que criam urgência: “se isso estava escondido aqui, imagina na Trilha”.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c_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085832" y="0"/>
            <a:ext cx="210312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2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17320" y="274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aprendemos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a lição que define o sucesso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822960" y="1417320"/>
            <a:ext cx="10515600" cy="1965960"/>
          </a:xfrm>
          <a:prstGeom prst="roundRect">
            <a:avLst>
              <a:gd name="adj" fmla="val 2791"/>
            </a:avLst>
          </a:prstGeom>
          <a:solidFill>
            <a:srgbClr val="0A247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1600200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preditor de sucesso não foi a tecnologia — </a:t>
            </a: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colocar as pessoas certas para se falarem e assumirem seu pedaço.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3703320"/>
            <a:ext cx="3310128" cy="2103120"/>
          </a:xfrm>
          <a:prstGeom prst="roundRect">
            <a:avLst>
              <a:gd name="adj" fmla="val 1739"/>
            </a:avLst>
          </a:prstGeom>
          <a:solidFill>
            <a:srgbClr val="12307E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54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Ruído de comunicação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51560" y="4526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Muita informação distribuída entre áreas e sistemas; baixa confiabilidade do que chega ao cliente.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61688" y="3703320"/>
            <a:ext cx="3310128" cy="2103120"/>
          </a:xfrm>
          <a:prstGeom prst="roundRect">
            <a:avLst>
              <a:gd name="adj" fmla="val 1739"/>
            </a:avLst>
          </a:prstGeom>
          <a:solidFill>
            <a:srgbClr val="12307E"/>
          </a:solidFill>
          <a:ln/>
        </p:spPr>
      </p:sp>
      <p:sp>
        <p:nvSpPr>
          <p:cNvPr id="12" name="Text 9"/>
          <p:cNvSpPr/>
          <p:nvPr/>
        </p:nvSpPr>
        <p:spPr>
          <a:xfrm>
            <a:off x="4590288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54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responsabilidades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590288" y="4526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dono claro por etapa, divergências ficam órfãs e o retrabalho vira rotina.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00416" y="3703320"/>
            <a:ext cx="3310128" cy="2103120"/>
          </a:xfrm>
          <a:prstGeom prst="roundRect">
            <a:avLst>
              <a:gd name="adj" fmla="val 1739"/>
            </a:avLst>
          </a:prstGeom>
          <a:solidFill>
            <a:srgbClr val="12307E"/>
          </a:solidFill>
          <a:ln/>
        </p:spPr>
      </p:sp>
      <p:sp>
        <p:nvSpPr>
          <p:cNvPr id="15" name="Text 12"/>
          <p:cNvSpPr/>
          <p:nvPr/>
        </p:nvSpPr>
        <p:spPr>
          <a:xfrm>
            <a:off x="8129016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54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pessoas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129016" y="45262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Planilhas, correções manuais e conhecimento concentrado em poucas pessoas.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828800"/>
            <a:ext cx="914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BD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2240280" y="1828800"/>
            <a:ext cx="914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BD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3566160" y="2514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3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584448" y="336499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o que aprendemos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584448" y="3977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0" y="6126480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data 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0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1463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 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O que é diferente de Listados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EFF4FC"/>
          </a:solidFill>
          <a:ln w="12700">
            <a:solidFill>
              <a:srgbClr val="C9D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método, contexto novo. Nomear as diferenças agora evita tratar a Trilha como uma cópia — e é onde mora o risco.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486400" cy="1828800"/>
          </a:xfrm>
          <a:prstGeom prst="roundRect">
            <a:avLst>
              <a:gd name="adj" fmla="val 2000"/>
            </a:avLst>
          </a:prstGeom>
          <a:solidFill>
            <a:srgbClr val="F4F6FA"/>
          </a:solidFill>
          <a:ln w="15875">
            <a:solidFill>
              <a:srgbClr val="1F4E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11680"/>
            <a:ext cx="685800" cy="685800"/>
          </a:xfrm>
          <a:prstGeom prst="roundRect">
            <a:avLst>
              <a:gd name="adj" fmla="val 5333"/>
            </a:avLst>
          </a:prstGeom>
          <a:solidFill>
            <a:srgbClr val="1F4E9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19842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cobrança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508760" y="2496312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de dados e serviços (sessões, colocation, Up2Data) com lógica de tarifação própria.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486400" cy="1828800"/>
          </a:xfrm>
          <a:prstGeom prst="roundRect">
            <a:avLst>
              <a:gd name="adj" fmla="val 2000"/>
            </a:avLst>
          </a:prstGeom>
          <a:solidFill>
            <a:srgbClr val="F4F6FA"/>
          </a:solidFill>
          <a:ln w="15875">
            <a:solidFill>
              <a:srgbClr val="1497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011680"/>
            <a:ext cx="685800" cy="685800"/>
          </a:xfrm>
          <a:prstGeom prst="roundRect">
            <a:avLst>
              <a:gd name="adj" fmla="val 5333"/>
            </a:avLst>
          </a:prstGeom>
          <a:solidFill>
            <a:srgbClr val="1497B0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269480" y="19842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 de sistemas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269480" y="2496312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Serviços, Gateway, Metranet, SAP e ServiceNow — com apoio ainda em Excel.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5486400" cy="1828800"/>
          </a:xfrm>
          <a:prstGeom prst="roundRect">
            <a:avLst>
              <a:gd name="adj" fmla="val 2000"/>
            </a:avLst>
          </a:prstGeom>
          <a:solidFill>
            <a:srgbClr val="F4F6FA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114800"/>
            <a:ext cx="685800" cy="685800"/>
          </a:xfrm>
          <a:prstGeom prst="roundRect">
            <a:avLst>
              <a:gd name="adj" fmla="val 5333"/>
            </a:avLst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14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508760" y="408736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x recorrência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508760" y="4599432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recorrente por sessão muda a natureza das divergências.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17920" y="3886200"/>
            <a:ext cx="5486400" cy="1828800"/>
          </a:xfrm>
          <a:prstGeom prst="roundRect">
            <a:avLst>
              <a:gd name="adj" fmla="val 2000"/>
            </a:avLst>
          </a:prstGeom>
          <a:solidFill>
            <a:srgbClr val="F4F6FA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114800"/>
            <a:ext cx="685800" cy="685800"/>
          </a:xfrm>
          <a:prstGeom prst="roundRect">
            <a:avLst>
              <a:gd name="adj" fmla="val 5333"/>
            </a:avLst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114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69480" y="408736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Atores e áreas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269480" y="4599432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donos de processo a mapear e alinhar desde o kickoff.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Ajustar/validar as diferenças com o time de negócio da Trilha.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c_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085832" y="0"/>
            <a:ext cx="210312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2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17320" y="274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Como vamos trabalhar: duas lentes, um problema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frentes não competem — se completam. A mineração mostra ONDE diverge; o mapeamento explica POR QUE.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0A2470"/>
          </a:solidFill>
          <a:ln w="19050">
            <a:solidFill>
              <a:srgbClr val="54C3F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4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Celonis (OCPM)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raio-X: onde diverge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7240" y="32461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objeto-cêntrico do faturamento da Trilha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e detecção de leakage por sessão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erros e indicadores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monitoramento e automação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0A247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processo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29400" y="2286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contexto: por que diverge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629400" y="32461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end2end (contratação → atendimento)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tarifação, exceções e estornos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Gargalos, dependências e pontos sem dono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responsabilidades por etapa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c_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085832" y="0"/>
            <a:ext cx="210312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2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17320" y="274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End 2 End — primeiro mergulho da Trilha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pic>
        <p:nvPicPr>
          <p:cNvPr id="6" name="Image 1" descr="/home/claude/icons/contrata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4" y="1600200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224028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Contratação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1005840" y="2880360"/>
            <a:ext cx="1609344" cy="685800"/>
          </a:xfrm>
          <a:prstGeom prst="roundRect">
            <a:avLst>
              <a:gd name="adj" fmla="val 5333"/>
            </a:avLst>
          </a:prstGeom>
          <a:solidFill>
            <a:srgbClr val="54C3F3"/>
          </a:solidFill>
          <a:ln/>
        </p:spPr>
      </p:sp>
      <p:sp>
        <p:nvSpPr>
          <p:cNvPr id="9" name="Text 5"/>
          <p:cNvSpPr/>
          <p:nvPr/>
        </p:nvSpPr>
        <p:spPr>
          <a:xfrm>
            <a:off x="1005840" y="2880360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Serviços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1143000" y="3703320"/>
            <a:ext cx="1335024" cy="502920"/>
          </a:xfrm>
          <a:prstGeom prst="roundRect">
            <a:avLst>
              <a:gd name="adj" fmla="val 7273"/>
            </a:avLst>
          </a:prstGeom>
          <a:solidFill>
            <a:srgbClr val="FBDBAE"/>
          </a:solidFill>
          <a:ln/>
        </p:spPr>
      </p:sp>
      <p:sp>
        <p:nvSpPr>
          <p:cNvPr id="11" name="Text 7"/>
          <p:cNvSpPr/>
          <p:nvPr/>
        </p:nvSpPr>
        <p:spPr>
          <a:xfrm>
            <a:off x="1143000" y="370332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Helix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07208" y="1764792"/>
            <a:ext cx="237744" cy="166421"/>
          </a:xfrm>
          <a:prstGeom prst="rightArrow">
            <a:avLst/>
          </a:prstGeom>
          <a:solidFill>
            <a:srgbClr val="F5A623"/>
          </a:solidFill>
          <a:ln/>
        </p:spPr>
      </p:sp>
      <p:pic>
        <p:nvPicPr>
          <p:cNvPr id="13" name="Image 2" descr="/home/claude/icons/configurac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600200"/>
            <a:ext cx="585216" cy="585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054096" y="224028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3236976" y="2880360"/>
            <a:ext cx="1609344" cy="685800"/>
          </a:xfrm>
          <a:prstGeom prst="roundRect">
            <a:avLst>
              <a:gd name="adj" fmla="val 5333"/>
            </a:avLst>
          </a:prstGeom>
          <a:solidFill>
            <a:srgbClr val="54C3F3"/>
          </a:solidFill>
          <a:ln/>
        </p:spPr>
      </p:sp>
      <p:sp>
        <p:nvSpPr>
          <p:cNvPr id="16" name="Text 11"/>
          <p:cNvSpPr/>
          <p:nvPr/>
        </p:nvSpPr>
        <p:spPr>
          <a:xfrm>
            <a:off x="3236976" y="2880360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3374136" y="3703320"/>
            <a:ext cx="1335024" cy="502920"/>
          </a:xfrm>
          <a:prstGeom prst="roundRect">
            <a:avLst>
              <a:gd name="adj" fmla="val 7273"/>
            </a:avLst>
          </a:prstGeom>
          <a:solidFill>
            <a:srgbClr val="FBDBAE"/>
          </a:solidFill>
          <a:ln/>
        </p:spPr>
      </p:sp>
      <p:sp>
        <p:nvSpPr>
          <p:cNvPr id="18" name="Text 13"/>
          <p:cNvSpPr/>
          <p:nvPr/>
        </p:nvSpPr>
        <p:spPr>
          <a:xfrm>
            <a:off x="3374136" y="370332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38344" y="1764792"/>
            <a:ext cx="237744" cy="166421"/>
          </a:xfrm>
          <a:prstGeom prst="rightArrow">
            <a:avLst/>
          </a:prstGeom>
          <a:solidFill>
            <a:srgbClr val="F5A623"/>
          </a:solidFill>
          <a:ln/>
        </p:spPr>
      </p:sp>
      <p:pic>
        <p:nvPicPr>
          <p:cNvPr id="20" name="Image 3" descr="/home/claude/icons/tarifac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1600200"/>
            <a:ext cx="585216" cy="5852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85232" y="224028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Tarifação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5468112" y="2880360"/>
            <a:ext cx="1609344" cy="685800"/>
          </a:xfrm>
          <a:prstGeom prst="roundRect">
            <a:avLst>
              <a:gd name="adj" fmla="val 5333"/>
            </a:avLst>
          </a:prstGeom>
          <a:solidFill>
            <a:srgbClr val="54C3F3"/>
          </a:solidFill>
          <a:ln/>
        </p:spPr>
      </p:sp>
      <p:sp>
        <p:nvSpPr>
          <p:cNvPr id="23" name="Text 17"/>
          <p:cNvSpPr/>
          <p:nvPr/>
        </p:nvSpPr>
        <p:spPr>
          <a:xfrm>
            <a:off x="5468112" y="2880360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Metranet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605272" y="3703320"/>
            <a:ext cx="1335024" cy="502920"/>
          </a:xfrm>
          <a:prstGeom prst="roundRect">
            <a:avLst>
              <a:gd name="adj" fmla="val 7273"/>
            </a:avLst>
          </a:prstGeom>
          <a:solidFill>
            <a:srgbClr val="FBDBAE"/>
          </a:solidFill>
          <a:ln/>
        </p:spPr>
      </p:sp>
      <p:sp>
        <p:nvSpPr>
          <p:cNvPr id="25" name="Text 19"/>
          <p:cNvSpPr/>
          <p:nvPr/>
        </p:nvSpPr>
        <p:spPr>
          <a:xfrm>
            <a:off x="5605272" y="370332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269480" y="1764792"/>
            <a:ext cx="237744" cy="166421"/>
          </a:xfrm>
          <a:prstGeom prst="rightArrow">
            <a:avLst/>
          </a:prstGeom>
          <a:solidFill>
            <a:srgbClr val="F5A623"/>
          </a:solidFill>
          <a:ln/>
        </p:spPr>
      </p:sp>
      <p:pic>
        <p:nvPicPr>
          <p:cNvPr id="27" name="Image 4" descr="/home/claude/icons/faturament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312" y="1600200"/>
            <a:ext cx="585216" cy="58521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16368" y="224028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</a:t>
            </a:r>
            <a:endParaRPr lang="en-US" sz="1500" dirty="0"/>
          </a:p>
        </p:txBody>
      </p:sp>
      <p:sp>
        <p:nvSpPr>
          <p:cNvPr id="29" name="Shape 22"/>
          <p:cNvSpPr/>
          <p:nvPr/>
        </p:nvSpPr>
        <p:spPr>
          <a:xfrm>
            <a:off x="7699248" y="2880360"/>
            <a:ext cx="1609344" cy="685800"/>
          </a:xfrm>
          <a:prstGeom prst="roundRect">
            <a:avLst>
              <a:gd name="adj" fmla="val 5333"/>
            </a:avLst>
          </a:prstGeom>
          <a:solidFill>
            <a:srgbClr val="54C3F3"/>
          </a:solidFill>
          <a:ln/>
        </p:spPr>
      </p:sp>
      <p:sp>
        <p:nvSpPr>
          <p:cNvPr id="30" name="Text 23"/>
          <p:cNvSpPr/>
          <p:nvPr/>
        </p:nvSpPr>
        <p:spPr>
          <a:xfrm>
            <a:off x="7699248" y="2880360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9500616" y="1764792"/>
            <a:ext cx="237744" cy="166421"/>
          </a:xfrm>
          <a:prstGeom prst="rightArrow">
            <a:avLst/>
          </a:prstGeom>
          <a:solidFill>
            <a:srgbClr val="F5A623"/>
          </a:solidFill>
          <a:ln/>
        </p:spPr>
      </p:sp>
      <p:pic>
        <p:nvPicPr>
          <p:cNvPr id="32" name="Image 5" descr="/home/claude/icons/atendiment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2448" y="1600200"/>
            <a:ext cx="585216" cy="58521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747504" y="224028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9930384" y="2880360"/>
            <a:ext cx="1609344" cy="685800"/>
          </a:xfrm>
          <a:prstGeom prst="roundRect">
            <a:avLst>
              <a:gd name="adj" fmla="val 5333"/>
            </a:avLst>
          </a:prstGeom>
          <a:solidFill>
            <a:srgbClr val="54C3F3"/>
          </a:solidFill>
          <a:ln/>
        </p:spPr>
      </p:sp>
      <p:sp>
        <p:nvSpPr>
          <p:cNvPr id="35" name="Text 27"/>
          <p:cNvSpPr/>
          <p:nvPr/>
        </p:nvSpPr>
        <p:spPr>
          <a:xfrm>
            <a:off x="9930384" y="2880360"/>
            <a:ext cx="1609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Now</a:t>
            </a:r>
            <a:endParaRPr lang="en-US" sz="1250" dirty="0"/>
          </a:p>
        </p:txBody>
      </p:sp>
      <p:sp>
        <p:nvSpPr>
          <p:cNvPr id="36" name="Shape 28"/>
          <p:cNvSpPr/>
          <p:nvPr/>
        </p:nvSpPr>
        <p:spPr>
          <a:xfrm>
            <a:off x="10067544" y="3703320"/>
            <a:ext cx="1335024" cy="502920"/>
          </a:xfrm>
          <a:prstGeom prst="roundRect">
            <a:avLst>
              <a:gd name="adj" fmla="val 7273"/>
            </a:avLst>
          </a:prstGeom>
          <a:solidFill>
            <a:srgbClr val="FBDBAE"/>
          </a:solidFill>
          <a:ln/>
        </p:spPr>
      </p:sp>
      <p:sp>
        <p:nvSpPr>
          <p:cNvPr id="37" name="Text 29"/>
          <p:cNvSpPr/>
          <p:nvPr/>
        </p:nvSpPr>
        <p:spPr>
          <a:xfrm>
            <a:off x="10067544" y="370332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822960" y="5166360"/>
            <a:ext cx="256032" cy="256032"/>
          </a:xfrm>
          <a:prstGeom prst="rect">
            <a:avLst/>
          </a:prstGeom>
          <a:solidFill>
            <a:srgbClr val="54C3F3"/>
          </a:solidFill>
          <a:ln/>
        </p:spPr>
      </p:sp>
      <p:sp>
        <p:nvSpPr>
          <p:cNvPr id="39" name="Text 31"/>
          <p:cNvSpPr/>
          <p:nvPr/>
        </p:nvSpPr>
        <p:spPr>
          <a:xfrm>
            <a:off x="1143000" y="5120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principal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3291840" y="5166360"/>
            <a:ext cx="256032" cy="256032"/>
          </a:xfrm>
          <a:prstGeom prst="rect">
            <a:avLst/>
          </a:prstGeom>
          <a:solidFill>
            <a:srgbClr val="FBDBAE"/>
          </a:solidFill>
          <a:ln/>
        </p:spPr>
      </p:sp>
      <p:sp>
        <p:nvSpPr>
          <p:cNvPr id="41" name="Text 33"/>
          <p:cNvSpPr/>
          <p:nvPr/>
        </p:nvSpPr>
        <p:spPr>
          <a:xfrm>
            <a:off x="3611880" y="5120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5669280" y="5074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4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Excel em etapas críticas = risco de erro e retrabalho. É aqui que a Trilha começa.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3B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0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1463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 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Como vamos priorizar: em ondas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EFF4FC"/>
          </a:solidFill>
          <a:ln w="12700">
            <a:solidFill>
              <a:srgbClr val="C9D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valor cedo e reduzir disputa por recursos: começar pela sessão que ensina mais, evoluir para diagnóstico e correções estruturais.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3520440" cy="3931920"/>
          </a:xfrm>
          <a:prstGeom prst="roundRect">
            <a:avLst>
              <a:gd name="adj" fmla="val 1039"/>
            </a:avLst>
          </a:prstGeom>
          <a:solidFill>
            <a:srgbClr val="EAF2FF"/>
          </a:solidFill>
          <a:ln w="15875">
            <a:solidFill>
              <a:srgbClr val="003B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3520440" cy="685800"/>
          </a:xfrm>
          <a:prstGeom prst="roundRect">
            <a:avLst>
              <a:gd name="adj" fmla="val 5333"/>
            </a:avLst>
          </a:prstGeom>
          <a:solidFill>
            <a:srgbClr val="003B8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013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&amp; detalhar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3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End2End de Sessões (as-is)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3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da fatura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3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Sessões no Celonis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96512" y="3429000"/>
            <a:ext cx="256032" cy="179222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783080"/>
            <a:ext cx="3520440" cy="3931920"/>
          </a:xfrm>
          <a:prstGeom prst="roundRect">
            <a:avLst>
              <a:gd name="adj" fmla="val 1039"/>
            </a:avLst>
          </a:prstGeom>
          <a:solidFill>
            <a:srgbClr val="FFF3E6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783080"/>
            <a:ext cx="3520440" cy="685800"/>
          </a:xfrm>
          <a:prstGeom prst="roundRect">
            <a:avLst>
              <a:gd name="adj" fmla="val 5333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8013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&amp; indicadores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1546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3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erros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3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tarifação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3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ação / atendimento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845552" y="3429000"/>
            <a:ext cx="256032" cy="179222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1783080"/>
            <a:ext cx="3520440" cy="3931920"/>
          </a:xfrm>
          <a:prstGeom prst="roundRect">
            <a:avLst>
              <a:gd name="adj" fmla="val 1039"/>
            </a:avLst>
          </a:prstGeom>
          <a:solidFill>
            <a:srgbClr val="EAF7EF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783080"/>
            <a:ext cx="3520440" cy="685800"/>
          </a:xfrm>
          <a:prstGeom prst="roundRect">
            <a:avLst>
              <a:gd name="adj" fmla="val 5333"/>
            </a:avLst>
          </a:prstGeom>
          <a:solidFill>
            <a:srgbClr val="2E9E5B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80136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estruturais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21040" y="31546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3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de sistema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3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controles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3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 donos definidos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Ajustar o conteúdo das ondas conforme escopo definido com o negócio.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rc_motif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085832" y="0"/>
            <a:ext cx="210312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r>
              <a:rPr lang="en-US" sz="2200" b="1" baseline="30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17320" y="274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o que precisamos desta sala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51052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0A247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pedimos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dono de processo por área envolvida na Trilha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nas sessões de mapeamento (as-is)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aos dados e sistemas (Metranet, SAP, Portal, ServiceNow)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E7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sobre o escopo da Onda 1 e a cadência de trabalho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1371600"/>
            <a:ext cx="5166360" cy="4480560"/>
          </a:xfrm>
          <a:prstGeom prst="roundRect">
            <a:avLst>
              <a:gd name="adj" fmla="val 1224"/>
            </a:avLst>
          </a:prstGeom>
          <a:solidFill>
            <a:srgbClr val="12307E"/>
          </a:solidFill>
          <a:ln/>
        </p:spPr>
      </p:sp>
      <p:sp>
        <p:nvSpPr>
          <p:cNvPr id="10" name="Text 7"/>
          <p:cNvSpPr/>
          <p:nvPr/>
        </p:nvSpPr>
        <p:spPr>
          <a:xfrm>
            <a:off x="6629400" y="1554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4C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tocar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2940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629400" y="24688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Rituais semanais de mapeamento + revisão quinzenal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2940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em paralelo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629400" y="33832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Celonis (dados) e mapeamento (processo) desde já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62940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marco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629400" y="42976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End2End de Sessões validado — [ data alvo ]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629400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 Onda 1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629400" y="52120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7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da fatura + dados no Celonis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1029</Words>
  <Application>Microsoft Office PowerPoint</Application>
  <PresentationFormat>Widescreen</PresentationFormat>
  <Paragraphs>206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B3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Lucas</dc:creator>
  <cp:lastModifiedBy>Lucas Diniz</cp:lastModifiedBy>
  <cp:revision>1</cp:revision>
  <dcterms:created xsi:type="dcterms:W3CDTF">2026-08-16T15:15:14Z</dcterms:created>
  <dcterms:modified xsi:type="dcterms:W3CDTF">2026-08-16T18:05:54Z</dcterms:modified>
</cp:coreProperties>
</file>