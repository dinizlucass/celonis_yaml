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5240000" cy="85725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Capa reconstruída a partir do PDF fornecido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Atualizado com base na transcrição da reunião de 08/09/2026. O status reflete declarações feitas durante a reunião.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Cronograma preliminar em formato Gantt. As barras representam janelas iniciais inferidas a partir do status da reunião e das datas-alvo. As janelas em laranja dependem da conclusão das etapas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Áreas existentes e novas áreas citadas na reunião. A matriz agrupa interfaces de suporte para preservar legibilidade.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Matriz RACI revisada com base na transcrição de 08/09/2026. Agrupamentos preservam a leitura executiva. Atribuições permanecem sujeitas à validação com cada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Matriz RACI revisada com base na transcrição de 08/09/2026. Agrupamentos preservam a leitura executiva. Atribuições permanecem sujeitas à validação com cada área.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F84EA2A-210F-4CCE-B3CF-92518B71FB21}"/>
              </a:ext>
            </a:extLst>
          </p:cNvPr>
          <p:cNvSpPr>
            <a:spLocks noGrp="1"/>
          </p:cNvSpPr>
          <p:nvPr/>
        </p:nvSpPr>
        <p:spPr>
          <a:xfrm>
            <a:off x="904875" y="1666875"/>
            <a:ext cx="4095750" cy="476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1750" b="0" i="0">
                <a:solidFill>
                  <a:srgbClr val="FFB58D"/>
                </a:solidFill>
                <a:latin typeface="Arial"/>
                <a:ea typeface="Arial"/>
                <a:cs typeface="Arial"/>
              </a:defRPr>
            </a:pPr>
            <a:r>
              <a:rPr sz="21750" b="0" i="0">
                <a:solidFill>
                  <a:srgbClr val="FFB58D"/>
                </a:solidFill>
                <a:latin typeface="Arial"/>
                <a:ea typeface="Arial"/>
                <a:cs typeface="Arial"/>
              </a:rPr>
              <a:t>[   ]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A6BD3E7-A418-46CB-9A63-0B0F39233578}"/>
              </a:ext>
            </a:extLst>
          </p:cNvPr>
          <p:cNvSpPr>
            <a:spLocks noGrp="1"/>
          </p:cNvSpPr>
          <p:nvPr/>
        </p:nvSpPr>
        <p:spPr>
          <a:xfrm>
            <a:off x="5715000" y="3143250"/>
            <a:ext cx="7048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4950" b="1" i="0">
                <a:solidFill>
                  <a:srgbClr val="1E1FCB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E1FCB"/>
                </a:solidFill>
                <a:latin typeface="Arial"/>
                <a:ea typeface="Arial"/>
                <a:cs typeface="Arial"/>
              </a:rPr>
              <a:t>Faturamento Trillia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839CF06-5E1B-47B0-AC8B-9AF58572AB66}"/>
              </a:ext>
            </a:extLst>
          </p:cNvPr>
          <p:cNvSpPr>
            <a:spLocks noGrp="1"/>
          </p:cNvSpPr>
          <p:nvPr/>
        </p:nvSpPr>
        <p:spPr>
          <a:xfrm>
            <a:off x="12906375" y="68580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75" b="0" i="0">
                <a:solidFill>
                  <a:srgbClr val="1E1FC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E1FCB"/>
                </a:solidFill>
                <a:latin typeface="Arial"/>
                <a:ea typeface="Arial"/>
                <a:cs typeface="Arial"/>
              </a:rPr>
              <a:t>08.09.2026</a:t>
            </a:r>
          </a:p>
        </p:txBody>
      </p:sp>
    </p:spTree>
    <p:extLst>
      <p:ext uri="{BB962C8B-B14F-4D97-AF65-F5344CB8AC3E}">
        <p14:creationId xmlns:p14="http://schemas.microsoft.com/office/powerpoint/2010/main" val="874238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>
            <a:extLst>
              <a:ext uri="{FF2B5EF4-FFF2-40B4-BE49-F238E27FC236}">
                <a16:creationId xmlns:a16="http://schemas.microsoft.com/office/drawing/2014/main" id="{754146BA-5364-4BD0-810D-542DB29ED57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7429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1" i="0">
                <a:solidFill>
                  <a:srgbClr val="1E1FC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E1FCB"/>
                </a:solidFill>
                <a:latin typeface="Arial"/>
                <a:ea typeface="Arial"/>
                <a:cs typeface="Arial"/>
              </a:rPr>
              <a:t>[B]³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9505F7E-62E9-49EA-B80E-AC6121AAC1EA}"/>
              </a:ext>
            </a:extLst>
          </p:cNvPr>
          <p:cNvSpPr>
            <a:spLocks noGrp="1"/>
          </p:cNvSpPr>
          <p:nvPr/>
        </p:nvSpPr>
        <p:spPr>
          <a:xfrm>
            <a:off x="1123950" y="295275"/>
            <a:ext cx="6667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0" i="1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3150" b="0" i="1">
                <a:solidFill>
                  <a:srgbClr val="081F69"/>
                </a:solidFill>
                <a:latin typeface="Arial"/>
                <a:ea typeface="Arial"/>
                <a:cs typeface="Arial"/>
              </a:rPr>
              <a:t>Weekly Report 08.09.26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65DA050-1D69-4E88-BB4F-F00CC991C0EB}"/>
              </a:ext>
            </a:extLst>
          </p:cNvPr>
          <p:cNvSpPr>
            <a:spLocks noGrp="1"/>
          </p:cNvSpPr>
          <p:nvPr/>
        </p:nvSpPr>
        <p:spPr>
          <a:xfrm>
            <a:off x="552450" y="1276350"/>
            <a:ext cx="6905625" cy="495300"/>
          </a:xfrm>
          <a:prstGeom prst="rect">
            <a:avLst/>
          </a:prstGeom>
          <a:solidFill>
            <a:srgbClr val="081F69"/>
          </a:solidFill>
          <a:ln w="0">
            <a:noFill/>
            <a:prstDash val="solid"/>
          </a:ln>
        </p:spPr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251C80D-972D-472C-892B-4F88CC44DCF3}"/>
              </a:ext>
            </a:extLst>
          </p:cNvPr>
          <p:cNvSpPr>
            <a:spLocks noGrp="1"/>
          </p:cNvSpPr>
          <p:nvPr/>
        </p:nvSpPr>
        <p:spPr>
          <a:xfrm>
            <a:off x="7791450" y="1276350"/>
            <a:ext cx="6905625" cy="495300"/>
          </a:xfrm>
          <a:prstGeom prst="rect">
            <a:avLst/>
          </a:prstGeom>
          <a:solidFill>
            <a:srgbClr val="081F69"/>
          </a:solidFill>
          <a:ln w="0">
            <a:noFill/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2B3483A-C19C-40E6-8375-8F58107EBDB4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6905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ATIVIDADES DA SEMANA | 01/09 - 08/09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09D8D28-2034-4983-B3A1-4573599F6614}"/>
              </a:ext>
            </a:extLst>
          </p:cNvPr>
          <p:cNvSpPr>
            <a:spLocks noGrp="1"/>
          </p:cNvSpPr>
          <p:nvPr/>
        </p:nvSpPr>
        <p:spPr>
          <a:xfrm>
            <a:off x="7791450" y="1362075"/>
            <a:ext cx="6905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DECISÕES E RISCOS ATUALIZADOS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907D9B3-0FE0-43B4-B3C6-996F2B3E7596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647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Nova esteira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54DD4CB-3C99-407B-85F3-23A3D17DCCB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AD74A7C-AC73-49FB-9FE3-147C4B31F4E8}"/>
              </a:ext>
            </a:extLst>
          </p:cNvPr>
          <p:cNvSpPr>
            <a:spLocks noGrp="1"/>
          </p:cNvSpPr>
          <p:nvPr/>
        </p:nvSpPr>
        <p:spPr>
          <a:xfrm>
            <a:off x="1028700" y="2476500"/>
            <a:ext cx="6000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Script de integração, validação cadastral e acessos SAP priorizados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CA9892D-A5C4-4F1C-938A-9D63D464EC85}"/>
              </a:ext>
            </a:extLst>
          </p:cNvPr>
          <p:cNvSpPr>
            <a:spLocks noGrp="1"/>
          </p:cNvSpPr>
          <p:nvPr/>
        </p:nvSpPr>
        <p:spPr>
          <a:xfrm>
            <a:off x="742950" y="311467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C40772-695D-4322-8B64-8021BE397B3B}"/>
              </a:ext>
            </a:extLst>
          </p:cNvPr>
          <p:cNvSpPr>
            <a:spLocks noGrp="1"/>
          </p:cNvSpPr>
          <p:nvPr/>
        </p:nvSpPr>
        <p:spPr>
          <a:xfrm>
            <a:off x="1028700" y="3114675"/>
            <a:ext cx="6000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Formalização do orçamento do novo Metranet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E781367-FDBB-4262-A855-4F91340F8FBF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63FB930-79F8-43BE-A9BE-E7EFE6138143}"/>
              </a:ext>
            </a:extLst>
          </p:cNvPr>
          <p:cNvSpPr>
            <a:spLocks noGrp="1"/>
          </p:cNvSpPr>
          <p:nvPr/>
        </p:nvSpPr>
        <p:spPr>
          <a:xfrm>
            <a:off x="1028700" y="3752850"/>
            <a:ext cx="6000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Revisão das oportunidades e rateios do DataWise+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B66B6F7-23F4-435B-8199-6E4961B69671}"/>
              </a:ext>
            </a:extLst>
          </p:cNvPr>
          <p:cNvSpPr>
            <a:spLocks noGrp="1"/>
          </p:cNvSpPr>
          <p:nvPr/>
        </p:nvSpPr>
        <p:spPr>
          <a:xfrm>
            <a:off x="742950" y="4391025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82DC89C-960D-4608-8F06-8BFE77470024}"/>
              </a:ext>
            </a:extLst>
          </p:cNvPr>
          <p:cNvSpPr>
            <a:spLocks noGrp="1"/>
          </p:cNvSpPr>
          <p:nvPr/>
        </p:nvSpPr>
        <p:spPr>
          <a:xfrm>
            <a:off x="1028700" y="4391025"/>
            <a:ext cx="6000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Revisão dos materiais e preparação da comunicação aos clientes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61CF0E8-0489-42B8-8C87-6FFF3891D174}"/>
              </a:ext>
            </a:extLst>
          </p:cNvPr>
          <p:cNvSpPr>
            <a:spLocks noGrp="1"/>
          </p:cNvSpPr>
          <p:nvPr/>
        </p:nvSpPr>
        <p:spPr>
          <a:xfrm>
            <a:off x="742950" y="5029200"/>
            <a:ext cx="228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425" b="0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▪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A8F6D4B-73BC-476C-A81F-4C73A970A90F}"/>
              </a:ext>
            </a:extLst>
          </p:cNvPr>
          <p:cNvSpPr>
            <a:spLocks noGrp="1"/>
          </p:cNvSpPr>
          <p:nvPr/>
        </p:nvSpPr>
        <p:spPr>
          <a:xfrm>
            <a:off x="1028700" y="5029200"/>
            <a:ext cx="6000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Definição inicial de papéis e responsabilidades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6322213-9BD1-4995-B25D-C97284BD7FAA}"/>
              </a:ext>
            </a:extLst>
          </p:cNvPr>
          <p:cNvSpPr>
            <a:spLocks noGrp="1"/>
          </p:cNvSpPr>
          <p:nvPr/>
        </p:nvSpPr>
        <p:spPr>
          <a:xfrm>
            <a:off x="8020050" y="1981200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1DA45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A451"/>
                </a:solidFill>
                <a:latin typeface="Arial"/>
                <a:ea typeface="Arial"/>
                <a:cs typeface="Arial"/>
              </a:rPr>
              <a:t>Definições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167A59F-AE54-4EF2-8A26-E2D32158413F}"/>
              </a:ext>
            </a:extLst>
          </p:cNvPr>
          <p:cNvSpPr>
            <a:spLocks noGrp="1"/>
          </p:cNvSpPr>
          <p:nvPr/>
        </p:nvSpPr>
        <p:spPr>
          <a:xfrm>
            <a:off x="8096250" y="2400300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 i="0">
                <a:solidFill>
                  <a:srgbClr val="1DA45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DA451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BDDF97A-4A42-451E-A380-AE9D7820FD14}"/>
              </a:ext>
            </a:extLst>
          </p:cNvPr>
          <p:cNvSpPr>
            <a:spLocks noGrp="1"/>
          </p:cNvSpPr>
          <p:nvPr/>
        </p:nvSpPr>
        <p:spPr>
          <a:xfrm>
            <a:off x="8382000" y="2381250"/>
            <a:ext cx="5953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SAP e Databricks serão usados de forma complementar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F2E3700-224A-4E92-97D7-742D0BB665FF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 i="0">
                <a:solidFill>
                  <a:srgbClr val="1DA45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DA451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E9AAF74-7518-4D7C-B909-4CE13CC50529}"/>
              </a:ext>
            </a:extLst>
          </p:cNvPr>
          <p:cNvSpPr>
            <a:spLocks noGrp="1"/>
          </p:cNvSpPr>
          <p:nvPr/>
        </p:nvSpPr>
        <p:spPr>
          <a:xfrm>
            <a:off x="8382000" y="2838450"/>
            <a:ext cx="5953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Metranet permanece na jornada de faturamento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D68523B-F19D-4D14-9479-D3BEBF3CBF89}"/>
              </a:ext>
            </a:extLst>
          </p:cNvPr>
          <p:cNvSpPr>
            <a:spLocks noGrp="1"/>
          </p:cNvSpPr>
          <p:nvPr/>
        </p:nvSpPr>
        <p:spPr>
          <a:xfrm>
            <a:off x="8096250" y="3314700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 i="0">
                <a:solidFill>
                  <a:srgbClr val="1DA45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DA451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D082A44-91EF-4497-9FC9-CAD77FE7ECCE}"/>
              </a:ext>
            </a:extLst>
          </p:cNvPr>
          <p:cNvSpPr>
            <a:spLocks noGrp="1"/>
          </p:cNvSpPr>
          <p:nvPr/>
        </p:nvSpPr>
        <p:spPr>
          <a:xfrm>
            <a:off x="8382000" y="3295650"/>
            <a:ext cx="5953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DataWise+ precede UP2DATA e DataWise Reports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7A4163A-AADB-4B2B-8B07-BB488BBF2FE1}"/>
              </a:ext>
            </a:extLst>
          </p:cNvPr>
          <p:cNvSpPr>
            <a:spLocks noGrp="1"/>
          </p:cNvSpPr>
          <p:nvPr/>
        </p:nvSpPr>
        <p:spPr>
          <a:xfrm>
            <a:off x="8020050" y="3943350"/>
            <a:ext cx="6381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C735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352B"/>
                </a:solidFill>
                <a:latin typeface="Arial"/>
                <a:ea typeface="Arial"/>
                <a:cs typeface="Arial"/>
              </a:rPr>
              <a:t>Riscos e dependências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FD60239-2169-4F87-8E37-5FC22165330D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 i="0">
                <a:solidFill>
                  <a:srgbClr val="C7352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352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56CD3A7-9397-4C40-900C-84FA01E51900}"/>
              </a:ext>
            </a:extLst>
          </p:cNvPr>
          <p:cNvSpPr>
            <a:spLocks noGrp="1"/>
          </p:cNvSpPr>
          <p:nvPr/>
        </p:nvSpPr>
        <p:spPr>
          <a:xfrm>
            <a:off x="8382000" y="4343400"/>
            <a:ext cx="5953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Contratos anteriores a junho de 2023 fora do Salesforce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6C97F1A-6298-49C8-86AB-4A8EE35B4418}"/>
              </a:ext>
            </a:extLst>
          </p:cNvPr>
          <p:cNvSpPr>
            <a:spLocks noGrp="1"/>
          </p:cNvSpPr>
          <p:nvPr/>
        </p:nvSpPr>
        <p:spPr>
          <a:xfrm>
            <a:off x="8096250" y="4829175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 i="0">
                <a:solidFill>
                  <a:srgbClr val="C7352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352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76264D7-BD63-4A38-AD4F-91F3221E9337}"/>
              </a:ext>
            </a:extLst>
          </p:cNvPr>
          <p:cNvSpPr>
            <a:spLocks noGrp="1"/>
          </p:cNvSpPr>
          <p:nvPr/>
        </p:nvSpPr>
        <p:spPr>
          <a:xfrm>
            <a:off x="8382000" y="4810125"/>
            <a:ext cx="5953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Possibilidade de cobrança duplicada durante o cutover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E4EF8B1-5961-4847-9A4C-5AC08A2CB5A1}"/>
              </a:ext>
            </a:extLst>
          </p:cNvPr>
          <p:cNvSpPr>
            <a:spLocks noGrp="1"/>
          </p:cNvSpPr>
          <p:nvPr/>
        </p:nvSpPr>
        <p:spPr>
          <a:xfrm>
            <a:off x="8096250" y="5295900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 i="0">
                <a:solidFill>
                  <a:srgbClr val="C7352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352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97384CE-2A61-4791-B96B-6DE64975030C}"/>
              </a:ext>
            </a:extLst>
          </p:cNvPr>
          <p:cNvSpPr>
            <a:spLocks noGrp="1"/>
          </p:cNvSpPr>
          <p:nvPr/>
        </p:nvSpPr>
        <p:spPr>
          <a:xfrm>
            <a:off x="8382000" y="5276850"/>
            <a:ext cx="5953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Orçamento do novo Metranet ainda pendente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79384CB-7336-4AE0-B1ED-F4E45AC17EE6}"/>
              </a:ext>
            </a:extLst>
          </p:cNvPr>
          <p:cNvSpPr>
            <a:spLocks noGrp="1"/>
          </p:cNvSpPr>
          <p:nvPr/>
        </p:nvSpPr>
        <p:spPr>
          <a:xfrm>
            <a:off x="8096250" y="5762625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 i="0">
                <a:solidFill>
                  <a:srgbClr val="C7352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352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949FA06-FB9F-4612-9AEA-45766F661E4F}"/>
              </a:ext>
            </a:extLst>
          </p:cNvPr>
          <p:cNvSpPr>
            <a:spLocks noGrp="1"/>
          </p:cNvSpPr>
          <p:nvPr/>
        </p:nvSpPr>
        <p:spPr>
          <a:xfrm>
            <a:off x="8382000" y="5743575"/>
            <a:ext cx="5953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Tabelas de preço variável continuam com atualização manual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4A90158A-8296-4906-BBCA-CC2CC1B29739}"/>
              </a:ext>
            </a:extLst>
          </p:cNvPr>
          <p:cNvSpPr>
            <a:spLocks noGrp="1"/>
          </p:cNvSpPr>
          <p:nvPr/>
        </p:nvSpPr>
        <p:spPr>
          <a:xfrm>
            <a:off x="8096250" y="6229350"/>
            <a:ext cx="2095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825" b="0" i="0">
                <a:solidFill>
                  <a:srgbClr val="C7352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C7352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C9CB8D8D-23A8-403A-8A50-9A24335A4485}"/>
              </a:ext>
            </a:extLst>
          </p:cNvPr>
          <p:cNvSpPr>
            <a:spLocks noGrp="1"/>
          </p:cNvSpPr>
          <p:nvPr/>
        </p:nvSpPr>
        <p:spPr>
          <a:xfrm>
            <a:off x="8382000" y="6210300"/>
            <a:ext cx="5953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75" b="0" i="0">
                <a:solidFill>
                  <a:srgbClr val="1728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83D"/>
                </a:solidFill>
                <a:latin typeface="Arial"/>
                <a:ea typeface="Arial"/>
                <a:cs typeface="Arial"/>
              </a:rPr>
              <a:t>Definição pendente sobre implantação faseada por produto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2824A42-6080-4325-AB3E-6728DB016634}"/>
              </a:ext>
            </a:extLst>
          </p:cNvPr>
          <p:cNvSpPr>
            <a:spLocks noGrp="1"/>
          </p:cNvSpPr>
          <p:nvPr/>
        </p:nvSpPr>
        <p:spPr>
          <a:xfrm>
            <a:off x="5619750" y="80962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6B6F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6F75"/>
                </a:solidFill>
                <a:latin typeface="Arial"/>
                <a:ea typeface="Arial"/>
                <a:cs typeface="Arial"/>
              </a:rPr>
              <a:t>INFORMAÇÃO INTERNA - INTERNAL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1411963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B98CAC7-4DF0-4806-8A36-2E76FC94A232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100" b="1" i="0">
                <a:solidFill>
                  <a:srgbClr val="1E1FC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E1FCB"/>
                </a:solidFill>
                <a:latin typeface="Arial"/>
                <a:ea typeface="Arial"/>
                <a:cs typeface="Arial"/>
              </a:rPr>
              <a:t>[B]³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E669132-0F09-4B63-9045-E16417F508A1}"/>
              </a:ext>
            </a:extLst>
          </p:cNvPr>
          <p:cNvSpPr>
            <a:spLocks noGrp="1"/>
          </p:cNvSpPr>
          <p:nvPr/>
        </p:nvSpPr>
        <p:spPr>
          <a:xfrm>
            <a:off x="1047750" y="19050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3150" b="0" i="1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3150" b="0" i="1">
                <a:solidFill>
                  <a:srgbClr val="081F69"/>
                </a:solidFill>
                <a:latin typeface="Arial"/>
                <a:ea typeface="Arial"/>
                <a:cs typeface="Arial"/>
              </a:rPr>
              <a:t>Cronograma inicial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87BB726-8D56-4C23-BCA7-88D6DB41BC4E}"/>
              </a:ext>
            </a:extLst>
          </p:cNvPr>
          <p:cNvSpPr>
            <a:spLocks noGrp="1"/>
          </p:cNvSpPr>
          <p:nvPr/>
        </p:nvSpPr>
        <p:spPr>
          <a:xfrm>
            <a:off x="9715500" y="32385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125" b="0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Janelas condicionais seguem sinalizadas</a:t>
            </a:r>
          </a:p>
        </p:txBody>
      </p:sp>
      <p:graphicFrame>
        <p:nvGraphicFramePr>
          <p:cNvPr id="16" name="Tabela 15"/>
          <p:cNvGraphicFramePr/>
          <p:nvPr/>
        </p:nvGraphicFramePr>
        <p:xfrm>
          <a:off x="428625" y="990600"/>
          <a:ext cx="14382750" cy="60960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8625">
                <a:tc rowSpan="2"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ATIVIDADE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RESPONSÁVEL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SETEMBRO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OUTUBRO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08-11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14-18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21-25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28/09-02/10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05-09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12-16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Definir orçamento do novo Metranet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Leandro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11/09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Validar oportunidades e rateios do DataWise+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Flavia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16/09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Concluir frente cadastral do DataWise+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Comercial + CS + Salesforce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08F9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08F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30/09¹</a:t>
                      </a:r>
                    </a:p>
                  </a:txBody>
                  <a:tcPr anchor="ctr">
                    <a:solidFill>
                      <a:srgbClr val="008F9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Acionar Suporte e BDS após o fechamento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Suporte / Operações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08F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30/09¹</a:t>
                      </a:r>
                    </a:p>
                  </a:txBody>
                  <a:tcPr anchor="ctr">
                    <a:solidFill>
                      <a:srgbClr val="008F98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Criar script de integração com o Metranet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Marija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02/10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Revisar materiais DataWise+ e comunicação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Phelipe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02/10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Configurar local da fatura para Capital Markets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Thiago Talarico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02/10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Conectar SAP e Databricks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Marija + Thiago + Juliana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02/10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Construir novo Metranet DMC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Vitor Lima / Living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CEAD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CEAD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CEAD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CEA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C95B09"/>
                          </a:solidFill>
                          <a:latin typeface="Arial"/>
                          <a:ea typeface="Arial"/>
                          <a:cs typeface="Arial"/>
                        </a:rPr>
                        <a:t>+30 dias</a:t>
                      </a:r>
                    </a:p>
                  </a:txBody>
                  <a:tcPr anchor="ctr">
                    <a:solidFill>
                      <a:srgbClr val="FC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Revisar e tombar oportunidades legadas do UP2DATA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Comercial + CS + Salesforce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CEA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C95B09"/>
                          </a:solidFill>
                          <a:latin typeface="Arial"/>
                          <a:ea typeface="Arial"/>
                          <a:cs typeface="Arial"/>
                        </a:rPr>
                        <a:t>+15 dias¹</a:t>
                      </a:r>
                    </a:p>
                  </a:txBody>
                  <a:tcPr anchor="ctr">
                    <a:solidFill>
                      <a:srgbClr val="FCEA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80EBD261-612C-4702-9A2F-C68CEB1A4075}"/>
              </a:ext>
            </a:extLst>
          </p:cNvPr>
          <p:cNvSpPr>
            <a:spLocks noGrp="1"/>
          </p:cNvSpPr>
          <p:nvPr/>
        </p:nvSpPr>
        <p:spPr>
          <a:xfrm>
            <a:off x="523875" y="7277100"/>
            <a:ext cx="266700" cy="171450"/>
          </a:xfrm>
          <a:prstGeom prst="rect">
            <a:avLst/>
          </a:prstGeom>
          <a:solidFill>
            <a:srgbClr val="081F69"/>
          </a:solidFill>
          <a:ln w="0">
            <a:noFill/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11FE076-31FD-42FE-8FD2-2F6C4973BD6E}"/>
              </a:ext>
            </a:extLst>
          </p:cNvPr>
          <p:cNvSpPr>
            <a:spLocks noGrp="1"/>
          </p:cNvSpPr>
          <p:nvPr/>
        </p:nvSpPr>
        <p:spPr>
          <a:xfrm>
            <a:off x="876300" y="722947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Em andamento / confirmado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B0C504E-4003-4378-98ED-698A7A261D97}"/>
              </a:ext>
            </a:extLst>
          </p:cNvPr>
          <p:cNvSpPr>
            <a:spLocks noGrp="1"/>
          </p:cNvSpPr>
          <p:nvPr/>
        </p:nvSpPr>
        <p:spPr>
          <a:xfrm>
            <a:off x="3048000" y="7277100"/>
            <a:ext cx="266700" cy="171450"/>
          </a:xfrm>
          <a:prstGeom prst="rect">
            <a:avLst/>
          </a:prstGeom>
          <a:solidFill>
            <a:srgbClr val="008F98"/>
          </a:solidFill>
          <a:ln w="0">
            <a:noFill/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025E516-A8D4-47B0-B170-EC4942F8456C}"/>
              </a:ext>
            </a:extLst>
          </p:cNvPr>
          <p:cNvSpPr>
            <a:spLocks noGrp="1"/>
          </p:cNvSpPr>
          <p:nvPr/>
        </p:nvSpPr>
        <p:spPr>
          <a:xfrm>
            <a:off x="3400425" y="7229475"/>
            <a:ext cx="109537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Planejado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80FB60E-0CF1-49C4-9400-0D461302AF91}"/>
              </a:ext>
            </a:extLst>
          </p:cNvPr>
          <p:cNvSpPr>
            <a:spLocks noGrp="1"/>
          </p:cNvSpPr>
          <p:nvPr/>
        </p:nvSpPr>
        <p:spPr>
          <a:xfrm>
            <a:off x="4762500" y="7277100"/>
            <a:ext cx="266700" cy="171450"/>
          </a:xfrm>
          <a:prstGeom prst="rect">
            <a:avLst/>
          </a:prstGeom>
          <a:solidFill>
            <a:srgbClr val="FCEADF"/>
          </a:solidFill>
          <a:ln w="5715">
            <a:solidFill>
              <a:srgbClr val="C95B09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E99555C-8D50-439E-A4C4-F221C7C48394}"/>
              </a:ext>
            </a:extLst>
          </p:cNvPr>
          <p:cNvSpPr>
            <a:spLocks noGrp="1"/>
          </p:cNvSpPr>
          <p:nvPr/>
        </p:nvSpPr>
        <p:spPr>
          <a:xfrm>
            <a:off x="5114925" y="7229475"/>
            <a:ext cx="13811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Condicional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F5DAD1D-C334-435E-B0DE-D333311755F6}"/>
              </a:ext>
            </a:extLst>
          </p:cNvPr>
          <p:cNvSpPr>
            <a:spLocks noGrp="1"/>
          </p:cNvSpPr>
          <p:nvPr/>
        </p:nvSpPr>
        <p:spPr>
          <a:xfrm>
            <a:off x="6762750" y="7200900"/>
            <a:ext cx="7953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75" b="0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¹ Janela inicial. Confirmar após o fechamento da etapa anterior.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68F6E1D-82E5-4CDC-B0DC-D31C91440604}"/>
              </a:ext>
            </a:extLst>
          </p:cNvPr>
          <p:cNvSpPr>
            <a:spLocks noGrp="1"/>
          </p:cNvSpPr>
          <p:nvPr/>
        </p:nvSpPr>
        <p:spPr>
          <a:xfrm>
            <a:off x="5619750" y="80962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6B6F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6F75"/>
                </a:solidFill>
                <a:latin typeface="Arial"/>
                <a:ea typeface="Arial"/>
                <a:cs typeface="Arial"/>
              </a:rPr>
              <a:t>INFORMAÇÃO INTERNA - INTERNAL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938604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AAAF0EA-97F5-4B0B-A374-6C1ED05272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914400"/>
          </a:xfrm>
          <a:prstGeom prst="rect">
            <a:avLst/>
          </a:prstGeom>
          <a:solidFill>
            <a:srgbClr val="081F69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D8AD6EC-2692-46D6-BEC5-33AFAA1E47BE}"/>
              </a:ext>
            </a:extLst>
          </p:cNvPr>
          <p:cNvSpPr>
            <a:spLocks noGrp="1"/>
          </p:cNvSpPr>
          <p:nvPr/>
        </p:nvSpPr>
        <p:spPr>
          <a:xfrm>
            <a:off x="457200" y="142875"/>
            <a:ext cx="13906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Resumo - Divisão de Responsabilidades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E35F2F1-039A-4A08-AF2D-AF5EFC7C5491}"/>
              </a:ext>
            </a:extLst>
          </p:cNvPr>
          <p:cNvSpPr>
            <a:spLocks noGrp="1"/>
          </p:cNvSpPr>
          <p:nvPr/>
        </p:nvSpPr>
        <p:spPr>
          <a:xfrm>
            <a:off x="14382750" y="80200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E688E6F-EC50-4303-A51C-FACC834B1F9D}"/>
              </a:ext>
            </a:extLst>
          </p:cNvPr>
          <p:cNvSpPr>
            <a:spLocks noGrp="1"/>
          </p:cNvSpPr>
          <p:nvPr/>
        </p:nvSpPr>
        <p:spPr>
          <a:xfrm>
            <a:off x="5619750" y="80962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6B6F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6F75"/>
                </a:solidFill>
                <a:latin typeface="Arial"/>
                <a:ea typeface="Arial"/>
                <a:cs typeface="Arial"/>
              </a:rPr>
              <a:t>INFORMAÇÃO INTERNA - INTERNAL INFORMATION</a:t>
            </a:r>
          </a:p>
        </p:txBody>
      </p:sp>
      <p:graphicFrame>
        <p:nvGraphicFramePr>
          <p:cNvPr id="11" name="Tabela 10"/>
          <p:cNvGraphicFramePr/>
          <p:nvPr/>
        </p:nvGraphicFramePr>
        <p:xfrm>
          <a:off x="457200" y="1238250"/>
          <a:ext cx="14325600" cy="569595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ÁREA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PAPEL NA JORNADA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ÁREA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PAPEL NA JORNADA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Comercial</a:t>
                      </a:r>
                    </a:p>
                  </a:txBody>
                  <a:tcPr anchor="ctr">
                    <a:solidFill>
                      <a:srgbClr val="1DA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Conduz a venda e registra oportunidades, contratos e rateios no Salesforce.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Financeiro</a:t>
                      </a:r>
                    </a:p>
                  </a:txBody>
                  <a:tcPr anchor="ctr">
                    <a:solidFill>
                      <a:srgbClr val="1DA4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Valida a base, emite faturas e acompanha cobrança, baixa e conformidade.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Produtos</a:t>
                      </a:r>
                    </a:p>
                  </a:txBody>
                  <a:tcPr anchor="ctr">
                    <a:solidFill>
                      <a:srgbClr val="F3B0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Define produto, modelo de cobrança e condições para comercialização.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Tarifação</a:t>
                      </a:r>
                    </a:p>
                  </a:txBody>
                  <a:tcPr anchor="ctr">
                    <a:solidFill>
                      <a:srgbClr val="F3B09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Mantém tabelas de preço, calcula o faturamento e define reajustes.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Salesforce Técnico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Configura e sustenta o fluxo comercial e suas integrações.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Metranet Técnico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Configura e sustenta a plataforma de bilhetagem e suas interfaces.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Sucesso do Cliente</a:t>
                      </a:r>
                    </a:p>
                  </a:txBody>
                  <a:tcPr anchor="ctr">
                    <a:solidFill>
                      <a:srgbClr val="31BE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Acompanha onboarding e confirma se contratação e cobrança seguem o acordo.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Jurídico Tributário</a:t>
                      </a:r>
                    </a:p>
                  </a:txBody>
                  <a:tcPr anchor="ctr">
                    <a:solidFill>
                      <a:srgbClr val="31BE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Valida requisitos fiscais e tributários na criação ou alteração de produtos e preços.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Atendimento / N1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Recebe dúvidas de cobrança, faz a triagem e direciona o atendimento.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Suporte / Operações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Executa encarteiramento e coordena liberações com áreas internas e BDS.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Suporte Comercial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Cadastra contas que ainda não existem no Salesforce, inclusive internacionais.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BDS / Fornecedor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Realiza liberações de canais e acessos quando o produto depende do fornecedor.</a:t>
                      </a:r>
                    </a:p>
                  </a:txBody>
                  <a:tcPr anchor="ctr"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id="{34100A0C-0FF3-4E8A-ADAC-C9791A2C255D}"/>
              </a:ext>
            </a:extLst>
          </p:cNvPr>
          <p:cNvSpPr>
            <a:spLocks noGrp="1"/>
          </p:cNvSpPr>
          <p:nvPr/>
        </p:nvSpPr>
        <p:spPr>
          <a:xfrm>
            <a:off x="523875" y="7162800"/>
            <a:ext cx="13811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200" b="0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Para manter a RACI executiva, Suporte Comercial e BDS podem ser agrupados em Suporte / Operações na matriz.</a:t>
            </a:r>
          </a:p>
        </p:txBody>
      </p:sp>
    </p:spTree>
    <p:extLst>
      <p:ext uri="{BB962C8B-B14F-4D97-AF65-F5344CB8AC3E}">
        <p14:creationId xmlns:p14="http://schemas.microsoft.com/office/powerpoint/2010/main" val="1640726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34910A4B-8B56-4D02-83C5-03AE4F9061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914400"/>
          </a:xfrm>
          <a:prstGeom prst="rect">
            <a:avLst/>
          </a:prstGeom>
          <a:solidFill>
            <a:srgbClr val="081F69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09E3624-FC76-4BBC-A704-968B9D4454EF}"/>
              </a:ext>
            </a:extLst>
          </p:cNvPr>
          <p:cNvSpPr>
            <a:spLocks noGrp="1"/>
          </p:cNvSpPr>
          <p:nvPr/>
        </p:nvSpPr>
        <p:spPr>
          <a:xfrm>
            <a:off x="457200" y="142875"/>
            <a:ext cx="13906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Atividades recorrentes - Ciclo de Execução e Controle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98929BF-4EB1-47AA-B575-FB6000E9E21D}"/>
              </a:ext>
            </a:extLst>
          </p:cNvPr>
          <p:cNvSpPr>
            <a:spLocks noGrp="1"/>
          </p:cNvSpPr>
          <p:nvPr/>
        </p:nvSpPr>
        <p:spPr>
          <a:xfrm>
            <a:off x="14382750" y="80200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69DED4B-E9C7-439D-A9E7-6831ECB80D1A}"/>
              </a:ext>
            </a:extLst>
          </p:cNvPr>
          <p:cNvSpPr>
            <a:spLocks noGrp="1"/>
          </p:cNvSpPr>
          <p:nvPr/>
        </p:nvSpPr>
        <p:spPr>
          <a:xfrm>
            <a:off x="5619750" y="80962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6B6F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6F75"/>
                </a:solidFill>
                <a:latin typeface="Arial"/>
                <a:ea typeface="Arial"/>
                <a:cs typeface="Arial"/>
              </a:rPr>
              <a:t>INFORMAÇÃO INTERNA - INTERNAL INFORMATION</a:t>
            </a:r>
          </a:p>
        </p:txBody>
      </p:sp>
      <p:graphicFrame>
        <p:nvGraphicFramePr>
          <p:cNvPr id="26" name="Tabela 25"/>
          <p:cNvGraphicFramePr/>
          <p:nvPr/>
        </p:nvGraphicFramePr>
        <p:xfrm>
          <a:off x="333375" y="1295400"/>
          <a:ext cx="14573250" cy="5714997"/>
        </p:xfrm>
        <a:graphic>
          <a:graphicData uri="http://schemas.openxmlformats.org/drawingml/2006/table">
            <a:tbl>
              <a:tblPr/>
              <a:tblGrid>
                <a:gridCol w="466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ETAPA / ATIVIDADE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Produtos</a:t>
                      </a:r>
                    </a:p>
                  </a:txBody>
                  <a:tcPr anchor="ctr">
                    <a:solidFill>
                      <a:srgbClr val="F3B0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Comercial</a:t>
                      </a:r>
                    </a:p>
                  </a:txBody>
                  <a:tcPr anchor="ctr">
                    <a:solidFill>
                      <a:srgbClr val="1DA4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Técnico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Tarifação</a:t>
                      </a:r>
                    </a:p>
                  </a:txBody>
                  <a:tcPr anchor="ctr">
                    <a:solidFill>
                      <a:srgbClr val="31BE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Metranet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Técnico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Financeiro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Sucesso do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Cliente</a:t>
                      </a:r>
                    </a:p>
                  </a:txBody>
                  <a:tcPr anchor="ctr">
                    <a:solidFill>
                      <a:srgbClr val="D5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Jurídico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Tributário</a:t>
                      </a:r>
                    </a:p>
                  </a:txBody>
                  <a:tcPr anchor="ctr">
                    <a:solidFill>
                      <a:srgbClr val="6D3C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Atendimento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N1</a:t>
                      </a:r>
                    </a:p>
                  </a:txBody>
                  <a:tcPr anchor="ctr">
                    <a:solidFill>
                      <a:srgbClr val="1D7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Suporte /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Operações</a:t>
                      </a:r>
                    </a:p>
                  </a:txBody>
                  <a:tcPr anchor="ctr">
                    <a:solidFill>
                      <a:srgbClr val="4D5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63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Cadastrar novo cliente no Salesforce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63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Registrar oportunidade, contrato e rateios no Salesforce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63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Validar dados comerciais e condições de faturamento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63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Integrar contrato e rateios entre Salesforce e Metranet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63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Executar bilhetagem e calcular faturamento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63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Validar base e aprovar faturamento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763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Emitir NF e boletos e enviar ao cliente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763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Liberar acessos após o fechamento da venda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7633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Atender e direcionar dúvidas de faturamento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ABA2623-59CE-4D25-BE33-5E8B77E4757B}"/>
              </a:ext>
            </a:extLst>
          </p:cNvPr>
          <p:cNvSpPr>
            <a:spLocks noGrp="1"/>
          </p:cNvSpPr>
          <p:nvPr/>
        </p:nvSpPr>
        <p:spPr>
          <a:xfrm>
            <a:off x="552450" y="7219950"/>
            <a:ext cx="361950" cy="266700"/>
          </a:xfrm>
          <a:prstGeom prst="roundRect">
            <a:avLst>
              <a:gd name="adj" fmla="val 14286"/>
            </a:avLst>
          </a:prstGeom>
          <a:solidFill>
            <a:srgbClr val="081F69"/>
          </a:solidFill>
          <a:ln w="0">
            <a:solidFill>
              <a:srgbClr val="081F69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FB13C6-DEC4-446A-98E2-0FD87D50CCBD}"/>
              </a:ext>
            </a:extLst>
          </p:cNvPr>
          <p:cNvSpPr>
            <a:spLocks noGrp="1"/>
          </p:cNvSpPr>
          <p:nvPr/>
        </p:nvSpPr>
        <p:spPr>
          <a:xfrm>
            <a:off x="552450" y="72294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F51DA93-5118-40EF-83AC-F77B37118444}"/>
              </a:ext>
            </a:extLst>
          </p:cNvPr>
          <p:cNvSpPr>
            <a:spLocks noGrp="1"/>
          </p:cNvSpPr>
          <p:nvPr/>
        </p:nvSpPr>
        <p:spPr>
          <a:xfrm>
            <a:off x="1028700" y="7219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Responsável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DB474FC-A478-4D29-A4CA-A5ABC19266A3}"/>
              </a:ext>
            </a:extLst>
          </p:cNvPr>
          <p:cNvSpPr>
            <a:spLocks noGrp="1"/>
          </p:cNvSpPr>
          <p:nvPr/>
        </p:nvSpPr>
        <p:spPr>
          <a:xfrm>
            <a:off x="3409950" y="7219950"/>
            <a:ext cx="361950" cy="266700"/>
          </a:xfrm>
          <a:prstGeom prst="roundRect">
            <a:avLst>
              <a:gd name="adj" fmla="val 14286"/>
            </a:avLst>
          </a:prstGeom>
          <a:solidFill>
            <a:srgbClr val="155AB6"/>
          </a:solidFill>
          <a:ln w="0">
            <a:solidFill>
              <a:srgbClr val="155AB6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9C324E1-5E85-4258-9C07-2E16139D85CC}"/>
              </a:ext>
            </a:extLst>
          </p:cNvPr>
          <p:cNvSpPr>
            <a:spLocks noGrp="1"/>
          </p:cNvSpPr>
          <p:nvPr/>
        </p:nvSpPr>
        <p:spPr>
          <a:xfrm>
            <a:off x="3409950" y="72294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BC67A2D-685B-4422-8F7D-991E6B214EB0}"/>
              </a:ext>
            </a:extLst>
          </p:cNvPr>
          <p:cNvSpPr>
            <a:spLocks noGrp="1"/>
          </p:cNvSpPr>
          <p:nvPr/>
        </p:nvSpPr>
        <p:spPr>
          <a:xfrm>
            <a:off x="3886200" y="7219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Aprovador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F637D79-03B6-439E-80B2-8860816CDE25}"/>
              </a:ext>
            </a:extLst>
          </p:cNvPr>
          <p:cNvSpPr>
            <a:spLocks noGrp="1"/>
          </p:cNvSpPr>
          <p:nvPr/>
        </p:nvSpPr>
        <p:spPr>
          <a:xfrm>
            <a:off x="6267450" y="7219950"/>
            <a:ext cx="361950" cy="266700"/>
          </a:xfrm>
          <a:prstGeom prst="roundRect">
            <a:avLst>
              <a:gd name="adj" fmla="val 14286"/>
            </a:avLst>
          </a:prstGeom>
          <a:solidFill>
            <a:srgbClr val="DCEAF8"/>
          </a:solidFill>
          <a:ln w="0">
            <a:solidFill>
              <a:srgbClr val="DCEAF8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777D4D8-23A7-4BBE-993C-832269742969}"/>
              </a:ext>
            </a:extLst>
          </p:cNvPr>
          <p:cNvSpPr>
            <a:spLocks noGrp="1"/>
          </p:cNvSpPr>
          <p:nvPr/>
        </p:nvSpPr>
        <p:spPr>
          <a:xfrm>
            <a:off x="6267450" y="72294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54F9F99-1651-40CA-B930-74094EFDD800}"/>
              </a:ext>
            </a:extLst>
          </p:cNvPr>
          <p:cNvSpPr>
            <a:spLocks noGrp="1"/>
          </p:cNvSpPr>
          <p:nvPr/>
        </p:nvSpPr>
        <p:spPr>
          <a:xfrm>
            <a:off x="6743700" y="7219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Consultado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AA10FE0-D641-499C-AD02-F21311C6B9CB}"/>
              </a:ext>
            </a:extLst>
          </p:cNvPr>
          <p:cNvSpPr>
            <a:spLocks noGrp="1"/>
          </p:cNvSpPr>
          <p:nvPr/>
        </p:nvSpPr>
        <p:spPr>
          <a:xfrm>
            <a:off x="9124950" y="7219950"/>
            <a:ext cx="361950" cy="266700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0">
            <a:solidFill>
              <a:srgbClr val="EEF2F6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E1B3051-9CA4-4273-A6A3-9A70AE19E5A7}"/>
              </a:ext>
            </a:extLst>
          </p:cNvPr>
          <p:cNvSpPr>
            <a:spLocks noGrp="1"/>
          </p:cNvSpPr>
          <p:nvPr/>
        </p:nvSpPr>
        <p:spPr>
          <a:xfrm>
            <a:off x="9124950" y="7229475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6B50410-F042-400F-8C6A-1FE61762A761}"/>
              </a:ext>
            </a:extLst>
          </p:cNvPr>
          <p:cNvSpPr>
            <a:spLocks noGrp="1"/>
          </p:cNvSpPr>
          <p:nvPr/>
        </p:nvSpPr>
        <p:spPr>
          <a:xfrm>
            <a:off x="9601200" y="72199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Informado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30D76BE-CEE5-4627-B66A-A1A71DF22025}"/>
              </a:ext>
            </a:extLst>
          </p:cNvPr>
          <p:cNvSpPr>
            <a:spLocks noGrp="1"/>
          </p:cNvSpPr>
          <p:nvPr/>
        </p:nvSpPr>
        <p:spPr>
          <a:xfrm>
            <a:off x="12115800" y="7219950"/>
            <a:ext cx="476250" cy="2667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0DD699C-D3D1-4929-9291-32A72E9264FE}"/>
              </a:ext>
            </a:extLst>
          </p:cNvPr>
          <p:cNvSpPr>
            <a:spLocks noGrp="1"/>
          </p:cNvSpPr>
          <p:nvPr/>
        </p:nvSpPr>
        <p:spPr>
          <a:xfrm>
            <a:off x="12115800" y="72294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B71739C-53E4-4AD6-8336-16399216E73E}"/>
              </a:ext>
            </a:extLst>
          </p:cNvPr>
          <p:cNvSpPr>
            <a:spLocks noGrp="1"/>
          </p:cNvSpPr>
          <p:nvPr/>
        </p:nvSpPr>
        <p:spPr>
          <a:xfrm>
            <a:off x="12687300" y="7219950"/>
            <a:ext cx="1762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Não se aplica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48984F8-E077-43DB-BAB4-E0A04F38E2D5}"/>
              </a:ext>
            </a:extLst>
          </p:cNvPr>
          <p:cNvSpPr>
            <a:spLocks noGrp="1"/>
          </p:cNvSpPr>
          <p:nvPr/>
        </p:nvSpPr>
        <p:spPr>
          <a:xfrm>
            <a:off x="552450" y="7667625"/>
            <a:ext cx="1333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Proposta inicial. Validar cada atribuição com as áreas antes da formalização.</a:t>
            </a:r>
          </a:p>
        </p:txBody>
      </p:sp>
    </p:spTree>
    <p:extLst>
      <p:ext uri="{BB962C8B-B14F-4D97-AF65-F5344CB8AC3E}">
        <p14:creationId xmlns:p14="http://schemas.microsoft.com/office/powerpoint/2010/main" val="119826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40B74A38-0DAA-470A-95A7-55B911E438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00" cy="914400"/>
          </a:xfrm>
          <a:prstGeom prst="rect">
            <a:avLst/>
          </a:prstGeom>
          <a:solidFill>
            <a:srgbClr val="081F69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2CF5450-1C75-4F9C-A1E3-CCB28FDD45CB}"/>
              </a:ext>
            </a:extLst>
          </p:cNvPr>
          <p:cNvSpPr>
            <a:spLocks noGrp="1"/>
          </p:cNvSpPr>
          <p:nvPr/>
        </p:nvSpPr>
        <p:spPr>
          <a:xfrm>
            <a:off x="457200" y="142875"/>
            <a:ext cx="13906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Atividades anuais ou pontuais - Ciclo de Planejamento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6CC66B1-3289-4DF6-8147-293DE49CFA05}"/>
              </a:ext>
            </a:extLst>
          </p:cNvPr>
          <p:cNvSpPr>
            <a:spLocks noGrp="1"/>
          </p:cNvSpPr>
          <p:nvPr/>
        </p:nvSpPr>
        <p:spPr>
          <a:xfrm>
            <a:off x="14382750" y="80200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0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3C673E9-AA94-4D87-B96C-2C98A0CE781B}"/>
              </a:ext>
            </a:extLst>
          </p:cNvPr>
          <p:cNvSpPr>
            <a:spLocks noGrp="1"/>
          </p:cNvSpPr>
          <p:nvPr/>
        </p:nvSpPr>
        <p:spPr>
          <a:xfrm>
            <a:off x="5619750" y="8096250"/>
            <a:ext cx="4000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 i="0">
                <a:solidFill>
                  <a:srgbClr val="6B6F75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B6F75"/>
                </a:solidFill>
                <a:latin typeface="Arial"/>
                <a:ea typeface="Arial"/>
                <a:cs typeface="Arial"/>
              </a:rPr>
              <a:t>INFORMAÇÃO INTERNA - INTERNAL INFORMATION</a:t>
            </a:r>
          </a:p>
        </p:txBody>
      </p:sp>
      <p:graphicFrame>
        <p:nvGraphicFramePr>
          <p:cNvPr id="26" name="Tabela 25"/>
          <p:cNvGraphicFramePr/>
          <p:nvPr/>
        </p:nvGraphicFramePr>
        <p:xfrm>
          <a:off x="333375" y="1295400"/>
          <a:ext cx="14573250" cy="5048250"/>
        </p:xfrm>
        <a:graphic>
          <a:graphicData uri="http://schemas.openxmlformats.org/drawingml/2006/table">
            <a:tbl>
              <a:tblPr/>
              <a:tblGrid>
                <a:gridCol w="466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ETAPA / ATIVIDADE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Produtos</a:t>
                      </a:r>
                    </a:p>
                  </a:txBody>
                  <a:tcPr anchor="ctr">
                    <a:solidFill>
                      <a:srgbClr val="F3B0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Comercial</a:t>
                      </a:r>
                    </a:p>
                  </a:txBody>
                  <a:tcPr anchor="ctr">
                    <a:solidFill>
                      <a:srgbClr val="1DA4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Técnico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Tarifação</a:t>
                      </a:r>
                    </a:p>
                  </a:txBody>
                  <a:tcPr anchor="ctr">
                    <a:solidFill>
                      <a:srgbClr val="31BE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Metranet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Técnico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Financeiro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Sucesso do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Cliente</a:t>
                      </a:r>
                    </a:p>
                  </a:txBody>
                  <a:tcPr anchor="ctr">
                    <a:solidFill>
                      <a:srgbClr val="D5D9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Jurídico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Tributário</a:t>
                      </a:r>
                    </a:p>
                  </a:txBody>
                  <a:tcPr anchor="ctr">
                    <a:solidFill>
                      <a:srgbClr val="6D3C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Atendimento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N1</a:t>
                      </a:r>
                    </a:p>
                  </a:txBody>
                  <a:tcPr anchor="ctr">
                    <a:solidFill>
                      <a:srgbClr val="1D7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Suporte /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Operações</a:t>
                      </a:r>
                    </a:p>
                  </a:txBody>
                  <a:tcPr anchor="ctr">
                    <a:solidFill>
                      <a:srgbClr val="4D5C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Definir produto, preço e requisitos tributários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Parametrizar e sincronizar produto no Salesforce, Metranet e SAP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Aplicar reajuste anual e comunicar os clientes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Conduzir renovações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Realizar onboarding e validar a primeira cobrança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Cancelar produto e encerrar cobrança e acessos</a:t>
                      </a:r>
                    </a:p>
                  </a:txBody>
                  <a:tcPr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155A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7489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81F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81F6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899B155-6264-4D8A-A4AE-C5A33DF20C1B}"/>
              </a:ext>
            </a:extLst>
          </p:cNvPr>
          <p:cNvSpPr>
            <a:spLocks noGrp="1"/>
          </p:cNvSpPr>
          <p:nvPr/>
        </p:nvSpPr>
        <p:spPr>
          <a:xfrm>
            <a:off x="552450" y="6619875"/>
            <a:ext cx="361950" cy="266700"/>
          </a:xfrm>
          <a:prstGeom prst="roundRect">
            <a:avLst>
              <a:gd name="adj" fmla="val 14286"/>
            </a:avLst>
          </a:prstGeom>
          <a:solidFill>
            <a:srgbClr val="081F69"/>
          </a:solidFill>
          <a:ln w="0">
            <a:solidFill>
              <a:srgbClr val="081F69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90F2CF-C363-40ED-A9A9-110CDE3BD34C}"/>
              </a:ext>
            </a:extLst>
          </p:cNvPr>
          <p:cNvSpPr>
            <a:spLocks noGrp="1"/>
          </p:cNvSpPr>
          <p:nvPr/>
        </p:nvSpPr>
        <p:spPr>
          <a:xfrm>
            <a:off x="552450" y="66294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306FF56-9130-4A9A-9E1D-62A4DBF2D652}"/>
              </a:ext>
            </a:extLst>
          </p:cNvPr>
          <p:cNvSpPr>
            <a:spLocks noGrp="1"/>
          </p:cNvSpPr>
          <p:nvPr/>
        </p:nvSpPr>
        <p:spPr>
          <a:xfrm>
            <a:off x="1028700" y="6619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Responsável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B5193DC-1D49-4213-B39F-C3BDBD844890}"/>
              </a:ext>
            </a:extLst>
          </p:cNvPr>
          <p:cNvSpPr>
            <a:spLocks noGrp="1"/>
          </p:cNvSpPr>
          <p:nvPr/>
        </p:nvSpPr>
        <p:spPr>
          <a:xfrm>
            <a:off x="3409950" y="6619875"/>
            <a:ext cx="361950" cy="266700"/>
          </a:xfrm>
          <a:prstGeom prst="roundRect">
            <a:avLst>
              <a:gd name="adj" fmla="val 14286"/>
            </a:avLst>
          </a:prstGeom>
          <a:solidFill>
            <a:srgbClr val="155AB6"/>
          </a:solidFill>
          <a:ln w="0">
            <a:solidFill>
              <a:srgbClr val="155AB6"/>
            </a:solidFill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499A412-71A5-470A-A42D-C73A30E3E404}"/>
              </a:ext>
            </a:extLst>
          </p:cNvPr>
          <p:cNvSpPr>
            <a:spLocks noGrp="1"/>
          </p:cNvSpPr>
          <p:nvPr/>
        </p:nvSpPr>
        <p:spPr>
          <a:xfrm>
            <a:off x="3409950" y="66294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9FAAECE-01D0-45F4-AACE-4805C6E09A1F}"/>
              </a:ext>
            </a:extLst>
          </p:cNvPr>
          <p:cNvSpPr>
            <a:spLocks noGrp="1"/>
          </p:cNvSpPr>
          <p:nvPr/>
        </p:nvSpPr>
        <p:spPr>
          <a:xfrm>
            <a:off x="3886200" y="6619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Aprovador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A72E81F-3C2B-4C34-AAA8-493A402B335A}"/>
              </a:ext>
            </a:extLst>
          </p:cNvPr>
          <p:cNvSpPr>
            <a:spLocks noGrp="1"/>
          </p:cNvSpPr>
          <p:nvPr/>
        </p:nvSpPr>
        <p:spPr>
          <a:xfrm>
            <a:off x="6267450" y="6619875"/>
            <a:ext cx="361950" cy="266700"/>
          </a:xfrm>
          <a:prstGeom prst="roundRect">
            <a:avLst>
              <a:gd name="adj" fmla="val 14286"/>
            </a:avLst>
          </a:prstGeom>
          <a:solidFill>
            <a:srgbClr val="DCEAF8"/>
          </a:solidFill>
          <a:ln w="0">
            <a:solidFill>
              <a:srgbClr val="DCEAF8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E21708-4EEC-4D14-99FA-FDE75E3B451E}"/>
              </a:ext>
            </a:extLst>
          </p:cNvPr>
          <p:cNvSpPr>
            <a:spLocks noGrp="1"/>
          </p:cNvSpPr>
          <p:nvPr/>
        </p:nvSpPr>
        <p:spPr>
          <a:xfrm>
            <a:off x="6267450" y="66294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7AEE2E8-3F5E-4461-960F-FF69D9A057F5}"/>
              </a:ext>
            </a:extLst>
          </p:cNvPr>
          <p:cNvSpPr>
            <a:spLocks noGrp="1"/>
          </p:cNvSpPr>
          <p:nvPr/>
        </p:nvSpPr>
        <p:spPr>
          <a:xfrm>
            <a:off x="6743700" y="6619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Consultado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7979557-2E4C-4075-93AF-E48A0C8836E3}"/>
              </a:ext>
            </a:extLst>
          </p:cNvPr>
          <p:cNvSpPr>
            <a:spLocks noGrp="1"/>
          </p:cNvSpPr>
          <p:nvPr/>
        </p:nvSpPr>
        <p:spPr>
          <a:xfrm>
            <a:off x="9124950" y="6619875"/>
            <a:ext cx="361950" cy="266700"/>
          </a:xfrm>
          <a:prstGeom prst="roundRect">
            <a:avLst>
              <a:gd name="adj" fmla="val 14286"/>
            </a:avLst>
          </a:prstGeom>
          <a:solidFill>
            <a:srgbClr val="EEF2F6"/>
          </a:solidFill>
          <a:ln w="0">
            <a:solidFill>
              <a:srgbClr val="EEF2F6"/>
            </a:solidFill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1F57D8C-33EB-41A3-A439-B5FDCE4E8AAB}"/>
              </a:ext>
            </a:extLst>
          </p:cNvPr>
          <p:cNvSpPr>
            <a:spLocks noGrp="1"/>
          </p:cNvSpPr>
          <p:nvPr/>
        </p:nvSpPr>
        <p:spPr>
          <a:xfrm>
            <a:off x="9124950" y="662940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F3965AC-FD25-4EAB-B90E-106E71DCC52A}"/>
              </a:ext>
            </a:extLst>
          </p:cNvPr>
          <p:cNvSpPr>
            <a:spLocks noGrp="1"/>
          </p:cNvSpPr>
          <p:nvPr/>
        </p:nvSpPr>
        <p:spPr>
          <a:xfrm>
            <a:off x="9601200" y="6619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Informado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33411FE-A824-480D-A06C-664D6708D7CE}"/>
              </a:ext>
            </a:extLst>
          </p:cNvPr>
          <p:cNvSpPr>
            <a:spLocks noGrp="1"/>
          </p:cNvSpPr>
          <p:nvPr/>
        </p:nvSpPr>
        <p:spPr>
          <a:xfrm>
            <a:off x="12115800" y="6619875"/>
            <a:ext cx="476250" cy="2667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B00751A-D0B4-464E-8D77-6D162209BEC6}"/>
              </a:ext>
            </a:extLst>
          </p:cNvPr>
          <p:cNvSpPr>
            <a:spLocks noGrp="1"/>
          </p:cNvSpPr>
          <p:nvPr/>
        </p:nvSpPr>
        <p:spPr>
          <a:xfrm>
            <a:off x="12115800" y="6629400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519B9C0-1946-4AED-8A04-5AC454CB4786}"/>
              </a:ext>
            </a:extLst>
          </p:cNvPr>
          <p:cNvSpPr>
            <a:spLocks noGrp="1"/>
          </p:cNvSpPr>
          <p:nvPr/>
        </p:nvSpPr>
        <p:spPr>
          <a:xfrm>
            <a:off x="12687300" y="6619875"/>
            <a:ext cx="1762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 i="0">
                <a:solidFill>
                  <a:srgbClr val="081F69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81F69"/>
                </a:solidFill>
                <a:latin typeface="Arial"/>
                <a:ea typeface="Arial"/>
                <a:cs typeface="Arial"/>
              </a:rPr>
              <a:t>Não se aplica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F3DAA4-0BB3-42EF-92D7-F2C80431AAAB}"/>
              </a:ext>
            </a:extLst>
          </p:cNvPr>
          <p:cNvSpPr>
            <a:spLocks noGrp="1"/>
          </p:cNvSpPr>
          <p:nvPr/>
        </p:nvSpPr>
        <p:spPr>
          <a:xfrm>
            <a:off x="552450" y="7667625"/>
            <a:ext cx="1333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0" i="0">
                <a:solidFill>
                  <a:srgbClr val="6474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47489"/>
                </a:solidFill>
                <a:latin typeface="Arial"/>
                <a:ea typeface="Arial"/>
                <a:cs typeface="Arial"/>
              </a:rPr>
              <a:t>Proposta inicial. Validar cada atribuição com as áreas antes da formalização.</a:t>
            </a:r>
          </a:p>
        </p:txBody>
      </p:sp>
    </p:spTree>
    <p:extLst>
      <p:ext uri="{BB962C8B-B14F-4D97-AF65-F5344CB8AC3E}">
        <p14:creationId xmlns:p14="http://schemas.microsoft.com/office/powerpoint/2010/main" val="18292958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1022</Words>
  <Application>Microsoft Office PowerPoint</Application>
  <DocSecurity>0</DocSecurity>
  <PresentationFormat>Personalizar</PresentationFormat>
  <Paragraphs>352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Lucas Diniz</cp:lastModifiedBy>
  <cp:revision>1</cp:revision>
  <dcterms:created xsi:type="dcterms:W3CDTF">2026-09-08T20:18:58Z</dcterms:created>
  <dcterms:modified xsi:type="dcterms:W3CDTF">2026-09-08T20:26:24Z</dcterms:modified>
</cp:coreProperties>
</file>