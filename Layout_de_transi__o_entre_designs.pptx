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9100"/>
            <a:ext cx="830312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spc="-75" kern="0" dirty="0">
                <a:solidFill>
                  <a:srgbClr val="1A2F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[B]</a:t>
            </a:r>
            <a:pPr algn="l" indent="0" marL="0">
              <a:buNone/>
            </a:pPr>
            <a:r>
              <a:rPr lang="en-US" sz="1650" b="1" baseline="30000" spc="-75" kern="0" dirty="0">
                <a:solidFill>
                  <a:srgbClr val="1A2FB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1478012" y="495300"/>
            <a:ext cx="8822874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spc="-37" kern="0" dirty="0">
                <a:solidFill>
                  <a:srgbClr val="0B1D5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Capital Markets </a:t>
            </a:r>
            <a:pPr algn="l" indent="0" marL="0">
              <a:buNone/>
            </a:pPr>
            <a:r>
              <a:rPr lang="en-US" sz="3300" spc="-37" kern="0" dirty="0">
                <a:solidFill>
                  <a:srgbClr val="5A668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— Visão produto a produto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4935051" y="781050"/>
            <a:ext cx="95250" cy="95250"/>
          </a:xfrm>
          <a:prstGeom prst="ellipse">
            <a:avLst/>
          </a:prstGeom>
          <a:solidFill>
            <a:srgbClr val="2E8B6E"/>
          </a:solidFill>
          <a:ln/>
        </p:spPr>
      </p:sp>
      <p:sp>
        <p:nvSpPr>
          <p:cNvPr id="5" name="Text 3"/>
          <p:cNvSpPr/>
          <p:nvPr/>
        </p:nvSpPr>
        <p:spPr>
          <a:xfrm>
            <a:off x="15106501" y="733425"/>
            <a:ext cx="886271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75" dirty="0">
                <a:solidFill>
                  <a:srgbClr val="4A55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Automático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16126123" y="781050"/>
            <a:ext cx="95250" cy="95250"/>
          </a:xfrm>
          <a:prstGeom prst="ellipse">
            <a:avLst/>
          </a:prstGeom>
          <a:solidFill>
            <a:srgbClr val="C98A2B"/>
          </a:solidFill>
          <a:ln/>
        </p:spPr>
      </p:sp>
      <p:sp>
        <p:nvSpPr>
          <p:cNvPr id="7" name="Text 5"/>
          <p:cNvSpPr/>
          <p:nvPr/>
        </p:nvSpPr>
        <p:spPr>
          <a:xfrm>
            <a:off x="16297573" y="733425"/>
            <a:ext cx="60736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75" dirty="0">
                <a:solidFill>
                  <a:srgbClr val="4A55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Manual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17038290" y="781050"/>
            <a:ext cx="95250" cy="95250"/>
          </a:xfrm>
          <a:prstGeom prst="ellipse">
            <a:avLst/>
          </a:prstGeom>
          <a:ln w="9525">
            <a:solidFill>
              <a:srgbClr val="8A93A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7209740" y="733425"/>
            <a:ext cx="6972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75" dirty="0">
                <a:solidFill>
                  <a:srgbClr val="4A55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1275" dirty="0"/>
          </a:p>
        </p:txBody>
      </p:sp>
      <p:sp>
        <p:nvSpPr>
          <p:cNvPr id="10" name="Shape 8"/>
          <p:cNvSpPr/>
          <p:nvPr/>
        </p:nvSpPr>
        <p:spPr>
          <a:xfrm>
            <a:off x="457200" y="1276350"/>
            <a:ext cx="2087612" cy="943868"/>
          </a:xfrm>
          <a:prstGeom prst="rect">
            <a:avLst/>
          </a:prstGeom>
          <a:solidFill>
            <a:srgbClr val="0F2568"/>
          </a:solidFill>
          <a:ln/>
        </p:spPr>
      </p:sp>
      <p:sp>
        <p:nvSpPr>
          <p:cNvPr id="11" name="Shape 9"/>
          <p:cNvSpPr/>
          <p:nvPr/>
        </p:nvSpPr>
        <p:spPr>
          <a:xfrm>
            <a:off x="723900" y="1409700"/>
            <a:ext cx="247650" cy="247650"/>
          </a:xfrm>
          <a:prstGeom prst="ellipse">
            <a:avLst/>
          </a:prstGeom>
          <a:ln w="9525">
            <a:solidFill>
              <a:srgbClr val="9FB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4027" y="1466850"/>
            <a:ext cx="20344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23900" y="1733550"/>
            <a:ext cx="1688678" cy="224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50"/>
              </a:lnSpc>
              <a:buNone/>
            </a:pPr>
            <a:r>
              <a:rPr lang="en-US" sz="1275" b="1" spc="45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PRODUTO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2506712" y="1276350"/>
            <a:ext cx="1909911" cy="943868"/>
          </a:xfrm>
          <a:prstGeom prst="rect">
            <a:avLst/>
          </a:prstGeom>
          <a:solidFill>
            <a:srgbClr val="0F2568"/>
          </a:solidFill>
          <a:ln/>
        </p:spPr>
      </p:sp>
      <p:sp>
        <p:nvSpPr>
          <p:cNvPr id="15" name="Shape 13"/>
          <p:cNvSpPr/>
          <p:nvPr/>
        </p:nvSpPr>
        <p:spPr>
          <a:xfrm>
            <a:off x="2773412" y="1409700"/>
            <a:ext cx="247650" cy="247650"/>
          </a:xfrm>
          <a:prstGeom prst="ellipse">
            <a:avLst/>
          </a:prstGeom>
          <a:ln w="9525">
            <a:solidFill>
              <a:srgbClr val="9FB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33539" y="1466850"/>
            <a:ext cx="20344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73412" y="1733550"/>
            <a:ext cx="1493207" cy="224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50"/>
              </a:lnSpc>
              <a:buNone/>
            </a:pPr>
            <a:r>
              <a:rPr lang="en-US" sz="1275" b="1" spc="45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CONTRATAÇÃO</a:t>
            </a:r>
            <a:endParaRPr lang="en-US" sz="1275" dirty="0"/>
          </a:p>
        </p:txBody>
      </p:sp>
      <p:sp>
        <p:nvSpPr>
          <p:cNvPr id="18" name="Shape 16"/>
          <p:cNvSpPr/>
          <p:nvPr/>
        </p:nvSpPr>
        <p:spPr>
          <a:xfrm>
            <a:off x="4378523" y="1276350"/>
            <a:ext cx="1910060" cy="943868"/>
          </a:xfrm>
          <a:prstGeom prst="rect">
            <a:avLst/>
          </a:prstGeom>
          <a:solidFill>
            <a:srgbClr val="0F2568"/>
          </a:solidFill>
          <a:ln/>
        </p:spPr>
      </p:sp>
      <p:sp>
        <p:nvSpPr>
          <p:cNvPr id="19" name="Shape 17"/>
          <p:cNvSpPr/>
          <p:nvPr/>
        </p:nvSpPr>
        <p:spPr>
          <a:xfrm>
            <a:off x="4645223" y="1409700"/>
            <a:ext cx="247650" cy="247650"/>
          </a:xfrm>
          <a:prstGeom prst="ellipse">
            <a:avLst/>
          </a:prstGeom>
          <a:ln w="9525">
            <a:solidFill>
              <a:srgbClr val="9FB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5350" y="1466850"/>
            <a:ext cx="20344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291138" y="1438275"/>
            <a:ext cx="711696" cy="19050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367337" y="1466850"/>
            <a:ext cx="6354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</a:t>
            </a:r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highlight>
                  <a:srgbClr val="FFFFFF"/>
                </a:highlight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45223" y="1733550"/>
            <a:ext cx="1493371" cy="224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50"/>
              </a:lnSpc>
              <a:buNone/>
            </a:pPr>
            <a:r>
              <a:rPr lang="en-US" sz="1275" b="1" spc="45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CONFIGURAÇÃO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6250484" y="1276350"/>
            <a:ext cx="1909911" cy="943868"/>
          </a:xfrm>
          <a:prstGeom prst="rect">
            <a:avLst/>
          </a:prstGeom>
          <a:solidFill>
            <a:srgbClr val="0F2568"/>
          </a:solidFill>
          <a:ln/>
        </p:spPr>
      </p:sp>
      <p:sp>
        <p:nvSpPr>
          <p:cNvPr id="25" name="Shape 23"/>
          <p:cNvSpPr/>
          <p:nvPr/>
        </p:nvSpPr>
        <p:spPr>
          <a:xfrm>
            <a:off x="6517184" y="1409700"/>
            <a:ext cx="247650" cy="247650"/>
          </a:xfrm>
          <a:prstGeom prst="ellipse">
            <a:avLst/>
          </a:prstGeom>
          <a:ln w="9525">
            <a:solidFill>
              <a:srgbClr val="9FB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77310" y="1466850"/>
            <a:ext cx="20344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17184" y="1733550"/>
            <a:ext cx="1433661" cy="4104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50"/>
              </a:lnSpc>
              <a:buNone/>
            </a:pPr>
            <a:r>
              <a:rPr lang="en-US" sz="1275" b="1" spc="45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GATILHO DE FATURAMENTO</a:t>
            </a:r>
            <a:endParaRPr lang="en-US" sz="1275" dirty="0"/>
          </a:p>
        </p:txBody>
      </p:sp>
      <p:sp>
        <p:nvSpPr>
          <p:cNvPr id="28" name="Shape 26"/>
          <p:cNvSpPr/>
          <p:nvPr/>
        </p:nvSpPr>
        <p:spPr>
          <a:xfrm>
            <a:off x="8122295" y="1276350"/>
            <a:ext cx="1910060" cy="943868"/>
          </a:xfrm>
          <a:prstGeom prst="rect">
            <a:avLst/>
          </a:prstGeom>
          <a:solidFill>
            <a:srgbClr val="0F2568"/>
          </a:solidFill>
          <a:ln/>
        </p:spPr>
      </p:sp>
      <p:sp>
        <p:nvSpPr>
          <p:cNvPr id="29" name="Shape 27"/>
          <p:cNvSpPr/>
          <p:nvPr/>
        </p:nvSpPr>
        <p:spPr>
          <a:xfrm>
            <a:off x="8388995" y="1409700"/>
            <a:ext cx="247650" cy="247650"/>
          </a:xfrm>
          <a:prstGeom prst="ellipse">
            <a:avLst/>
          </a:prstGeom>
          <a:ln w="9525">
            <a:solidFill>
              <a:srgbClr val="9FB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49121" y="1466850"/>
            <a:ext cx="20344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388995" y="1733550"/>
            <a:ext cx="1493371" cy="224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50"/>
              </a:lnSpc>
              <a:buNone/>
            </a:pPr>
            <a:r>
              <a:rPr lang="en-US" sz="1275" b="1" spc="45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TARIFAÇÃO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9994255" y="1276350"/>
            <a:ext cx="1909911" cy="943868"/>
          </a:xfrm>
          <a:prstGeom prst="rect">
            <a:avLst/>
          </a:prstGeom>
          <a:solidFill>
            <a:srgbClr val="0F2568"/>
          </a:solidFill>
          <a:ln/>
        </p:spPr>
      </p:sp>
      <p:sp>
        <p:nvSpPr>
          <p:cNvPr id="33" name="Shape 31"/>
          <p:cNvSpPr/>
          <p:nvPr/>
        </p:nvSpPr>
        <p:spPr>
          <a:xfrm>
            <a:off x="10260955" y="1409700"/>
            <a:ext cx="247650" cy="247650"/>
          </a:xfrm>
          <a:prstGeom prst="ellipse">
            <a:avLst/>
          </a:prstGeom>
          <a:ln w="9525">
            <a:solidFill>
              <a:srgbClr val="9FB0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1082" y="1466850"/>
            <a:ext cx="20344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06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60955" y="1733550"/>
            <a:ext cx="1493207" cy="224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50"/>
              </a:lnSpc>
              <a:buNone/>
            </a:pPr>
            <a:r>
              <a:rPr lang="en-US" sz="1275" b="1" spc="45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FATURAMENTO</a:t>
            </a:r>
            <a:endParaRPr lang="en-US" sz="1275" dirty="0"/>
          </a:p>
        </p:txBody>
      </p:sp>
      <p:sp>
        <p:nvSpPr>
          <p:cNvPr id="36" name="Shape 34"/>
          <p:cNvSpPr/>
          <p:nvPr/>
        </p:nvSpPr>
        <p:spPr>
          <a:xfrm>
            <a:off x="11866066" y="1276350"/>
            <a:ext cx="1910060" cy="943868"/>
          </a:xfrm>
          <a:prstGeom prst="rect">
            <a:avLst/>
          </a:prstGeom>
          <a:solidFill>
            <a:srgbClr val="0F2568"/>
          </a:solidFill>
          <a:ln/>
        </p:spPr>
      </p:sp>
      <p:sp>
        <p:nvSpPr>
          <p:cNvPr id="37" name="Shape 35"/>
          <p:cNvSpPr/>
          <p:nvPr/>
        </p:nvSpPr>
        <p:spPr>
          <a:xfrm>
            <a:off x="12132766" y="1409700"/>
            <a:ext cx="247650" cy="247650"/>
          </a:xfrm>
          <a:prstGeom prst="ellipse">
            <a:avLst/>
          </a:prstGeom>
          <a:ln w="9525">
            <a:solidFill>
              <a:srgbClr val="9FB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192893" y="1466850"/>
            <a:ext cx="20344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07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2778680" y="1438275"/>
            <a:ext cx="711696" cy="19050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12854880" y="1466850"/>
            <a:ext cx="6354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</a:t>
            </a:r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highlight>
                  <a:srgbClr val="FFFFFF"/>
                </a:highlight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2132766" y="1733550"/>
            <a:ext cx="1493371" cy="224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50"/>
              </a:lnSpc>
              <a:buNone/>
            </a:pPr>
            <a:r>
              <a:rPr lang="en-US" sz="1275" b="1" spc="45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DETALHAMENTO</a:t>
            </a:r>
            <a:endParaRPr lang="en-US" sz="1275" dirty="0"/>
          </a:p>
        </p:txBody>
      </p:sp>
      <p:sp>
        <p:nvSpPr>
          <p:cNvPr id="42" name="Shape 40"/>
          <p:cNvSpPr/>
          <p:nvPr/>
        </p:nvSpPr>
        <p:spPr>
          <a:xfrm>
            <a:off x="13738027" y="1276350"/>
            <a:ext cx="1910060" cy="943868"/>
          </a:xfrm>
          <a:prstGeom prst="rect">
            <a:avLst/>
          </a:prstGeom>
          <a:solidFill>
            <a:srgbClr val="0F2568"/>
          </a:solidFill>
          <a:ln/>
        </p:spPr>
      </p:sp>
      <p:sp>
        <p:nvSpPr>
          <p:cNvPr id="43" name="Shape 41"/>
          <p:cNvSpPr/>
          <p:nvPr/>
        </p:nvSpPr>
        <p:spPr>
          <a:xfrm>
            <a:off x="14004727" y="1409700"/>
            <a:ext cx="247650" cy="247650"/>
          </a:xfrm>
          <a:prstGeom prst="ellipse">
            <a:avLst/>
          </a:prstGeom>
          <a:ln w="9525">
            <a:solidFill>
              <a:srgbClr val="9FB0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064853" y="1466850"/>
            <a:ext cx="20344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4650641" y="1438275"/>
            <a:ext cx="711696" cy="19050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14726841" y="1466850"/>
            <a:ext cx="63549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</a:t>
            </a:r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highlight>
                  <a:srgbClr val="FFFFFF"/>
                </a:highlight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4004727" y="1733550"/>
            <a:ext cx="1493371" cy="224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50"/>
              </a:lnSpc>
              <a:buNone/>
            </a:pPr>
            <a:r>
              <a:rPr lang="en-US" sz="1275" b="1" spc="45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CANCELAMENTO</a:t>
            </a:r>
            <a:endParaRPr lang="en-US" sz="1275" dirty="0"/>
          </a:p>
        </p:txBody>
      </p:sp>
      <p:sp>
        <p:nvSpPr>
          <p:cNvPr id="48" name="Shape 46"/>
          <p:cNvSpPr/>
          <p:nvPr/>
        </p:nvSpPr>
        <p:spPr>
          <a:xfrm>
            <a:off x="15609987" y="1276350"/>
            <a:ext cx="2354014" cy="943868"/>
          </a:xfrm>
          <a:prstGeom prst="rect">
            <a:avLst/>
          </a:prstGeom>
          <a:solidFill>
            <a:srgbClr val="0F2568"/>
          </a:solidFill>
          <a:ln/>
        </p:spPr>
      </p:sp>
      <p:sp>
        <p:nvSpPr>
          <p:cNvPr id="49" name="Shape 47"/>
          <p:cNvSpPr/>
          <p:nvPr/>
        </p:nvSpPr>
        <p:spPr>
          <a:xfrm>
            <a:off x="15876687" y="1409700"/>
            <a:ext cx="247650" cy="247650"/>
          </a:xfrm>
          <a:prstGeom prst="ellipse">
            <a:avLst/>
          </a:prstGeom>
          <a:ln w="9525">
            <a:solidFill>
              <a:srgbClr val="9FB0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5936813" y="1466850"/>
            <a:ext cx="20344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FE6F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09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5876687" y="1733550"/>
            <a:ext cx="1981721" cy="224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50"/>
              </a:lnSpc>
              <a:buNone/>
            </a:pPr>
            <a:r>
              <a:rPr lang="en-US" sz="1275" b="1" spc="45" kern="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COMPLEXIDADE</a:t>
            </a:r>
            <a:endParaRPr lang="en-US" sz="1275" dirty="0"/>
          </a:p>
        </p:txBody>
      </p:sp>
      <p:sp>
        <p:nvSpPr>
          <p:cNvPr id="52" name="Shape 50"/>
          <p:cNvSpPr/>
          <p:nvPr/>
        </p:nvSpPr>
        <p:spPr>
          <a:xfrm>
            <a:off x="457200" y="2315468"/>
            <a:ext cx="1954262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1025" y="2615208"/>
            <a:ext cx="1877273" cy="2391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158"/>
              </a:lnSpc>
              <a:buNone/>
            </a:pPr>
            <a:r>
              <a:rPr lang="en-US" sz="1238" b="1" dirty="0">
                <a:solidFill>
                  <a:srgbClr val="0B1D5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Datawise Plus</a:t>
            </a:r>
            <a:endParaRPr lang="en-US" sz="1238" dirty="0"/>
          </a:p>
        </p:txBody>
      </p:sp>
      <p:sp>
        <p:nvSpPr>
          <p:cNvPr id="54" name="Shape 52"/>
          <p:cNvSpPr/>
          <p:nvPr/>
        </p:nvSpPr>
        <p:spPr>
          <a:xfrm>
            <a:off x="2506712" y="2315468"/>
            <a:ext cx="1776561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30537" y="2621310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Salesforce</a:t>
            </a:r>
            <a:endParaRPr lang="en-US" sz="1163" dirty="0"/>
          </a:p>
        </p:txBody>
      </p:sp>
      <p:sp>
        <p:nvSpPr>
          <p:cNvPr id="56" name="Shape 54"/>
          <p:cNvSpPr/>
          <p:nvPr/>
        </p:nvSpPr>
        <p:spPr>
          <a:xfrm>
            <a:off x="4378523" y="2315468"/>
            <a:ext cx="1776710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02348" y="2512665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Suporte Neoway</a:t>
            </a:r>
            <a:endParaRPr lang="en-US" sz="1163" dirty="0"/>
          </a:p>
        </p:txBody>
      </p:sp>
      <p:sp>
        <p:nvSpPr>
          <p:cNvPr id="58" name="Text 56"/>
          <p:cNvSpPr/>
          <p:nvPr/>
        </p:nvSpPr>
        <p:spPr>
          <a:xfrm>
            <a:off x="4502348" y="2730103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(time do Edson)</a:t>
            </a:r>
            <a:endParaRPr lang="en-US" sz="1163" dirty="0"/>
          </a:p>
        </p:txBody>
      </p:sp>
      <p:sp>
        <p:nvSpPr>
          <p:cNvPr id="59" name="Shape 57"/>
          <p:cNvSpPr/>
          <p:nvPr/>
        </p:nvSpPr>
        <p:spPr>
          <a:xfrm>
            <a:off x="6250484" y="2315468"/>
            <a:ext cx="1776561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74309" y="2512665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Felipe</a:t>
            </a:r>
            <a:endParaRPr lang="en-US" sz="1163" dirty="0"/>
          </a:p>
        </p:txBody>
      </p:sp>
      <p:sp>
        <p:nvSpPr>
          <p:cNvPr id="61" name="Text 59"/>
          <p:cNvSpPr/>
          <p:nvPr/>
        </p:nvSpPr>
        <p:spPr>
          <a:xfrm>
            <a:off x="6374309" y="2730103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Planilha do CRM</a:t>
            </a:r>
            <a:endParaRPr lang="en-US" sz="1163" dirty="0"/>
          </a:p>
        </p:txBody>
      </p:sp>
      <p:sp>
        <p:nvSpPr>
          <p:cNvPr id="62" name="Shape 60"/>
          <p:cNvSpPr/>
          <p:nvPr/>
        </p:nvSpPr>
        <p:spPr>
          <a:xfrm>
            <a:off x="8122295" y="2315468"/>
            <a:ext cx="1776710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246120" y="2568922"/>
            <a:ext cx="76200" cy="76200"/>
          </a:xfrm>
          <a:prstGeom prst="ellipse">
            <a:avLst/>
          </a:prstGeom>
          <a:solidFill>
            <a:srgbClr val="C98A2B"/>
          </a:solidFill>
          <a:ln/>
        </p:spPr>
      </p:sp>
      <p:sp>
        <p:nvSpPr>
          <p:cNvPr id="64" name="Text 62"/>
          <p:cNvSpPr/>
          <p:nvPr/>
        </p:nvSpPr>
        <p:spPr>
          <a:xfrm>
            <a:off x="8379470" y="2540347"/>
            <a:ext cx="6264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B077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MANUAL</a:t>
            </a:r>
            <a:endParaRPr lang="en-US" sz="938" dirty="0"/>
          </a:p>
        </p:txBody>
      </p:sp>
      <p:sp>
        <p:nvSpPr>
          <p:cNvPr id="65" name="Text 63"/>
          <p:cNvSpPr/>
          <p:nvPr/>
        </p:nvSpPr>
        <p:spPr>
          <a:xfrm>
            <a:off x="8246120" y="2711797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SAP</a:t>
            </a:r>
            <a:endParaRPr lang="en-US" sz="1163" dirty="0"/>
          </a:p>
        </p:txBody>
      </p:sp>
      <p:sp>
        <p:nvSpPr>
          <p:cNvPr id="66" name="Shape 64"/>
          <p:cNvSpPr/>
          <p:nvPr/>
        </p:nvSpPr>
        <p:spPr>
          <a:xfrm>
            <a:off x="9994255" y="2315468"/>
            <a:ext cx="1776561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18080" y="2460278"/>
            <a:ext cx="76200" cy="76200"/>
          </a:xfrm>
          <a:prstGeom prst="ellipse">
            <a:avLst/>
          </a:prstGeom>
          <a:solidFill>
            <a:srgbClr val="C98A2B"/>
          </a:solidFill>
          <a:ln/>
        </p:spPr>
      </p:sp>
      <p:sp>
        <p:nvSpPr>
          <p:cNvPr id="68" name="Text 66"/>
          <p:cNvSpPr/>
          <p:nvPr/>
        </p:nvSpPr>
        <p:spPr>
          <a:xfrm>
            <a:off x="10251430" y="2431703"/>
            <a:ext cx="6264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B077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MANUAL</a:t>
            </a:r>
            <a:endParaRPr lang="en-US" sz="938" dirty="0"/>
          </a:p>
        </p:txBody>
      </p:sp>
      <p:sp>
        <p:nvSpPr>
          <p:cNvPr id="69" name="Text 67"/>
          <p:cNvSpPr/>
          <p:nvPr/>
        </p:nvSpPr>
        <p:spPr>
          <a:xfrm>
            <a:off x="10118080" y="2603153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SAP</a:t>
            </a:r>
            <a:endParaRPr lang="en-US" sz="1163" dirty="0"/>
          </a:p>
        </p:txBody>
      </p:sp>
      <p:sp>
        <p:nvSpPr>
          <p:cNvPr id="70" name="Text 68"/>
          <p:cNvSpPr/>
          <p:nvPr/>
        </p:nvSpPr>
        <p:spPr>
          <a:xfrm>
            <a:off x="10118080" y="2820591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Time da Anna</a:t>
            </a:r>
            <a:endParaRPr lang="en-US" sz="1163" dirty="0"/>
          </a:p>
        </p:txBody>
      </p:sp>
      <p:sp>
        <p:nvSpPr>
          <p:cNvPr id="71" name="Shape 69"/>
          <p:cNvSpPr/>
          <p:nvPr/>
        </p:nvSpPr>
        <p:spPr>
          <a:xfrm>
            <a:off x="11866066" y="2315468"/>
            <a:ext cx="1776710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1989891" y="2512665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Envio manual</a:t>
            </a:r>
            <a:endParaRPr lang="en-US" sz="1163" dirty="0"/>
          </a:p>
        </p:txBody>
      </p:sp>
      <p:sp>
        <p:nvSpPr>
          <p:cNvPr id="73" name="Text 71"/>
          <p:cNvSpPr/>
          <p:nvPr/>
        </p:nvSpPr>
        <p:spPr>
          <a:xfrm>
            <a:off x="11989891" y="2730103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Validar cadastro</a:t>
            </a:r>
            <a:endParaRPr lang="en-US" sz="1163" dirty="0"/>
          </a:p>
        </p:txBody>
      </p:sp>
      <p:sp>
        <p:nvSpPr>
          <p:cNvPr id="74" name="Shape 72"/>
          <p:cNvSpPr/>
          <p:nvPr/>
        </p:nvSpPr>
        <p:spPr>
          <a:xfrm>
            <a:off x="13738027" y="2315468"/>
            <a:ext cx="1776710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3861852" y="2526953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Fluxo financeiro a validar</a:t>
            </a:r>
            <a:endParaRPr lang="en-US" sz="1163" dirty="0"/>
          </a:p>
        </p:txBody>
      </p:sp>
      <p:sp>
        <p:nvSpPr>
          <p:cNvPr id="76" name="Shape 74"/>
          <p:cNvSpPr/>
          <p:nvPr/>
        </p:nvSpPr>
        <p:spPr>
          <a:xfrm>
            <a:off x="15609987" y="2315468"/>
            <a:ext cx="2220664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733812" y="2512665"/>
            <a:ext cx="217031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SKU / USD / CP</a:t>
            </a:r>
            <a:endParaRPr lang="en-US" sz="1163" dirty="0"/>
          </a:p>
        </p:txBody>
      </p:sp>
      <p:sp>
        <p:nvSpPr>
          <p:cNvPr id="78" name="Text 76"/>
          <p:cNvSpPr/>
          <p:nvPr/>
        </p:nvSpPr>
        <p:spPr>
          <a:xfrm>
            <a:off x="15733812" y="2730103"/>
            <a:ext cx="217031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Cadastro / envio</a:t>
            </a:r>
            <a:endParaRPr lang="en-US" sz="1163" dirty="0"/>
          </a:p>
        </p:txBody>
      </p:sp>
      <p:sp>
        <p:nvSpPr>
          <p:cNvPr id="79" name="Shape 77"/>
          <p:cNvSpPr/>
          <p:nvPr/>
        </p:nvSpPr>
        <p:spPr>
          <a:xfrm>
            <a:off x="457200" y="3173313"/>
            <a:ext cx="1954262" cy="591294"/>
          </a:xfrm>
          <a:prstGeom prst="roundRect">
            <a:avLst>
              <a:gd name="adj" fmla="val 9665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81025" y="3368427"/>
            <a:ext cx="1877273" cy="2391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158"/>
              </a:lnSpc>
              <a:buNone/>
            </a:pPr>
            <a:r>
              <a:rPr lang="en-US" sz="1238" b="1" dirty="0">
                <a:solidFill>
                  <a:srgbClr val="0B1D5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UP2DATA</a:t>
            </a:r>
            <a:endParaRPr lang="en-US" sz="1238" dirty="0"/>
          </a:p>
        </p:txBody>
      </p:sp>
      <p:sp>
        <p:nvSpPr>
          <p:cNvPr id="81" name="Shape 79"/>
          <p:cNvSpPr/>
          <p:nvPr/>
        </p:nvSpPr>
        <p:spPr>
          <a:xfrm>
            <a:off x="2506712" y="3173313"/>
            <a:ext cx="1776561" cy="591294"/>
          </a:xfrm>
          <a:prstGeom prst="roundRect">
            <a:avLst>
              <a:gd name="adj" fmla="val 9665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630537" y="3374529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Salesforce / Portal</a:t>
            </a:r>
            <a:endParaRPr lang="en-US" sz="1163" dirty="0"/>
          </a:p>
        </p:txBody>
      </p:sp>
      <p:sp>
        <p:nvSpPr>
          <p:cNvPr id="83" name="Shape 81"/>
          <p:cNvSpPr/>
          <p:nvPr/>
        </p:nvSpPr>
        <p:spPr>
          <a:xfrm>
            <a:off x="4378523" y="3173313"/>
            <a:ext cx="1776710" cy="591294"/>
          </a:xfrm>
          <a:prstGeom prst="roundRect">
            <a:avLst>
              <a:gd name="adj" fmla="val 9665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02348" y="3374529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Contratação / BDS</a:t>
            </a:r>
            <a:endParaRPr lang="en-US" sz="1163" dirty="0"/>
          </a:p>
        </p:txBody>
      </p:sp>
      <p:sp>
        <p:nvSpPr>
          <p:cNvPr id="85" name="Shape 83"/>
          <p:cNvSpPr/>
          <p:nvPr/>
        </p:nvSpPr>
        <p:spPr>
          <a:xfrm>
            <a:off x="6250484" y="3173313"/>
            <a:ext cx="1776561" cy="591294"/>
          </a:xfrm>
          <a:prstGeom prst="roundRect">
            <a:avLst>
              <a:gd name="adj" fmla="val 9665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374309" y="3374529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Portal de Serviços</a:t>
            </a:r>
            <a:endParaRPr lang="en-US" sz="1163" dirty="0"/>
          </a:p>
        </p:txBody>
      </p:sp>
      <p:sp>
        <p:nvSpPr>
          <p:cNvPr id="87" name="Shape 85"/>
          <p:cNvSpPr/>
          <p:nvPr/>
        </p:nvSpPr>
        <p:spPr>
          <a:xfrm>
            <a:off x="8122295" y="3173313"/>
            <a:ext cx="1776710" cy="591294"/>
          </a:xfrm>
          <a:prstGeom prst="roundRect">
            <a:avLst>
              <a:gd name="adj" fmla="val 9665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246120" y="3322141"/>
            <a:ext cx="76200" cy="76200"/>
          </a:xfrm>
          <a:prstGeom prst="ellipse">
            <a:avLst/>
          </a:prstGeom>
          <a:solidFill>
            <a:srgbClr val="2E8B6E"/>
          </a:solidFill>
          <a:ln/>
        </p:spPr>
      </p:sp>
      <p:sp>
        <p:nvSpPr>
          <p:cNvPr id="89" name="Text 87"/>
          <p:cNvSpPr/>
          <p:nvPr/>
        </p:nvSpPr>
        <p:spPr>
          <a:xfrm>
            <a:off x="8379470" y="3293566"/>
            <a:ext cx="9382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2E8B6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AUTOMÁTICO</a:t>
            </a:r>
            <a:endParaRPr lang="en-US" sz="938" dirty="0"/>
          </a:p>
        </p:txBody>
      </p:sp>
      <p:sp>
        <p:nvSpPr>
          <p:cNvPr id="90" name="Text 88"/>
          <p:cNvSpPr/>
          <p:nvPr/>
        </p:nvSpPr>
        <p:spPr>
          <a:xfrm>
            <a:off x="8246120" y="3465016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Metra Listados</a:t>
            </a:r>
            <a:endParaRPr lang="en-US" sz="1163" dirty="0"/>
          </a:p>
        </p:txBody>
      </p:sp>
      <p:sp>
        <p:nvSpPr>
          <p:cNvPr id="91" name="Shape 89"/>
          <p:cNvSpPr/>
          <p:nvPr/>
        </p:nvSpPr>
        <p:spPr>
          <a:xfrm>
            <a:off x="9994255" y="3173313"/>
            <a:ext cx="1776561" cy="591294"/>
          </a:xfrm>
          <a:prstGeom prst="roundRect">
            <a:avLst>
              <a:gd name="adj" fmla="val 9665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118080" y="3322141"/>
            <a:ext cx="76200" cy="76200"/>
          </a:xfrm>
          <a:prstGeom prst="ellipse">
            <a:avLst/>
          </a:prstGeom>
          <a:solidFill>
            <a:srgbClr val="2E8B6E"/>
          </a:solidFill>
          <a:ln/>
        </p:spPr>
      </p:sp>
      <p:sp>
        <p:nvSpPr>
          <p:cNvPr id="93" name="Text 91"/>
          <p:cNvSpPr/>
          <p:nvPr/>
        </p:nvSpPr>
        <p:spPr>
          <a:xfrm>
            <a:off x="10251430" y="3293566"/>
            <a:ext cx="9382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2E8B6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AUTOMÁTICO</a:t>
            </a:r>
            <a:endParaRPr lang="en-US" sz="938" dirty="0"/>
          </a:p>
        </p:txBody>
      </p:sp>
      <p:sp>
        <p:nvSpPr>
          <p:cNvPr id="94" name="Text 92"/>
          <p:cNvSpPr/>
          <p:nvPr/>
        </p:nvSpPr>
        <p:spPr>
          <a:xfrm>
            <a:off x="10118080" y="3465016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SAP / boleto</a:t>
            </a:r>
            <a:endParaRPr lang="en-US" sz="1163" dirty="0"/>
          </a:p>
        </p:txBody>
      </p:sp>
      <p:sp>
        <p:nvSpPr>
          <p:cNvPr id="95" name="Shape 93"/>
          <p:cNvSpPr/>
          <p:nvPr/>
        </p:nvSpPr>
        <p:spPr>
          <a:xfrm>
            <a:off x="11866066" y="3173313"/>
            <a:ext cx="1776710" cy="591294"/>
          </a:xfrm>
          <a:prstGeom prst="roundRect">
            <a:avLst>
              <a:gd name="adj" fmla="val 9665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1989891" y="3322141"/>
            <a:ext cx="76200" cy="76200"/>
          </a:xfrm>
          <a:prstGeom prst="ellipse">
            <a:avLst/>
          </a:prstGeom>
          <a:solidFill>
            <a:srgbClr val="2E8B6E"/>
          </a:solidFill>
          <a:ln/>
        </p:spPr>
      </p:sp>
      <p:sp>
        <p:nvSpPr>
          <p:cNvPr id="97" name="Text 95"/>
          <p:cNvSpPr/>
          <p:nvPr/>
        </p:nvSpPr>
        <p:spPr>
          <a:xfrm>
            <a:off x="12123241" y="3293566"/>
            <a:ext cx="9382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2E8B6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AUTOMÁTICO</a:t>
            </a:r>
            <a:endParaRPr lang="en-US" sz="938" dirty="0"/>
          </a:p>
        </p:txBody>
      </p:sp>
      <p:sp>
        <p:nvSpPr>
          <p:cNvPr id="98" name="Text 96"/>
          <p:cNvSpPr/>
          <p:nvPr/>
        </p:nvSpPr>
        <p:spPr>
          <a:xfrm>
            <a:off x="11989891" y="3465016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Celonis</a:t>
            </a:r>
            <a:endParaRPr lang="en-US" sz="1163" dirty="0"/>
          </a:p>
        </p:txBody>
      </p:sp>
      <p:sp>
        <p:nvSpPr>
          <p:cNvPr id="99" name="Shape 97"/>
          <p:cNvSpPr/>
          <p:nvPr/>
        </p:nvSpPr>
        <p:spPr>
          <a:xfrm>
            <a:off x="13738027" y="3173313"/>
            <a:ext cx="1776710" cy="591294"/>
          </a:xfrm>
          <a:prstGeom prst="roundRect">
            <a:avLst>
              <a:gd name="adj" fmla="val 9665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3861852" y="3280023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Fluxo financeiro a validar</a:t>
            </a:r>
            <a:endParaRPr lang="en-US" sz="1163" dirty="0"/>
          </a:p>
        </p:txBody>
      </p:sp>
      <p:sp>
        <p:nvSpPr>
          <p:cNvPr id="101" name="Shape 99"/>
          <p:cNvSpPr/>
          <p:nvPr/>
        </p:nvSpPr>
        <p:spPr>
          <a:xfrm>
            <a:off x="15609987" y="3173313"/>
            <a:ext cx="2220664" cy="591294"/>
          </a:xfrm>
          <a:prstGeom prst="roundRect">
            <a:avLst>
              <a:gd name="adj" fmla="val 9665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5733812" y="3280023"/>
            <a:ext cx="2049214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Conciliar preços, acessos e SKUs</a:t>
            </a:r>
            <a:endParaRPr lang="en-US" sz="1163" dirty="0"/>
          </a:p>
        </p:txBody>
      </p:sp>
      <p:sp>
        <p:nvSpPr>
          <p:cNvPr id="103" name="Shape 101"/>
          <p:cNvSpPr/>
          <p:nvPr/>
        </p:nvSpPr>
        <p:spPr>
          <a:xfrm>
            <a:off x="457200" y="3821757"/>
            <a:ext cx="1954262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81025" y="4125516"/>
            <a:ext cx="1877273" cy="2391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158"/>
              </a:lnSpc>
              <a:buNone/>
            </a:pPr>
            <a:r>
              <a:rPr lang="en-US" sz="1238" b="1" dirty="0">
                <a:solidFill>
                  <a:srgbClr val="0B1D5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Datawise Reports</a:t>
            </a:r>
            <a:endParaRPr lang="en-US" sz="1238" dirty="0"/>
          </a:p>
        </p:txBody>
      </p:sp>
      <p:sp>
        <p:nvSpPr>
          <p:cNvPr id="105" name="Shape 103"/>
          <p:cNvSpPr/>
          <p:nvPr/>
        </p:nvSpPr>
        <p:spPr>
          <a:xfrm>
            <a:off x="2506712" y="3821757"/>
            <a:ext cx="1776561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630537" y="4037112"/>
            <a:ext cx="1605111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Salesforce / Plataforma</a:t>
            </a:r>
            <a:endParaRPr lang="en-US" sz="1163" dirty="0"/>
          </a:p>
        </p:txBody>
      </p:sp>
      <p:sp>
        <p:nvSpPr>
          <p:cNvPr id="107" name="Shape 105"/>
          <p:cNvSpPr/>
          <p:nvPr/>
        </p:nvSpPr>
        <p:spPr>
          <a:xfrm>
            <a:off x="4378523" y="3821757"/>
            <a:ext cx="1776710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502348" y="4037112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CSNet / Helix / CAU (GEGIA) / Suporte</a:t>
            </a:r>
            <a:endParaRPr lang="en-US" sz="1163" dirty="0"/>
          </a:p>
        </p:txBody>
      </p:sp>
      <p:sp>
        <p:nvSpPr>
          <p:cNvPr id="109" name="Shape 107"/>
          <p:cNvSpPr/>
          <p:nvPr/>
        </p:nvSpPr>
        <p:spPr>
          <a:xfrm>
            <a:off x="6250484" y="3821757"/>
            <a:ext cx="1776561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6374309" y="4037112"/>
            <a:ext cx="1605111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Plataforma Report – Arqmidva</a:t>
            </a:r>
            <a:endParaRPr lang="en-US" sz="1163" dirty="0"/>
          </a:p>
        </p:txBody>
      </p:sp>
      <p:sp>
        <p:nvSpPr>
          <p:cNvPr id="111" name="Shape 109"/>
          <p:cNvSpPr/>
          <p:nvPr/>
        </p:nvSpPr>
        <p:spPr>
          <a:xfrm>
            <a:off x="8122295" y="3821757"/>
            <a:ext cx="1776710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246120" y="4079230"/>
            <a:ext cx="76200" cy="76200"/>
          </a:xfrm>
          <a:prstGeom prst="ellipse">
            <a:avLst/>
          </a:prstGeom>
          <a:solidFill>
            <a:srgbClr val="2E8B6E"/>
          </a:solidFill>
          <a:ln/>
        </p:spPr>
      </p:sp>
      <p:sp>
        <p:nvSpPr>
          <p:cNvPr id="113" name="Text 111"/>
          <p:cNvSpPr/>
          <p:nvPr/>
        </p:nvSpPr>
        <p:spPr>
          <a:xfrm>
            <a:off x="8379470" y="4050655"/>
            <a:ext cx="9382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2E8B6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AUTOMÁTICO</a:t>
            </a:r>
            <a:endParaRPr lang="en-US" sz="938" dirty="0"/>
          </a:p>
        </p:txBody>
      </p:sp>
      <p:sp>
        <p:nvSpPr>
          <p:cNvPr id="114" name="Text 112"/>
          <p:cNvSpPr/>
          <p:nvPr/>
        </p:nvSpPr>
        <p:spPr>
          <a:xfrm>
            <a:off x="8246120" y="4222105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Metra Balcão</a:t>
            </a:r>
            <a:endParaRPr lang="en-US" sz="1163" dirty="0"/>
          </a:p>
        </p:txBody>
      </p:sp>
      <p:sp>
        <p:nvSpPr>
          <p:cNvPr id="115" name="Shape 113"/>
          <p:cNvSpPr/>
          <p:nvPr/>
        </p:nvSpPr>
        <p:spPr>
          <a:xfrm>
            <a:off x="9994255" y="3821757"/>
            <a:ext cx="1776561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0118080" y="3928467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Liquidação</a:t>
            </a:r>
            <a:endParaRPr lang="en-US" sz="1163" dirty="0"/>
          </a:p>
        </p:txBody>
      </p:sp>
      <p:sp>
        <p:nvSpPr>
          <p:cNvPr id="117" name="Text 115"/>
          <p:cNvSpPr/>
          <p:nvPr/>
        </p:nvSpPr>
        <p:spPr>
          <a:xfrm>
            <a:off x="10118080" y="4145905"/>
            <a:ext cx="1605111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Boleto via SAP (opcional)</a:t>
            </a:r>
            <a:endParaRPr lang="en-US" sz="1163" dirty="0"/>
          </a:p>
        </p:txBody>
      </p:sp>
      <p:sp>
        <p:nvSpPr>
          <p:cNvPr id="118" name="Shape 116"/>
          <p:cNvSpPr/>
          <p:nvPr/>
        </p:nvSpPr>
        <p:spPr>
          <a:xfrm>
            <a:off x="11866066" y="3821757"/>
            <a:ext cx="1776710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1989891" y="4131618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NoMe</a:t>
            </a:r>
            <a:endParaRPr lang="en-US" sz="1163" dirty="0"/>
          </a:p>
        </p:txBody>
      </p:sp>
      <p:sp>
        <p:nvSpPr>
          <p:cNvPr id="120" name="Shape 118"/>
          <p:cNvSpPr/>
          <p:nvPr/>
        </p:nvSpPr>
        <p:spPr>
          <a:xfrm>
            <a:off x="13738027" y="3821757"/>
            <a:ext cx="1776710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3861852" y="4037112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E-mail / baixa manual na plataforma</a:t>
            </a:r>
            <a:endParaRPr lang="en-US" sz="1163" dirty="0"/>
          </a:p>
        </p:txBody>
      </p:sp>
      <p:sp>
        <p:nvSpPr>
          <p:cNvPr id="122" name="Shape 120"/>
          <p:cNvSpPr/>
          <p:nvPr/>
        </p:nvSpPr>
        <p:spPr>
          <a:xfrm>
            <a:off x="15609987" y="3821757"/>
            <a:ext cx="2220664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5733812" y="4022824"/>
            <a:ext cx="217031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Integrar NoMe e liquidação</a:t>
            </a:r>
            <a:endParaRPr lang="en-US" sz="1163" dirty="0"/>
          </a:p>
        </p:txBody>
      </p:sp>
      <p:sp>
        <p:nvSpPr>
          <p:cNvPr id="124" name="Text 122"/>
          <p:cNvSpPr/>
          <p:nvPr/>
        </p:nvSpPr>
        <p:spPr>
          <a:xfrm>
            <a:off x="15733812" y="4240262"/>
            <a:ext cx="217031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Preservar boleto</a:t>
            </a:r>
            <a:endParaRPr lang="en-US" sz="1163" dirty="0"/>
          </a:p>
        </p:txBody>
      </p:sp>
      <p:sp>
        <p:nvSpPr>
          <p:cNvPr id="125" name="Shape 123"/>
          <p:cNvSpPr/>
          <p:nvPr/>
        </p:nvSpPr>
        <p:spPr>
          <a:xfrm>
            <a:off x="457200" y="4687491"/>
            <a:ext cx="1954262" cy="800844"/>
          </a:xfrm>
          <a:prstGeom prst="roundRect">
            <a:avLst>
              <a:gd name="adj" fmla="val 7136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81025" y="4886771"/>
            <a:ext cx="1782812" cy="440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158"/>
              </a:lnSpc>
              <a:buNone/>
            </a:pPr>
            <a:r>
              <a:rPr lang="en-US" sz="1238" b="1" dirty="0">
                <a:solidFill>
                  <a:srgbClr val="0B1D5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 – Histórico</a:t>
            </a:r>
            <a:endParaRPr lang="en-US" sz="1238" dirty="0"/>
          </a:p>
        </p:txBody>
      </p:sp>
      <p:sp>
        <p:nvSpPr>
          <p:cNvPr id="127" name="Shape 125"/>
          <p:cNvSpPr/>
          <p:nvPr/>
        </p:nvSpPr>
        <p:spPr>
          <a:xfrm>
            <a:off x="2506712" y="4687491"/>
            <a:ext cx="1776561" cy="800844"/>
          </a:xfrm>
          <a:prstGeom prst="roundRect">
            <a:avLst>
              <a:gd name="adj" fmla="val 7136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630537" y="4993481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Salesforce</a:t>
            </a:r>
            <a:endParaRPr lang="en-US" sz="1163" dirty="0"/>
          </a:p>
        </p:txBody>
      </p:sp>
      <p:sp>
        <p:nvSpPr>
          <p:cNvPr id="129" name="Shape 127"/>
          <p:cNvSpPr/>
          <p:nvPr/>
        </p:nvSpPr>
        <p:spPr>
          <a:xfrm>
            <a:off x="4378523" y="4687491"/>
            <a:ext cx="1776710" cy="800844"/>
          </a:xfrm>
          <a:prstGeom prst="roundRect">
            <a:avLst>
              <a:gd name="adj" fmla="val 7136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502348" y="4993481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1163" dirty="0"/>
          </a:p>
        </p:txBody>
      </p:sp>
      <p:sp>
        <p:nvSpPr>
          <p:cNvPr id="131" name="Shape 129"/>
          <p:cNvSpPr/>
          <p:nvPr/>
        </p:nvSpPr>
        <p:spPr>
          <a:xfrm>
            <a:off x="6250484" y="4687491"/>
            <a:ext cx="1776561" cy="800844"/>
          </a:xfrm>
          <a:prstGeom prst="roundRect">
            <a:avLst>
              <a:gd name="adj" fmla="val 7136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374309" y="4884688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Relatório CRM</a:t>
            </a:r>
            <a:endParaRPr lang="en-US" sz="1163" dirty="0"/>
          </a:p>
        </p:txBody>
      </p:sp>
      <p:sp>
        <p:nvSpPr>
          <p:cNvPr id="133" name="Text 131"/>
          <p:cNvSpPr/>
          <p:nvPr/>
        </p:nvSpPr>
        <p:spPr>
          <a:xfrm>
            <a:off x="6374309" y="5102126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Flavia</a:t>
            </a:r>
            <a:endParaRPr lang="en-US" sz="1163" dirty="0"/>
          </a:p>
        </p:txBody>
      </p:sp>
      <p:sp>
        <p:nvSpPr>
          <p:cNvPr id="134" name="Shape 132"/>
          <p:cNvSpPr/>
          <p:nvPr/>
        </p:nvSpPr>
        <p:spPr>
          <a:xfrm>
            <a:off x="8122295" y="4687491"/>
            <a:ext cx="1776710" cy="800844"/>
          </a:xfrm>
          <a:prstGeom prst="roundRect">
            <a:avLst>
              <a:gd name="adj" fmla="val 7136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246120" y="4941094"/>
            <a:ext cx="76200" cy="76200"/>
          </a:xfrm>
          <a:prstGeom prst="ellipse">
            <a:avLst/>
          </a:prstGeom>
          <a:solidFill>
            <a:srgbClr val="C98A2B"/>
          </a:solidFill>
          <a:ln/>
        </p:spPr>
      </p:sp>
      <p:sp>
        <p:nvSpPr>
          <p:cNvPr id="136" name="Text 134"/>
          <p:cNvSpPr/>
          <p:nvPr/>
        </p:nvSpPr>
        <p:spPr>
          <a:xfrm>
            <a:off x="8379470" y="4912519"/>
            <a:ext cx="6264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B077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MANUAL</a:t>
            </a:r>
            <a:endParaRPr lang="en-US" sz="938" dirty="0"/>
          </a:p>
        </p:txBody>
      </p:sp>
      <p:sp>
        <p:nvSpPr>
          <p:cNvPr id="137" name="Text 135"/>
          <p:cNvSpPr/>
          <p:nvPr/>
        </p:nvSpPr>
        <p:spPr>
          <a:xfrm>
            <a:off x="8246120" y="5083969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SAP</a:t>
            </a:r>
            <a:endParaRPr lang="en-US" sz="1163" dirty="0"/>
          </a:p>
        </p:txBody>
      </p:sp>
      <p:sp>
        <p:nvSpPr>
          <p:cNvPr id="138" name="Shape 136"/>
          <p:cNvSpPr/>
          <p:nvPr/>
        </p:nvSpPr>
        <p:spPr>
          <a:xfrm>
            <a:off x="9994255" y="4687491"/>
            <a:ext cx="1776561" cy="800844"/>
          </a:xfrm>
          <a:prstGeom prst="roundRect">
            <a:avLst>
              <a:gd name="adj" fmla="val 7136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10118080" y="4832300"/>
            <a:ext cx="76200" cy="76200"/>
          </a:xfrm>
          <a:prstGeom prst="ellipse">
            <a:avLst/>
          </a:prstGeom>
          <a:solidFill>
            <a:srgbClr val="C98A2B"/>
          </a:solidFill>
          <a:ln/>
        </p:spPr>
      </p:sp>
      <p:sp>
        <p:nvSpPr>
          <p:cNvPr id="140" name="Text 138"/>
          <p:cNvSpPr/>
          <p:nvPr/>
        </p:nvSpPr>
        <p:spPr>
          <a:xfrm>
            <a:off x="10251430" y="4803725"/>
            <a:ext cx="6264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B077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MANUAL</a:t>
            </a:r>
            <a:endParaRPr lang="en-US" sz="938" dirty="0"/>
          </a:p>
        </p:txBody>
      </p:sp>
      <p:sp>
        <p:nvSpPr>
          <p:cNvPr id="141" name="Text 139"/>
          <p:cNvSpPr/>
          <p:nvPr/>
        </p:nvSpPr>
        <p:spPr>
          <a:xfrm>
            <a:off x="10118080" y="4975175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SAP</a:t>
            </a:r>
            <a:endParaRPr lang="en-US" sz="1163" dirty="0"/>
          </a:p>
        </p:txBody>
      </p:sp>
      <p:sp>
        <p:nvSpPr>
          <p:cNvPr id="142" name="Text 140"/>
          <p:cNvSpPr/>
          <p:nvPr/>
        </p:nvSpPr>
        <p:spPr>
          <a:xfrm>
            <a:off x="10118080" y="5192613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Time da Anna</a:t>
            </a:r>
            <a:endParaRPr lang="en-US" sz="1163" dirty="0"/>
          </a:p>
        </p:txBody>
      </p:sp>
      <p:sp>
        <p:nvSpPr>
          <p:cNvPr id="143" name="Shape 141"/>
          <p:cNvSpPr/>
          <p:nvPr/>
        </p:nvSpPr>
        <p:spPr>
          <a:xfrm>
            <a:off x="11866066" y="4687491"/>
            <a:ext cx="1776710" cy="800844"/>
          </a:xfrm>
          <a:prstGeom prst="roundRect">
            <a:avLst>
              <a:gd name="adj" fmla="val 7136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11989891" y="4993481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1163" dirty="0"/>
          </a:p>
        </p:txBody>
      </p:sp>
      <p:sp>
        <p:nvSpPr>
          <p:cNvPr id="145" name="Shape 143"/>
          <p:cNvSpPr/>
          <p:nvPr/>
        </p:nvSpPr>
        <p:spPr>
          <a:xfrm>
            <a:off x="13738027" y="4687491"/>
            <a:ext cx="1776710" cy="800844"/>
          </a:xfrm>
          <a:prstGeom prst="roundRect">
            <a:avLst>
              <a:gd name="adj" fmla="val 7136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3861852" y="4898975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Fluxo financeiro a validar</a:t>
            </a:r>
            <a:endParaRPr lang="en-US" sz="1163" dirty="0"/>
          </a:p>
        </p:txBody>
      </p:sp>
      <p:sp>
        <p:nvSpPr>
          <p:cNvPr id="147" name="Shape 145"/>
          <p:cNvSpPr/>
          <p:nvPr/>
        </p:nvSpPr>
        <p:spPr>
          <a:xfrm>
            <a:off x="15609987" y="4687491"/>
            <a:ext cx="2220664" cy="800844"/>
          </a:xfrm>
          <a:prstGeom prst="roundRect">
            <a:avLst>
              <a:gd name="adj" fmla="val 7136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15733812" y="4898975"/>
            <a:ext cx="2049214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Confirmar envio e faturamento</a:t>
            </a:r>
            <a:endParaRPr lang="en-US" sz="1163" dirty="0"/>
          </a:p>
        </p:txBody>
      </p:sp>
      <p:sp>
        <p:nvSpPr>
          <p:cNvPr id="149" name="Shape 147"/>
          <p:cNvSpPr/>
          <p:nvPr/>
        </p:nvSpPr>
        <p:spPr>
          <a:xfrm>
            <a:off x="457200" y="5545485"/>
            <a:ext cx="1954262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81025" y="5754737"/>
            <a:ext cx="1877273" cy="2391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158"/>
              </a:lnSpc>
              <a:buNone/>
            </a:pPr>
            <a:r>
              <a:rPr lang="en-US" sz="1238" b="1" dirty="0">
                <a:solidFill>
                  <a:srgbClr val="0B1D5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Monitora PIP</a:t>
            </a:r>
            <a:endParaRPr lang="en-US" sz="1238" dirty="0"/>
          </a:p>
        </p:txBody>
      </p:sp>
      <p:sp>
        <p:nvSpPr>
          <p:cNvPr id="151" name="Shape 149"/>
          <p:cNvSpPr/>
          <p:nvPr/>
        </p:nvSpPr>
        <p:spPr>
          <a:xfrm>
            <a:off x="2506712" y="5545485"/>
            <a:ext cx="1776561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630537" y="5760839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Salesforce</a:t>
            </a:r>
            <a:endParaRPr lang="en-US" sz="1163" dirty="0"/>
          </a:p>
        </p:txBody>
      </p:sp>
      <p:sp>
        <p:nvSpPr>
          <p:cNvPr id="153" name="Shape 151"/>
          <p:cNvSpPr/>
          <p:nvPr/>
        </p:nvSpPr>
        <p:spPr>
          <a:xfrm>
            <a:off x="4378523" y="5545485"/>
            <a:ext cx="1776710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502348" y="5760839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Cadu</a:t>
            </a:r>
            <a:endParaRPr lang="en-US" sz="1163" dirty="0"/>
          </a:p>
        </p:txBody>
      </p:sp>
      <p:sp>
        <p:nvSpPr>
          <p:cNvPr id="155" name="Shape 153"/>
          <p:cNvSpPr/>
          <p:nvPr/>
        </p:nvSpPr>
        <p:spPr>
          <a:xfrm>
            <a:off x="6250484" y="5545485"/>
            <a:ext cx="1776561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374309" y="5652195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INFODEFENSE</a:t>
            </a:r>
            <a:endParaRPr lang="en-US" sz="1163" dirty="0"/>
          </a:p>
        </p:txBody>
      </p:sp>
      <p:sp>
        <p:nvSpPr>
          <p:cNvPr id="157" name="Text 155"/>
          <p:cNvSpPr/>
          <p:nvPr/>
        </p:nvSpPr>
        <p:spPr>
          <a:xfrm>
            <a:off x="6374309" y="5869632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Consumo diário</a:t>
            </a:r>
            <a:endParaRPr lang="en-US" sz="1163" dirty="0"/>
          </a:p>
        </p:txBody>
      </p:sp>
      <p:sp>
        <p:nvSpPr>
          <p:cNvPr id="158" name="Shape 156"/>
          <p:cNvSpPr/>
          <p:nvPr/>
        </p:nvSpPr>
        <p:spPr>
          <a:xfrm>
            <a:off x="8122295" y="5545485"/>
            <a:ext cx="1776710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246120" y="5708452"/>
            <a:ext cx="76200" cy="76200"/>
          </a:xfrm>
          <a:prstGeom prst="ellipse">
            <a:avLst/>
          </a:prstGeom>
          <a:solidFill>
            <a:srgbClr val="2E8B6E"/>
          </a:solidFill>
          <a:ln/>
        </p:spPr>
      </p:sp>
      <p:sp>
        <p:nvSpPr>
          <p:cNvPr id="160" name="Text 158"/>
          <p:cNvSpPr/>
          <p:nvPr/>
        </p:nvSpPr>
        <p:spPr>
          <a:xfrm>
            <a:off x="8379470" y="5679877"/>
            <a:ext cx="9382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2E8B6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AUTOMÁTICO</a:t>
            </a:r>
            <a:endParaRPr lang="en-US" sz="938" dirty="0"/>
          </a:p>
        </p:txBody>
      </p:sp>
      <p:sp>
        <p:nvSpPr>
          <p:cNvPr id="161" name="Text 159"/>
          <p:cNvSpPr/>
          <p:nvPr/>
        </p:nvSpPr>
        <p:spPr>
          <a:xfrm>
            <a:off x="8246120" y="5851327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Metra UIF</a:t>
            </a:r>
            <a:endParaRPr lang="en-US" sz="1163" dirty="0"/>
          </a:p>
        </p:txBody>
      </p:sp>
      <p:sp>
        <p:nvSpPr>
          <p:cNvPr id="162" name="Shape 160"/>
          <p:cNvSpPr/>
          <p:nvPr/>
        </p:nvSpPr>
        <p:spPr>
          <a:xfrm>
            <a:off x="9994255" y="5545485"/>
            <a:ext cx="1776561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0118080" y="5708452"/>
            <a:ext cx="76200" cy="76200"/>
          </a:xfrm>
          <a:prstGeom prst="ellipse">
            <a:avLst/>
          </a:prstGeom>
          <a:solidFill>
            <a:srgbClr val="2E8B6E"/>
          </a:solidFill>
          <a:ln/>
        </p:spPr>
      </p:sp>
      <p:sp>
        <p:nvSpPr>
          <p:cNvPr id="164" name="Text 162"/>
          <p:cNvSpPr/>
          <p:nvPr/>
        </p:nvSpPr>
        <p:spPr>
          <a:xfrm>
            <a:off x="10251430" y="5679877"/>
            <a:ext cx="9382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2E8B6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AUTOMÁTICO</a:t>
            </a:r>
            <a:endParaRPr lang="en-US" sz="938" dirty="0"/>
          </a:p>
        </p:txBody>
      </p:sp>
      <p:sp>
        <p:nvSpPr>
          <p:cNvPr id="165" name="Text 163"/>
          <p:cNvSpPr/>
          <p:nvPr/>
        </p:nvSpPr>
        <p:spPr>
          <a:xfrm>
            <a:off x="10118080" y="5851327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Metra / SAP</a:t>
            </a:r>
            <a:endParaRPr lang="en-US" sz="1163" dirty="0"/>
          </a:p>
        </p:txBody>
      </p:sp>
      <p:sp>
        <p:nvSpPr>
          <p:cNvPr id="166" name="Shape 164"/>
          <p:cNvSpPr/>
          <p:nvPr/>
        </p:nvSpPr>
        <p:spPr>
          <a:xfrm>
            <a:off x="11866066" y="5545485"/>
            <a:ext cx="1776710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989891" y="5760839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1163" dirty="0"/>
          </a:p>
        </p:txBody>
      </p:sp>
      <p:sp>
        <p:nvSpPr>
          <p:cNvPr id="168" name="Shape 166"/>
          <p:cNvSpPr/>
          <p:nvPr/>
        </p:nvSpPr>
        <p:spPr>
          <a:xfrm>
            <a:off x="13738027" y="5545485"/>
            <a:ext cx="1776710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3861852" y="5666482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Fluxo financeiro a validar</a:t>
            </a:r>
            <a:endParaRPr lang="en-US" sz="1163" dirty="0"/>
          </a:p>
        </p:txBody>
      </p:sp>
      <p:sp>
        <p:nvSpPr>
          <p:cNvPr id="170" name="Shape 168"/>
          <p:cNvSpPr/>
          <p:nvPr/>
        </p:nvSpPr>
        <p:spPr>
          <a:xfrm>
            <a:off x="15609987" y="5545485"/>
            <a:ext cx="2220664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5733812" y="5666482"/>
            <a:ext cx="2049214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Consumo íntegro na migração</a:t>
            </a:r>
            <a:endParaRPr lang="en-US" sz="1163" dirty="0"/>
          </a:p>
        </p:txBody>
      </p:sp>
      <p:sp>
        <p:nvSpPr>
          <p:cNvPr id="172" name="Shape 170"/>
          <p:cNvSpPr/>
          <p:nvPr/>
        </p:nvSpPr>
        <p:spPr>
          <a:xfrm>
            <a:off x="457200" y="6222355"/>
            <a:ext cx="1954262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581025" y="6431607"/>
            <a:ext cx="1877273" cy="2391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158"/>
              </a:lnSpc>
              <a:buNone/>
            </a:pPr>
            <a:r>
              <a:rPr lang="en-US" sz="1238" b="1" dirty="0">
                <a:solidFill>
                  <a:srgbClr val="0B1D5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Monitora PIP – Seeker</a:t>
            </a:r>
            <a:endParaRPr lang="en-US" sz="1238" dirty="0"/>
          </a:p>
        </p:txBody>
      </p:sp>
      <p:sp>
        <p:nvSpPr>
          <p:cNvPr id="174" name="Shape 172"/>
          <p:cNvSpPr/>
          <p:nvPr/>
        </p:nvSpPr>
        <p:spPr>
          <a:xfrm>
            <a:off x="2506712" y="6222355"/>
            <a:ext cx="1776561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630537" y="6437709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Salesforce</a:t>
            </a:r>
            <a:endParaRPr lang="en-US" sz="1163" dirty="0"/>
          </a:p>
        </p:txBody>
      </p:sp>
      <p:sp>
        <p:nvSpPr>
          <p:cNvPr id="176" name="Shape 174"/>
          <p:cNvSpPr/>
          <p:nvPr/>
        </p:nvSpPr>
        <p:spPr>
          <a:xfrm>
            <a:off x="4378523" y="6222355"/>
            <a:ext cx="1776710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4502348" y="6329065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Seeker / Cadu</a:t>
            </a:r>
            <a:endParaRPr lang="en-US" sz="1163" dirty="0"/>
          </a:p>
        </p:txBody>
      </p:sp>
      <p:sp>
        <p:nvSpPr>
          <p:cNvPr id="178" name="Text 176"/>
          <p:cNvSpPr/>
          <p:nvPr/>
        </p:nvSpPr>
        <p:spPr>
          <a:xfrm>
            <a:off x="4502348" y="6546503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Validar liberação</a:t>
            </a:r>
            <a:endParaRPr lang="en-US" sz="1163" dirty="0"/>
          </a:p>
        </p:txBody>
      </p:sp>
      <p:sp>
        <p:nvSpPr>
          <p:cNvPr id="179" name="Shape 177"/>
          <p:cNvSpPr/>
          <p:nvPr/>
        </p:nvSpPr>
        <p:spPr>
          <a:xfrm>
            <a:off x="6250484" y="6222355"/>
            <a:ext cx="1776561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6374309" y="6329065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Arquivo manual</a:t>
            </a:r>
            <a:endParaRPr lang="en-US" sz="1163" dirty="0"/>
          </a:p>
        </p:txBody>
      </p:sp>
      <p:sp>
        <p:nvSpPr>
          <p:cNvPr id="181" name="Text 179"/>
          <p:cNvSpPr/>
          <p:nvPr/>
        </p:nvSpPr>
        <p:spPr>
          <a:xfrm>
            <a:off x="6374309" y="6546503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Stephan</a:t>
            </a:r>
            <a:endParaRPr lang="en-US" sz="1163" dirty="0"/>
          </a:p>
        </p:txBody>
      </p:sp>
      <p:sp>
        <p:nvSpPr>
          <p:cNvPr id="182" name="Shape 180"/>
          <p:cNvSpPr/>
          <p:nvPr/>
        </p:nvSpPr>
        <p:spPr>
          <a:xfrm>
            <a:off x="8122295" y="6222355"/>
            <a:ext cx="1776710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246120" y="6385322"/>
            <a:ext cx="76200" cy="76200"/>
          </a:xfrm>
          <a:prstGeom prst="ellipse">
            <a:avLst/>
          </a:prstGeom>
          <a:solidFill>
            <a:srgbClr val="2E8B6E"/>
          </a:solidFill>
          <a:ln/>
        </p:spPr>
      </p:sp>
      <p:sp>
        <p:nvSpPr>
          <p:cNvPr id="184" name="Text 182"/>
          <p:cNvSpPr/>
          <p:nvPr/>
        </p:nvSpPr>
        <p:spPr>
          <a:xfrm>
            <a:off x="8379470" y="6356747"/>
            <a:ext cx="9382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2E8B6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AUTOMÁTICO</a:t>
            </a:r>
            <a:endParaRPr lang="en-US" sz="938" dirty="0"/>
          </a:p>
        </p:txBody>
      </p:sp>
      <p:sp>
        <p:nvSpPr>
          <p:cNvPr id="185" name="Text 183"/>
          <p:cNvSpPr/>
          <p:nvPr/>
        </p:nvSpPr>
        <p:spPr>
          <a:xfrm>
            <a:off x="8246120" y="6528197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Metra UIF</a:t>
            </a:r>
            <a:endParaRPr lang="en-US" sz="1163" dirty="0"/>
          </a:p>
        </p:txBody>
      </p:sp>
      <p:sp>
        <p:nvSpPr>
          <p:cNvPr id="186" name="Shape 184"/>
          <p:cNvSpPr/>
          <p:nvPr/>
        </p:nvSpPr>
        <p:spPr>
          <a:xfrm>
            <a:off x="9994255" y="6222355"/>
            <a:ext cx="1776561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10118080" y="6385322"/>
            <a:ext cx="76200" cy="76200"/>
          </a:xfrm>
          <a:prstGeom prst="ellipse">
            <a:avLst/>
          </a:prstGeom>
          <a:solidFill>
            <a:srgbClr val="2E8B6E"/>
          </a:solidFill>
          <a:ln/>
        </p:spPr>
      </p:sp>
      <p:sp>
        <p:nvSpPr>
          <p:cNvPr id="188" name="Text 186"/>
          <p:cNvSpPr/>
          <p:nvPr/>
        </p:nvSpPr>
        <p:spPr>
          <a:xfrm>
            <a:off x="10251430" y="6356747"/>
            <a:ext cx="9382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2E8B6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AUTOMÁTICO</a:t>
            </a:r>
            <a:endParaRPr lang="en-US" sz="938" dirty="0"/>
          </a:p>
        </p:txBody>
      </p:sp>
      <p:sp>
        <p:nvSpPr>
          <p:cNvPr id="189" name="Text 187"/>
          <p:cNvSpPr/>
          <p:nvPr/>
        </p:nvSpPr>
        <p:spPr>
          <a:xfrm>
            <a:off x="10118080" y="6528197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Após receber arquivo</a:t>
            </a:r>
            <a:endParaRPr lang="en-US" sz="1163" dirty="0"/>
          </a:p>
        </p:txBody>
      </p:sp>
      <p:sp>
        <p:nvSpPr>
          <p:cNvPr id="190" name="Shape 188"/>
          <p:cNvSpPr/>
          <p:nvPr/>
        </p:nvSpPr>
        <p:spPr>
          <a:xfrm>
            <a:off x="11866066" y="6222355"/>
            <a:ext cx="1776710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11989891" y="6437709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1163" dirty="0"/>
          </a:p>
        </p:txBody>
      </p:sp>
      <p:sp>
        <p:nvSpPr>
          <p:cNvPr id="192" name="Shape 190"/>
          <p:cNvSpPr/>
          <p:nvPr/>
        </p:nvSpPr>
        <p:spPr>
          <a:xfrm>
            <a:off x="13738027" y="6222355"/>
            <a:ext cx="1776710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13861852" y="6343352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Fluxo financeiro a validar</a:t>
            </a:r>
            <a:endParaRPr lang="en-US" sz="1163" dirty="0"/>
          </a:p>
        </p:txBody>
      </p:sp>
      <p:sp>
        <p:nvSpPr>
          <p:cNvPr id="194" name="Shape 192"/>
          <p:cNvSpPr/>
          <p:nvPr/>
        </p:nvSpPr>
        <p:spPr>
          <a:xfrm>
            <a:off x="15609987" y="6222355"/>
            <a:ext cx="2220664" cy="619720"/>
          </a:xfrm>
          <a:prstGeom prst="roundRect">
            <a:avLst>
              <a:gd name="adj" fmla="val 9222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15733812" y="6329065"/>
            <a:ext cx="217031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Automatizar TXT</a:t>
            </a:r>
            <a:endParaRPr lang="en-US" sz="1163" dirty="0"/>
          </a:p>
        </p:txBody>
      </p:sp>
      <p:sp>
        <p:nvSpPr>
          <p:cNvPr id="196" name="Text 194"/>
          <p:cNvSpPr/>
          <p:nvPr/>
        </p:nvSpPr>
        <p:spPr>
          <a:xfrm>
            <a:off x="15733812" y="6546503"/>
            <a:ext cx="217031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Somar consumos</a:t>
            </a:r>
            <a:endParaRPr lang="en-US" sz="1163" dirty="0"/>
          </a:p>
        </p:txBody>
      </p:sp>
      <p:sp>
        <p:nvSpPr>
          <p:cNvPr id="197" name="Shape 195"/>
          <p:cNvSpPr/>
          <p:nvPr/>
        </p:nvSpPr>
        <p:spPr>
          <a:xfrm>
            <a:off x="457200" y="6899225"/>
            <a:ext cx="1954262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581025" y="7202984"/>
            <a:ext cx="1877273" cy="2391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158"/>
              </a:lnSpc>
              <a:buNone/>
            </a:pPr>
            <a:r>
              <a:rPr lang="en-US" sz="1238" b="1" dirty="0">
                <a:solidFill>
                  <a:srgbClr val="0B1D5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Smart Target</a:t>
            </a:r>
            <a:endParaRPr lang="en-US" sz="1238" dirty="0"/>
          </a:p>
        </p:txBody>
      </p:sp>
      <p:sp>
        <p:nvSpPr>
          <p:cNvPr id="199" name="Shape 197"/>
          <p:cNvSpPr/>
          <p:nvPr/>
        </p:nvSpPr>
        <p:spPr>
          <a:xfrm>
            <a:off x="2506712" y="6899225"/>
            <a:ext cx="1776561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2630537" y="7209086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Salesforce</a:t>
            </a:r>
            <a:endParaRPr lang="en-US" sz="1163" dirty="0"/>
          </a:p>
        </p:txBody>
      </p:sp>
      <p:sp>
        <p:nvSpPr>
          <p:cNvPr id="201" name="Shape 199"/>
          <p:cNvSpPr/>
          <p:nvPr/>
        </p:nvSpPr>
        <p:spPr>
          <a:xfrm>
            <a:off x="4378523" y="6899225"/>
            <a:ext cx="1776710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4502348" y="7209086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1163" dirty="0"/>
          </a:p>
        </p:txBody>
      </p:sp>
      <p:sp>
        <p:nvSpPr>
          <p:cNvPr id="203" name="Shape 201"/>
          <p:cNvSpPr/>
          <p:nvPr/>
        </p:nvSpPr>
        <p:spPr>
          <a:xfrm>
            <a:off x="6250484" y="6899225"/>
            <a:ext cx="1776561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374309" y="7100292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Bradesco: Metra</a:t>
            </a:r>
            <a:endParaRPr lang="en-US" sz="1163" dirty="0"/>
          </a:p>
        </p:txBody>
      </p:sp>
      <p:sp>
        <p:nvSpPr>
          <p:cNvPr id="205" name="Text 203"/>
          <p:cNvSpPr/>
          <p:nvPr/>
        </p:nvSpPr>
        <p:spPr>
          <a:xfrm>
            <a:off x="6374309" y="7317730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Demais: Flavia</a:t>
            </a:r>
            <a:endParaRPr lang="en-US" sz="1163" dirty="0"/>
          </a:p>
        </p:txBody>
      </p:sp>
      <p:sp>
        <p:nvSpPr>
          <p:cNvPr id="206" name="Shape 204"/>
          <p:cNvSpPr/>
          <p:nvPr/>
        </p:nvSpPr>
        <p:spPr>
          <a:xfrm>
            <a:off x="8122295" y="6899225"/>
            <a:ext cx="1776710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8246120" y="7005935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Bradesco: Metra</a:t>
            </a:r>
            <a:endParaRPr lang="en-US" sz="1163" dirty="0"/>
          </a:p>
        </p:txBody>
      </p:sp>
      <p:sp>
        <p:nvSpPr>
          <p:cNvPr id="208" name="Text 206"/>
          <p:cNvSpPr/>
          <p:nvPr/>
        </p:nvSpPr>
        <p:spPr>
          <a:xfrm>
            <a:off x="8246120" y="7223373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Demais: SAP · cadastro manual</a:t>
            </a:r>
            <a:endParaRPr lang="en-US" sz="1163" dirty="0"/>
          </a:p>
        </p:txBody>
      </p:sp>
      <p:sp>
        <p:nvSpPr>
          <p:cNvPr id="209" name="Shape 207"/>
          <p:cNvSpPr/>
          <p:nvPr/>
        </p:nvSpPr>
        <p:spPr>
          <a:xfrm>
            <a:off x="9994255" y="6899225"/>
            <a:ext cx="1776561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10118080" y="7100292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Bradesco: Balcão</a:t>
            </a:r>
            <a:endParaRPr lang="en-US" sz="1163" dirty="0"/>
          </a:p>
        </p:txBody>
      </p:sp>
      <p:sp>
        <p:nvSpPr>
          <p:cNvPr id="211" name="Text 209"/>
          <p:cNvSpPr/>
          <p:nvPr/>
        </p:nvSpPr>
        <p:spPr>
          <a:xfrm>
            <a:off x="10118080" y="7317730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Demais: Anna</a:t>
            </a:r>
            <a:endParaRPr lang="en-US" sz="1163" dirty="0"/>
          </a:p>
        </p:txBody>
      </p:sp>
      <p:sp>
        <p:nvSpPr>
          <p:cNvPr id="212" name="Shape 210"/>
          <p:cNvSpPr/>
          <p:nvPr/>
        </p:nvSpPr>
        <p:spPr>
          <a:xfrm>
            <a:off x="11866066" y="6899225"/>
            <a:ext cx="1776710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1989891" y="7209086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1163" dirty="0"/>
          </a:p>
        </p:txBody>
      </p:sp>
      <p:sp>
        <p:nvSpPr>
          <p:cNvPr id="214" name="Shape 212"/>
          <p:cNvSpPr/>
          <p:nvPr/>
        </p:nvSpPr>
        <p:spPr>
          <a:xfrm>
            <a:off x="13738027" y="6899225"/>
            <a:ext cx="1776710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3861852" y="7114580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Bradesco: baixa manual no Metra</a:t>
            </a:r>
            <a:endParaRPr lang="en-US" sz="1163" dirty="0"/>
          </a:p>
        </p:txBody>
      </p:sp>
      <p:sp>
        <p:nvSpPr>
          <p:cNvPr id="216" name="Shape 214"/>
          <p:cNvSpPr/>
          <p:nvPr/>
        </p:nvSpPr>
        <p:spPr>
          <a:xfrm>
            <a:off x="15609987" y="6899225"/>
            <a:ext cx="2220664" cy="808583"/>
          </a:xfrm>
          <a:prstGeom prst="roundRect">
            <a:avLst>
              <a:gd name="adj" fmla="val 706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15733812" y="7100292"/>
            <a:ext cx="217031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Dois fluxos</a:t>
            </a:r>
            <a:endParaRPr lang="en-US" sz="1163" dirty="0"/>
          </a:p>
        </p:txBody>
      </p:sp>
      <p:sp>
        <p:nvSpPr>
          <p:cNvPr id="218" name="Text 216"/>
          <p:cNvSpPr/>
          <p:nvPr/>
        </p:nvSpPr>
        <p:spPr>
          <a:xfrm>
            <a:off x="15733812" y="7317730"/>
            <a:ext cx="217031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Risco de duplicar</a:t>
            </a:r>
            <a:endParaRPr lang="en-US" sz="1163" dirty="0"/>
          </a:p>
        </p:txBody>
      </p:sp>
      <p:sp>
        <p:nvSpPr>
          <p:cNvPr id="219" name="Shape 217"/>
          <p:cNvSpPr/>
          <p:nvPr/>
        </p:nvSpPr>
        <p:spPr>
          <a:xfrm>
            <a:off x="457200" y="7764959"/>
            <a:ext cx="1954262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581025" y="8064698"/>
            <a:ext cx="1877273" cy="2391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158"/>
              </a:lnSpc>
              <a:buNone/>
            </a:pPr>
            <a:r>
              <a:rPr lang="en-US" sz="1238" b="1" dirty="0">
                <a:solidFill>
                  <a:srgbClr val="0B1D5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Surveillance</a:t>
            </a:r>
            <a:endParaRPr lang="en-US" sz="1238" dirty="0"/>
          </a:p>
        </p:txBody>
      </p:sp>
      <p:sp>
        <p:nvSpPr>
          <p:cNvPr id="221" name="Shape 219"/>
          <p:cNvSpPr/>
          <p:nvPr/>
        </p:nvSpPr>
        <p:spPr>
          <a:xfrm>
            <a:off x="2506712" y="7764959"/>
            <a:ext cx="1776561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2630537" y="8070800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Salesforce</a:t>
            </a:r>
            <a:endParaRPr lang="en-US" sz="1163" dirty="0"/>
          </a:p>
        </p:txBody>
      </p:sp>
      <p:sp>
        <p:nvSpPr>
          <p:cNvPr id="223" name="Shape 221"/>
          <p:cNvSpPr/>
          <p:nvPr/>
        </p:nvSpPr>
        <p:spPr>
          <a:xfrm>
            <a:off x="4378523" y="7764959"/>
            <a:ext cx="1776710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4502348" y="8070800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1163" dirty="0"/>
          </a:p>
        </p:txBody>
      </p:sp>
      <p:sp>
        <p:nvSpPr>
          <p:cNvPr id="225" name="Shape 223"/>
          <p:cNvSpPr/>
          <p:nvPr/>
        </p:nvSpPr>
        <p:spPr>
          <a:xfrm>
            <a:off x="6250484" y="7764959"/>
            <a:ext cx="1776561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6374309" y="7962156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Relatório CRM</a:t>
            </a:r>
            <a:endParaRPr lang="en-US" sz="1163" dirty="0"/>
          </a:p>
        </p:txBody>
      </p:sp>
      <p:sp>
        <p:nvSpPr>
          <p:cNvPr id="227" name="Text 225"/>
          <p:cNvSpPr/>
          <p:nvPr/>
        </p:nvSpPr>
        <p:spPr>
          <a:xfrm>
            <a:off x="6374309" y="8179594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Flavia</a:t>
            </a:r>
            <a:endParaRPr lang="en-US" sz="1163" dirty="0"/>
          </a:p>
        </p:txBody>
      </p:sp>
      <p:sp>
        <p:nvSpPr>
          <p:cNvPr id="228" name="Shape 226"/>
          <p:cNvSpPr/>
          <p:nvPr/>
        </p:nvSpPr>
        <p:spPr>
          <a:xfrm>
            <a:off x="8122295" y="7764959"/>
            <a:ext cx="1776710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8246120" y="8018413"/>
            <a:ext cx="76200" cy="76200"/>
          </a:xfrm>
          <a:prstGeom prst="ellipse">
            <a:avLst/>
          </a:prstGeom>
          <a:solidFill>
            <a:srgbClr val="C98A2B"/>
          </a:solidFill>
          <a:ln/>
        </p:spPr>
      </p:sp>
      <p:sp>
        <p:nvSpPr>
          <p:cNvPr id="230" name="Text 228"/>
          <p:cNvSpPr/>
          <p:nvPr/>
        </p:nvSpPr>
        <p:spPr>
          <a:xfrm>
            <a:off x="8379470" y="7989838"/>
            <a:ext cx="6264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B077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MANUAL</a:t>
            </a:r>
            <a:endParaRPr lang="en-US" sz="938" dirty="0"/>
          </a:p>
        </p:txBody>
      </p:sp>
      <p:sp>
        <p:nvSpPr>
          <p:cNvPr id="231" name="Text 229"/>
          <p:cNvSpPr/>
          <p:nvPr/>
        </p:nvSpPr>
        <p:spPr>
          <a:xfrm>
            <a:off x="8246120" y="8161288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SAP</a:t>
            </a:r>
            <a:endParaRPr lang="en-US" sz="1163" dirty="0"/>
          </a:p>
        </p:txBody>
      </p:sp>
      <p:sp>
        <p:nvSpPr>
          <p:cNvPr id="232" name="Shape 230"/>
          <p:cNvSpPr/>
          <p:nvPr/>
        </p:nvSpPr>
        <p:spPr>
          <a:xfrm>
            <a:off x="9994255" y="7764959"/>
            <a:ext cx="1776561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0118080" y="7909768"/>
            <a:ext cx="76200" cy="76200"/>
          </a:xfrm>
          <a:prstGeom prst="ellipse">
            <a:avLst/>
          </a:prstGeom>
          <a:solidFill>
            <a:srgbClr val="C98A2B"/>
          </a:solidFill>
          <a:ln/>
        </p:spPr>
      </p:sp>
      <p:sp>
        <p:nvSpPr>
          <p:cNvPr id="234" name="Text 232"/>
          <p:cNvSpPr/>
          <p:nvPr/>
        </p:nvSpPr>
        <p:spPr>
          <a:xfrm>
            <a:off x="10251430" y="7881193"/>
            <a:ext cx="6264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B077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MANUAL</a:t>
            </a:r>
            <a:endParaRPr lang="en-US" sz="938" dirty="0"/>
          </a:p>
        </p:txBody>
      </p:sp>
      <p:sp>
        <p:nvSpPr>
          <p:cNvPr id="235" name="Text 233"/>
          <p:cNvSpPr/>
          <p:nvPr/>
        </p:nvSpPr>
        <p:spPr>
          <a:xfrm>
            <a:off x="10118080" y="8052643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SAP</a:t>
            </a:r>
            <a:endParaRPr lang="en-US" sz="1163" dirty="0"/>
          </a:p>
        </p:txBody>
      </p:sp>
      <p:sp>
        <p:nvSpPr>
          <p:cNvPr id="236" name="Text 234"/>
          <p:cNvSpPr/>
          <p:nvPr/>
        </p:nvSpPr>
        <p:spPr>
          <a:xfrm>
            <a:off x="10118080" y="8270081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Time da Anna</a:t>
            </a:r>
            <a:endParaRPr lang="en-US" sz="1163" dirty="0"/>
          </a:p>
        </p:txBody>
      </p:sp>
      <p:sp>
        <p:nvSpPr>
          <p:cNvPr id="237" name="Shape 235"/>
          <p:cNvSpPr/>
          <p:nvPr/>
        </p:nvSpPr>
        <p:spPr>
          <a:xfrm>
            <a:off x="11866066" y="7764959"/>
            <a:ext cx="1776710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38" name="Text 236"/>
          <p:cNvSpPr/>
          <p:nvPr/>
        </p:nvSpPr>
        <p:spPr>
          <a:xfrm>
            <a:off x="11989891" y="8070800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1163" dirty="0"/>
          </a:p>
        </p:txBody>
      </p:sp>
      <p:sp>
        <p:nvSpPr>
          <p:cNvPr id="239" name="Shape 237"/>
          <p:cNvSpPr/>
          <p:nvPr/>
        </p:nvSpPr>
        <p:spPr>
          <a:xfrm>
            <a:off x="13738027" y="7764959"/>
            <a:ext cx="1776710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13861852" y="7976443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Fluxo financeiro a validar</a:t>
            </a:r>
            <a:endParaRPr lang="en-US" sz="1163" dirty="0"/>
          </a:p>
        </p:txBody>
      </p:sp>
      <p:sp>
        <p:nvSpPr>
          <p:cNvPr id="241" name="Shape 239"/>
          <p:cNvSpPr/>
          <p:nvPr/>
        </p:nvSpPr>
        <p:spPr>
          <a:xfrm>
            <a:off x="15609987" y="7764959"/>
            <a:ext cx="2220664" cy="800695"/>
          </a:xfrm>
          <a:prstGeom prst="roundRect">
            <a:avLst>
              <a:gd name="adj" fmla="val 7138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15733812" y="7976443"/>
            <a:ext cx="2049214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Confirmar envio e faturamento</a:t>
            </a:r>
            <a:endParaRPr lang="en-US" sz="1163" dirty="0"/>
          </a:p>
        </p:txBody>
      </p:sp>
      <p:sp>
        <p:nvSpPr>
          <p:cNvPr id="243" name="Shape 241"/>
          <p:cNvSpPr/>
          <p:nvPr/>
        </p:nvSpPr>
        <p:spPr>
          <a:xfrm>
            <a:off x="457200" y="8622804"/>
            <a:ext cx="1954262" cy="1026021"/>
          </a:xfrm>
          <a:prstGeom prst="roundRect">
            <a:avLst>
              <a:gd name="adj" fmla="val 5570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44" name="Text 242"/>
          <p:cNvSpPr/>
          <p:nvPr/>
        </p:nvSpPr>
        <p:spPr>
          <a:xfrm>
            <a:off x="581025" y="9035207"/>
            <a:ext cx="1877273" cy="2391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158"/>
              </a:lnSpc>
              <a:buNone/>
            </a:pPr>
            <a:r>
              <a:rPr lang="en-US" sz="1238" b="1" dirty="0">
                <a:solidFill>
                  <a:srgbClr val="0B1D5C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Indicadores*</a:t>
            </a:r>
            <a:endParaRPr lang="en-US" sz="1238" dirty="0"/>
          </a:p>
        </p:txBody>
      </p:sp>
      <p:sp>
        <p:nvSpPr>
          <p:cNvPr id="245" name="Shape 243"/>
          <p:cNvSpPr/>
          <p:nvPr/>
        </p:nvSpPr>
        <p:spPr>
          <a:xfrm>
            <a:off x="2506712" y="8622804"/>
            <a:ext cx="1776561" cy="1026021"/>
          </a:xfrm>
          <a:prstGeom prst="roundRect">
            <a:avLst>
              <a:gd name="adj" fmla="val 5570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2630537" y="9041309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Salesforce</a:t>
            </a:r>
            <a:endParaRPr lang="en-US" sz="1163" dirty="0"/>
          </a:p>
        </p:txBody>
      </p:sp>
      <p:sp>
        <p:nvSpPr>
          <p:cNvPr id="247" name="Shape 245"/>
          <p:cNvSpPr/>
          <p:nvPr/>
        </p:nvSpPr>
        <p:spPr>
          <a:xfrm>
            <a:off x="4378523" y="8622804"/>
            <a:ext cx="1776710" cy="1026021"/>
          </a:xfrm>
          <a:prstGeom prst="roundRect">
            <a:avLst>
              <a:gd name="adj" fmla="val 5570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4502348" y="9041309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i="1" dirty="0">
                <a:solidFill>
                  <a:srgbClr val="8A93A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validar</a:t>
            </a:r>
            <a:endParaRPr lang="en-US" sz="1163" dirty="0"/>
          </a:p>
        </p:txBody>
      </p:sp>
      <p:sp>
        <p:nvSpPr>
          <p:cNvPr id="249" name="Shape 247"/>
          <p:cNvSpPr/>
          <p:nvPr/>
        </p:nvSpPr>
        <p:spPr>
          <a:xfrm>
            <a:off x="6250484" y="8622804"/>
            <a:ext cx="1776561" cy="1026021"/>
          </a:xfrm>
          <a:prstGeom prst="roundRect">
            <a:avLst>
              <a:gd name="adj" fmla="val 5570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50" name="Text 248"/>
          <p:cNvSpPr/>
          <p:nvPr/>
        </p:nvSpPr>
        <p:spPr>
          <a:xfrm>
            <a:off x="6374309" y="8838158"/>
            <a:ext cx="1681802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Igor / Jenny</a:t>
            </a:r>
            <a:endParaRPr lang="en-US" sz="1163" dirty="0"/>
          </a:p>
        </p:txBody>
      </p:sp>
      <p:sp>
        <p:nvSpPr>
          <p:cNvPr id="251" name="Text 249"/>
          <p:cNvSpPr/>
          <p:nvPr/>
        </p:nvSpPr>
        <p:spPr>
          <a:xfrm>
            <a:off x="6374309" y="9055596"/>
            <a:ext cx="1605111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Cadastro manual no Metra</a:t>
            </a:r>
            <a:endParaRPr lang="en-US" sz="1163" dirty="0"/>
          </a:p>
        </p:txBody>
      </p:sp>
      <p:sp>
        <p:nvSpPr>
          <p:cNvPr id="252" name="Shape 250"/>
          <p:cNvSpPr/>
          <p:nvPr/>
        </p:nvSpPr>
        <p:spPr>
          <a:xfrm>
            <a:off x="8122295" y="8622804"/>
            <a:ext cx="1776710" cy="1026021"/>
          </a:xfrm>
          <a:prstGeom prst="roundRect">
            <a:avLst>
              <a:gd name="adj" fmla="val 5570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8246120" y="8785771"/>
            <a:ext cx="76200" cy="76200"/>
          </a:xfrm>
          <a:prstGeom prst="ellipse">
            <a:avLst/>
          </a:prstGeom>
          <a:solidFill>
            <a:srgbClr val="C98A2B"/>
          </a:solidFill>
          <a:ln/>
        </p:spPr>
      </p:sp>
      <p:sp>
        <p:nvSpPr>
          <p:cNvPr id="254" name="Text 252"/>
          <p:cNvSpPr/>
          <p:nvPr/>
        </p:nvSpPr>
        <p:spPr>
          <a:xfrm>
            <a:off x="8379470" y="8757196"/>
            <a:ext cx="6264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en-US" sz="938" b="1" spc="45" kern="0" dirty="0">
                <a:solidFill>
                  <a:srgbClr val="B077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MANUAL</a:t>
            </a:r>
            <a:endParaRPr lang="en-US" sz="938" dirty="0"/>
          </a:p>
        </p:txBody>
      </p:sp>
      <p:sp>
        <p:nvSpPr>
          <p:cNvPr id="255" name="Text 253"/>
          <p:cNvSpPr/>
          <p:nvPr/>
        </p:nvSpPr>
        <p:spPr>
          <a:xfrm>
            <a:off x="8246120" y="8928646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Metra (Balcão e UIF)</a:t>
            </a:r>
            <a:endParaRPr lang="en-US" sz="1163" dirty="0"/>
          </a:p>
        </p:txBody>
      </p:sp>
      <p:sp>
        <p:nvSpPr>
          <p:cNvPr id="256" name="Text 254"/>
          <p:cNvSpPr/>
          <p:nvPr/>
        </p:nvSpPr>
        <p:spPr>
          <a:xfrm>
            <a:off x="8246120" y="9146084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Exceção: Reports automático</a:t>
            </a:r>
            <a:endParaRPr lang="en-US" sz="1163" dirty="0"/>
          </a:p>
        </p:txBody>
      </p:sp>
      <p:sp>
        <p:nvSpPr>
          <p:cNvPr id="257" name="Shape 255"/>
          <p:cNvSpPr/>
          <p:nvPr/>
        </p:nvSpPr>
        <p:spPr>
          <a:xfrm>
            <a:off x="9994255" y="8622804"/>
            <a:ext cx="1776561" cy="1026021"/>
          </a:xfrm>
          <a:prstGeom prst="roundRect">
            <a:avLst>
              <a:gd name="adj" fmla="val 5570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58" name="Text 256"/>
          <p:cNvSpPr/>
          <p:nvPr/>
        </p:nvSpPr>
        <p:spPr>
          <a:xfrm>
            <a:off x="10118080" y="8743801"/>
            <a:ext cx="1605111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Igor / Jenny · recorrência Metra</a:t>
            </a:r>
            <a:endParaRPr lang="en-US" sz="1163" dirty="0"/>
          </a:p>
        </p:txBody>
      </p:sp>
      <p:sp>
        <p:nvSpPr>
          <p:cNvPr id="259" name="Text 257"/>
          <p:cNvSpPr/>
          <p:nvPr/>
        </p:nvSpPr>
        <p:spPr>
          <a:xfrm>
            <a:off x="10118080" y="9150102"/>
            <a:ext cx="1605111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Integração SAP automática</a:t>
            </a:r>
            <a:endParaRPr lang="en-US" sz="1163" dirty="0"/>
          </a:p>
        </p:txBody>
      </p:sp>
      <p:sp>
        <p:nvSpPr>
          <p:cNvPr id="260" name="Shape 258"/>
          <p:cNvSpPr/>
          <p:nvPr/>
        </p:nvSpPr>
        <p:spPr>
          <a:xfrm>
            <a:off x="11866066" y="8622804"/>
            <a:ext cx="1776710" cy="1026021"/>
          </a:xfrm>
          <a:prstGeom prst="roundRect">
            <a:avLst>
              <a:gd name="adj" fmla="val 5570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11989891" y="8932664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Via Reports: NoMe</a:t>
            </a:r>
            <a:endParaRPr lang="en-US" sz="1163" dirty="0"/>
          </a:p>
        </p:txBody>
      </p:sp>
      <p:sp>
        <p:nvSpPr>
          <p:cNvPr id="262" name="Text 260"/>
          <p:cNvSpPr/>
          <p:nvPr/>
        </p:nvSpPr>
        <p:spPr>
          <a:xfrm>
            <a:off x="11989891" y="9150102"/>
            <a:ext cx="168196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Demais: a validar</a:t>
            </a:r>
            <a:endParaRPr lang="en-US" sz="1163" dirty="0"/>
          </a:p>
        </p:txBody>
      </p:sp>
      <p:sp>
        <p:nvSpPr>
          <p:cNvPr id="263" name="Shape 261"/>
          <p:cNvSpPr/>
          <p:nvPr/>
        </p:nvSpPr>
        <p:spPr>
          <a:xfrm>
            <a:off x="13738027" y="8622804"/>
            <a:ext cx="1776710" cy="1026021"/>
          </a:xfrm>
          <a:prstGeom prst="roundRect">
            <a:avLst>
              <a:gd name="adj" fmla="val 5570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13861852" y="8743801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Baixa / alteração manual no Metra</a:t>
            </a:r>
            <a:endParaRPr lang="en-US" sz="1163" dirty="0"/>
          </a:p>
        </p:txBody>
      </p:sp>
      <p:sp>
        <p:nvSpPr>
          <p:cNvPr id="265" name="Text 263"/>
          <p:cNvSpPr/>
          <p:nvPr/>
        </p:nvSpPr>
        <p:spPr>
          <a:xfrm>
            <a:off x="13861852" y="9150102"/>
            <a:ext cx="1605260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 integração com Salesforce</a:t>
            </a:r>
            <a:endParaRPr lang="en-US" sz="1163" dirty="0"/>
          </a:p>
        </p:txBody>
      </p:sp>
      <p:sp>
        <p:nvSpPr>
          <p:cNvPr id="266" name="Shape 264"/>
          <p:cNvSpPr/>
          <p:nvPr/>
        </p:nvSpPr>
        <p:spPr>
          <a:xfrm>
            <a:off x="15609987" y="8622804"/>
            <a:ext cx="2220664" cy="1026021"/>
          </a:xfrm>
          <a:prstGeom prst="roundRect">
            <a:avLst>
              <a:gd name="adj" fmla="val 5570"/>
            </a:avLst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15733812" y="8729514"/>
            <a:ext cx="217031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SKU / CNPJ / fiscal</a:t>
            </a:r>
            <a:endParaRPr lang="en-US" sz="1163" dirty="0"/>
          </a:p>
        </p:txBody>
      </p:sp>
      <p:sp>
        <p:nvSpPr>
          <p:cNvPr id="268" name="Text 266"/>
          <p:cNvSpPr/>
          <p:nvPr/>
        </p:nvSpPr>
        <p:spPr>
          <a:xfrm>
            <a:off x="15733812" y="8946952"/>
            <a:ext cx="2049214" cy="415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Evitar duplicidade Reports, Metra e SAP</a:t>
            </a:r>
            <a:endParaRPr lang="en-US" sz="1163" dirty="0"/>
          </a:p>
        </p:txBody>
      </p:sp>
      <p:sp>
        <p:nvSpPr>
          <p:cNvPr id="269" name="Text 267"/>
          <p:cNvSpPr/>
          <p:nvPr/>
        </p:nvSpPr>
        <p:spPr>
          <a:xfrm>
            <a:off x="15733812" y="9353252"/>
            <a:ext cx="2170316" cy="2269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1163" dirty="0">
                <a:solidFill>
                  <a:srgbClr val="24305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Padronizar nomes</a:t>
            </a:r>
            <a:endParaRPr lang="en-US" sz="1163" dirty="0"/>
          </a:p>
        </p:txBody>
      </p:sp>
      <p:sp>
        <p:nvSpPr>
          <p:cNvPr id="270" name="Text 268"/>
          <p:cNvSpPr/>
          <p:nvPr/>
        </p:nvSpPr>
        <p:spPr>
          <a:xfrm>
            <a:off x="457200" y="9782175"/>
            <a:ext cx="3867016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7A84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* Indicadores: Reports, Metra e planilha SAP coexistem</a:t>
            </a:r>
            <a:endParaRPr lang="en-US" sz="1125" dirty="0"/>
          </a:p>
        </p:txBody>
      </p:sp>
      <p:sp>
        <p:nvSpPr>
          <p:cNvPr id="271" name="Text 269"/>
          <p:cNvSpPr/>
          <p:nvPr/>
        </p:nvSpPr>
        <p:spPr>
          <a:xfrm>
            <a:off x="17671852" y="9782175"/>
            <a:ext cx="23514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7A84A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28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2026-10-12T15:03:37Z</dcterms:created>
  <dcterms:modified xsi:type="dcterms:W3CDTF">2026-10-12T15:03:37Z</dcterms:modified>
</cp:coreProperties>
</file>