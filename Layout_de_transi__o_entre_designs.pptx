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9100"/>
            <a:ext cx="83031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75" kern="0" dirty="0">
                <a:solidFill>
                  <a:srgbClr val="1A2F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[B]</a:t>
            </a:r>
            <a:pPr algn="l" indent="0" marL="0">
              <a:buNone/>
            </a:pPr>
            <a:r>
              <a:rPr lang="en-US" sz="1650" b="1" baseline="30000" spc="-75" kern="0" dirty="0">
                <a:solidFill>
                  <a:srgbClr val="1A2F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78012" y="495300"/>
            <a:ext cx="882287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7" kern="0" dirty="0">
                <a:solidFill>
                  <a:srgbClr val="0B1D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Capital Markets </a:t>
            </a:r>
            <a:pPr algn="l" indent="0" marL="0">
              <a:buNone/>
            </a:pPr>
            <a:r>
              <a:rPr lang="en-US" sz="3300" spc="-37" kern="0" dirty="0">
                <a:solidFill>
                  <a:srgbClr val="5A66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Visão produto a produto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4935051" y="781050"/>
            <a:ext cx="95250" cy="95250"/>
          </a:xfrm>
          <a:prstGeom prst="ellipse">
            <a:avLst/>
          </a:prstGeom>
          <a:solidFill>
            <a:srgbClr val="2E8B6E"/>
          </a:solidFill>
          <a:ln/>
        </p:spPr>
      </p:sp>
      <p:sp>
        <p:nvSpPr>
          <p:cNvPr id="5" name="Text 3"/>
          <p:cNvSpPr/>
          <p:nvPr/>
        </p:nvSpPr>
        <p:spPr>
          <a:xfrm>
            <a:off x="15106501" y="733425"/>
            <a:ext cx="88627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55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Automático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16126123" y="781050"/>
            <a:ext cx="95250" cy="9525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7" name="Text 5"/>
          <p:cNvSpPr/>
          <p:nvPr/>
        </p:nvSpPr>
        <p:spPr>
          <a:xfrm>
            <a:off x="16297573" y="733425"/>
            <a:ext cx="60736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55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17038290" y="781050"/>
            <a:ext cx="95250" cy="95250"/>
          </a:xfrm>
          <a:prstGeom prst="ellipse">
            <a:avLst/>
          </a:prstGeom>
          <a:ln w="9525">
            <a:solidFill>
              <a:srgbClr val="8A93A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7209740" y="733425"/>
            <a:ext cx="6972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A55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validar</a:t>
            </a:r>
            <a:endParaRPr lang="en-US" sz="127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76350"/>
            <a:ext cx="17373600" cy="92184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" y="2293441"/>
            <a:ext cx="1954262" cy="803077"/>
          </a:xfrm>
          <a:prstGeom prst="roundRect">
            <a:avLst>
              <a:gd name="adj" fmla="val 711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1025" y="2594372"/>
            <a:ext cx="1877273" cy="23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58"/>
              </a:lnSpc>
              <a:buNone/>
            </a:pPr>
            <a:r>
              <a:rPr lang="en-US" sz="1238" b="1" dirty="0">
                <a:solidFill>
                  <a:srgbClr val="0B1D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Datawise Plus</a:t>
            </a:r>
            <a:endParaRPr lang="en-US" sz="1238" dirty="0"/>
          </a:p>
        </p:txBody>
      </p:sp>
      <p:sp>
        <p:nvSpPr>
          <p:cNvPr id="13" name="Shape 10"/>
          <p:cNvSpPr/>
          <p:nvPr/>
        </p:nvSpPr>
        <p:spPr>
          <a:xfrm>
            <a:off x="2506712" y="2293441"/>
            <a:ext cx="1776561" cy="803077"/>
          </a:xfrm>
          <a:prstGeom prst="roundRect">
            <a:avLst>
              <a:gd name="adj" fmla="val 711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30537" y="2600474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Salesforce</a:t>
            </a:r>
            <a:endParaRPr lang="en-US" sz="1163" dirty="0"/>
          </a:p>
        </p:txBody>
      </p:sp>
      <p:sp>
        <p:nvSpPr>
          <p:cNvPr id="15" name="Shape 12"/>
          <p:cNvSpPr/>
          <p:nvPr/>
        </p:nvSpPr>
        <p:spPr>
          <a:xfrm>
            <a:off x="4378523" y="2293441"/>
            <a:ext cx="1776710" cy="803077"/>
          </a:xfrm>
          <a:prstGeom prst="roundRect">
            <a:avLst>
              <a:gd name="adj" fmla="val 711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02348" y="2491829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Suporte Neoway</a:t>
            </a:r>
            <a:endParaRPr lang="en-US" sz="1163" dirty="0"/>
          </a:p>
        </p:txBody>
      </p:sp>
      <p:sp>
        <p:nvSpPr>
          <p:cNvPr id="17" name="Text 14"/>
          <p:cNvSpPr/>
          <p:nvPr/>
        </p:nvSpPr>
        <p:spPr>
          <a:xfrm>
            <a:off x="4502348" y="2709267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(time do Edson)</a:t>
            </a:r>
            <a:endParaRPr lang="en-US" sz="1163" dirty="0"/>
          </a:p>
        </p:txBody>
      </p:sp>
      <p:sp>
        <p:nvSpPr>
          <p:cNvPr id="18" name="Shape 15"/>
          <p:cNvSpPr/>
          <p:nvPr/>
        </p:nvSpPr>
        <p:spPr>
          <a:xfrm>
            <a:off x="6250484" y="2293441"/>
            <a:ext cx="1776561" cy="803077"/>
          </a:xfrm>
          <a:prstGeom prst="roundRect">
            <a:avLst>
              <a:gd name="adj" fmla="val 711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4309" y="2491829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Felipe</a:t>
            </a:r>
            <a:endParaRPr lang="en-US" sz="1163" dirty="0"/>
          </a:p>
        </p:txBody>
      </p:sp>
      <p:sp>
        <p:nvSpPr>
          <p:cNvPr id="20" name="Text 17"/>
          <p:cNvSpPr/>
          <p:nvPr/>
        </p:nvSpPr>
        <p:spPr>
          <a:xfrm>
            <a:off x="6374309" y="2709267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Planilha do CRM</a:t>
            </a:r>
            <a:endParaRPr lang="en-US" sz="1163" dirty="0"/>
          </a:p>
        </p:txBody>
      </p:sp>
      <p:sp>
        <p:nvSpPr>
          <p:cNvPr id="21" name="Shape 18"/>
          <p:cNvSpPr/>
          <p:nvPr/>
        </p:nvSpPr>
        <p:spPr>
          <a:xfrm>
            <a:off x="8122295" y="2293441"/>
            <a:ext cx="1776710" cy="803077"/>
          </a:xfrm>
          <a:prstGeom prst="roundRect">
            <a:avLst>
              <a:gd name="adj" fmla="val 711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46120" y="2548086"/>
            <a:ext cx="76200" cy="762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23" name="Text 20"/>
          <p:cNvSpPr/>
          <p:nvPr/>
        </p:nvSpPr>
        <p:spPr>
          <a:xfrm>
            <a:off x="8379470" y="2519511"/>
            <a:ext cx="626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938" b="1" spc="45" kern="0" dirty="0">
                <a:solidFill>
                  <a:srgbClr val="B077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</a:t>
            </a:r>
            <a:endParaRPr lang="en-US" sz="938" dirty="0"/>
          </a:p>
        </p:txBody>
      </p:sp>
      <p:sp>
        <p:nvSpPr>
          <p:cNvPr id="24" name="Text 21"/>
          <p:cNvSpPr/>
          <p:nvPr/>
        </p:nvSpPr>
        <p:spPr>
          <a:xfrm>
            <a:off x="8246120" y="2690961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SAP</a:t>
            </a:r>
            <a:endParaRPr lang="en-US" sz="1163" dirty="0"/>
          </a:p>
        </p:txBody>
      </p:sp>
      <p:sp>
        <p:nvSpPr>
          <p:cNvPr id="25" name="Shape 22"/>
          <p:cNvSpPr/>
          <p:nvPr/>
        </p:nvSpPr>
        <p:spPr>
          <a:xfrm>
            <a:off x="9994255" y="2293441"/>
            <a:ext cx="1776561" cy="803077"/>
          </a:xfrm>
          <a:prstGeom prst="roundRect">
            <a:avLst>
              <a:gd name="adj" fmla="val 711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118080" y="2439442"/>
            <a:ext cx="76200" cy="762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27" name="Text 24"/>
          <p:cNvSpPr/>
          <p:nvPr/>
        </p:nvSpPr>
        <p:spPr>
          <a:xfrm>
            <a:off x="10251430" y="2410867"/>
            <a:ext cx="626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938" b="1" spc="45" kern="0" dirty="0">
                <a:solidFill>
                  <a:srgbClr val="B077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</a:t>
            </a:r>
            <a:endParaRPr lang="en-US" sz="938" dirty="0"/>
          </a:p>
        </p:txBody>
      </p:sp>
      <p:sp>
        <p:nvSpPr>
          <p:cNvPr id="28" name="Text 25"/>
          <p:cNvSpPr/>
          <p:nvPr/>
        </p:nvSpPr>
        <p:spPr>
          <a:xfrm>
            <a:off x="10118080" y="2582317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SAP</a:t>
            </a:r>
            <a:endParaRPr lang="en-US" sz="1163" dirty="0"/>
          </a:p>
        </p:txBody>
      </p:sp>
      <p:sp>
        <p:nvSpPr>
          <p:cNvPr id="29" name="Text 26"/>
          <p:cNvSpPr/>
          <p:nvPr/>
        </p:nvSpPr>
        <p:spPr>
          <a:xfrm>
            <a:off x="10118080" y="2799755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 da Anna</a:t>
            </a:r>
            <a:endParaRPr lang="en-US" sz="1163" dirty="0"/>
          </a:p>
        </p:txBody>
      </p:sp>
      <p:sp>
        <p:nvSpPr>
          <p:cNvPr id="30" name="Shape 27"/>
          <p:cNvSpPr/>
          <p:nvPr/>
        </p:nvSpPr>
        <p:spPr>
          <a:xfrm>
            <a:off x="11866066" y="2293441"/>
            <a:ext cx="1776710" cy="803077"/>
          </a:xfrm>
          <a:prstGeom prst="roundRect">
            <a:avLst>
              <a:gd name="adj" fmla="val 711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989891" y="2491829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Envio manual</a:t>
            </a:r>
            <a:endParaRPr lang="en-US" sz="1163" dirty="0"/>
          </a:p>
        </p:txBody>
      </p:sp>
      <p:sp>
        <p:nvSpPr>
          <p:cNvPr id="32" name="Text 29"/>
          <p:cNvSpPr/>
          <p:nvPr/>
        </p:nvSpPr>
        <p:spPr>
          <a:xfrm>
            <a:off x="11989891" y="2709267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Validar cadastro</a:t>
            </a:r>
            <a:endParaRPr lang="en-US" sz="1163" dirty="0"/>
          </a:p>
        </p:txBody>
      </p:sp>
      <p:sp>
        <p:nvSpPr>
          <p:cNvPr id="33" name="Shape 30"/>
          <p:cNvSpPr/>
          <p:nvPr/>
        </p:nvSpPr>
        <p:spPr>
          <a:xfrm>
            <a:off x="13738027" y="2293441"/>
            <a:ext cx="1776710" cy="803077"/>
          </a:xfrm>
          <a:prstGeom prst="roundRect">
            <a:avLst>
              <a:gd name="adj" fmla="val 711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3861852" y="2506117"/>
            <a:ext cx="1605260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i="1" dirty="0">
                <a:solidFill>
                  <a:srgbClr val="8A93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Fluxo financeiro a validar</a:t>
            </a:r>
            <a:endParaRPr lang="en-US" sz="1163" dirty="0"/>
          </a:p>
        </p:txBody>
      </p:sp>
      <p:sp>
        <p:nvSpPr>
          <p:cNvPr id="35" name="Shape 32"/>
          <p:cNvSpPr/>
          <p:nvPr/>
        </p:nvSpPr>
        <p:spPr>
          <a:xfrm>
            <a:off x="15609987" y="2293441"/>
            <a:ext cx="2220664" cy="803077"/>
          </a:xfrm>
          <a:prstGeom prst="roundRect">
            <a:avLst>
              <a:gd name="adj" fmla="val 711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5733812" y="2491829"/>
            <a:ext cx="217031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SKU / USD / CP</a:t>
            </a:r>
            <a:endParaRPr lang="en-US" sz="1163" dirty="0"/>
          </a:p>
        </p:txBody>
      </p:sp>
      <p:sp>
        <p:nvSpPr>
          <p:cNvPr id="37" name="Text 34"/>
          <p:cNvSpPr/>
          <p:nvPr/>
        </p:nvSpPr>
        <p:spPr>
          <a:xfrm>
            <a:off x="15733812" y="2709267"/>
            <a:ext cx="217031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Cadastro / envio</a:t>
            </a:r>
            <a:endParaRPr lang="en-US" sz="1163" dirty="0"/>
          </a:p>
        </p:txBody>
      </p:sp>
      <p:sp>
        <p:nvSpPr>
          <p:cNvPr id="38" name="Shape 35"/>
          <p:cNvSpPr/>
          <p:nvPr/>
        </p:nvSpPr>
        <p:spPr>
          <a:xfrm>
            <a:off x="457200" y="3153668"/>
            <a:ext cx="1954262" cy="593675"/>
          </a:xfrm>
          <a:prstGeom prst="roundRect">
            <a:avLst>
              <a:gd name="adj" fmla="val 962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81025" y="3349972"/>
            <a:ext cx="1877273" cy="23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58"/>
              </a:lnSpc>
              <a:buNone/>
            </a:pPr>
            <a:r>
              <a:rPr lang="en-US" sz="1238" b="1" dirty="0">
                <a:solidFill>
                  <a:srgbClr val="0B1D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UP2DATA</a:t>
            </a:r>
            <a:endParaRPr lang="en-US" sz="1238" dirty="0"/>
          </a:p>
        </p:txBody>
      </p:sp>
      <p:sp>
        <p:nvSpPr>
          <p:cNvPr id="40" name="Shape 37"/>
          <p:cNvSpPr/>
          <p:nvPr/>
        </p:nvSpPr>
        <p:spPr>
          <a:xfrm>
            <a:off x="2506712" y="3153668"/>
            <a:ext cx="1776561" cy="593675"/>
          </a:xfrm>
          <a:prstGeom prst="roundRect">
            <a:avLst>
              <a:gd name="adj" fmla="val 962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630537" y="3356074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Salesforce / Portal</a:t>
            </a:r>
            <a:endParaRPr lang="en-US" sz="1163" dirty="0"/>
          </a:p>
        </p:txBody>
      </p:sp>
      <p:sp>
        <p:nvSpPr>
          <p:cNvPr id="42" name="Shape 39"/>
          <p:cNvSpPr/>
          <p:nvPr/>
        </p:nvSpPr>
        <p:spPr>
          <a:xfrm>
            <a:off x="4378523" y="3153668"/>
            <a:ext cx="1776710" cy="593675"/>
          </a:xfrm>
          <a:prstGeom prst="roundRect">
            <a:avLst>
              <a:gd name="adj" fmla="val 962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02348" y="3356074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Contratação / BDS</a:t>
            </a:r>
            <a:endParaRPr lang="en-US" sz="1163" dirty="0"/>
          </a:p>
        </p:txBody>
      </p:sp>
      <p:sp>
        <p:nvSpPr>
          <p:cNvPr id="44" name="Shape 41"/>
          <p:cNvSpPr/>
          <p:nvPr/>
        </p:nvSpPr>
        <p:spPr>
          <a:xfrm>
            <a:off x="6250484" y="3153668"/>
            <a:ext cx="1776561" cy="593675"/>
          </a:xfrm>
          <a:prstGeom prst="roundRect">
            <a:avLst>
              <a:gd name="adj" fmla="val 962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374309" y="3356074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Portal de Serviços</a:t>
            </a:r>
            <a:endParaRPr lang="en-US" sz="1163" dirty="0"/>
          </a:p>
        </p:txBody>
      </p:sp>
      <p:sp>
        <p:nvSpPr>
          <p:cNvPr id="46" name="Shape 43"/>
          <p:cNvSpPr/>
          <p:nvPr/>
        </p:nvSpPr>
        <p:spPr>
          <a:xfrm>
            <a:off x="8122295" y="3153668"/>
            <a:ext cx="1776710" cy="593675"/>
          </a:xfrm>
          <a:prstGeom prst="roundRect">
            <a:avLst>
              <a:gd name="adj" fmla="val 962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246120" y="3303687"/>
            <a:ext cx="76200" cy="76200"/>
          </a:xfrm>
          <a:prstGeom prst="ellipse">
            <a:avLst/>
          </a:prstGeom>
          <a:solidFill>
            <a:srgbClr val="2E8B6E"/>
          </a:solidFill>
          <a:ln/>
        </p:spPr>
      </p:sp>
      <p:sp>
        <p:nvSpPr>
          <p:cNvPr id="48" name="Text 45"/>
          <p:cNvSpPr/>
          <p:nvPr/>
        </p:nvSpPr>
        <p:spPr>
          <a:xfrm>
            <a:off x="8379470" y="3275112"/>
            <a:ext cx="9382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938" b="1" spc="45" kern="0" dirty="0">
                <a:solidFill>
                  <a:srgbClr val="2E8B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AUTOMÁTICO</a:t>
            </a:r>
            <a:endParaRPr lang="en-US" sz="938" dirty="0"/>
          </a:p>
        </p:txBody>
      </p:sp>
      <p:sp>
        <p:nvSpPr>
          <p:cNvPr id="49" name="Text 46"/>
          <p:cNvSpPr/>
          <p:nvPr/>
        </p:nvSpPr>
        <p:spPr>
          <a:xfrm>
            <a:off x="8246120" y="3446562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Metra Listados</a:t>
            </a:r>
            <a:endParaRPr lang="en-US" sz="1163" dirty="0"/>
          </a:p>
        </p:txBody>
      </p:sp>
      <p:sp>
        <p:nvSpPr>
          <p:cNvPr id="50" name="Shape 47"/>
          <p:cNvSpPr/>
          <p:nvPr/>
        </p:nvSpPr>
        <p:spPr>
          <a:xfrm>
            <a:off x="9994255" y="3153668"/>
            <a:ext cx="1776561" cy="593675"/>
          </a:xfrm>
          <a:prstGeom prst="roundRect">
            <a:avLst>
              <a:gd name="adj" fmla="val 962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118080" y="3303687"/>
            <a:ext cx="76200" cy="76200"/>
          </a:xfrm>
          <a:prstGeom prst="ellipse">
            <a:avLst/>
          </a:prstGeom>
          <a:solidFill>
            <a:srgbClr val="2E8B6E"/>
          </a:solidFill>
          <a:ln/>
        </p:spPr>
      </p:sp>
      <p:sp>
        <p:nvSpPr>
          <p:cNvPr id="52" name="Text 49"/>
          <p:cNvSpPr/>
          <p:nvPr/>
        </p:nvSpPr>
        <p:spPr>
          <a:xfrm>
            <a:off x="10251430" y="3275112"/>
            <a:ext cx="9382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938" b="1" spc="45" kern="0" dirty="0">
                <a:solidFill>
                  <a:srgbClr val="2E8B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AUTOMÁTICO</a:t>
            </a:r>
            <a:endParaRPr lang="en-US" sz="938" dirty="0"/>
          </a:p>
        </p:txBody>
      </p:sp>
      <p:sp>
        <p:nvSpPr>
          <p:cNvPr id="53" name="Text 50"/>
          <p:cNvSpPr/>
          <p:nvPr/>
        </p:nvSpPr>
        <p:spPr>
          <a:xfrm>
            <a:off x="10118080" y="3446562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SAP / boleto</a:t>
            </a:r>
            <a:endParaRPr lang="en-US" sz="1163" dirty="0"/>
          </a:p>
        </p:txBody>
      </p:sp>
      <p:sp>
        <p:nvSpPr>
          <p:cNvPr id="54" name="Shape 51"/>
          <p:cNvSpPr/>
          <p:nvPr/>
        </p:nvSpPr>
        <p:spPr>
          <a:xfrm>
            <a:off x="11866066" y="3153668"/>
            <a:ext cx="1776710" cy="593675"/>
          </a:xfrm>
          <a:prstGeom prst="roundRect">
            <a:avLst>
              <a:gd name="adj" fmla="val 962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1989891" y="3303687"/>
            <a:ext cx="76200" cy="76200"/>
          </a:xfrm>
          <a:prstGeom prst="ellipse">
            <a:avLst/>
          </a:prstGeom>
          <a:solidFill>
            <a:srgbClr val="2E8B6E"/>
          </a:solidFill>
          <a:ln/>
        </p:spPr>
      </p:sp>
      <p:sp>
        <p:nvSpPr>
          <p:cNvPr id="56" name="Text 53"/>
          <p:cNvSpPr/>
          <p:nvPr/>
        </p:nvSpPr>
        <p:spPr>
          <a:xfrm>
            <a:off x="12123241" y="3275112"/>
            <a:ext cx="9382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938" b="1" spc="45" kern="0" dirty="0">
                <a:solidFill>
                  <a:srgbClr val="2E8B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AUTOMÁTICO</a:t>
            </a:r>
            <a:endParaRPr lang="en-US" sz="938" dirty="0"/>
          </a:p>
        </p:txBody>
      </p:sp>
      <p:sp>
        <p:nvSpPr>
          <p:cNvPr id="57" name="Text 54"/>
          <p:cNvSpPr/>
          <p:nvPr/>
        </p:nvSpPr>
        <p:spPr>
          <a:xfrm>
            <a:off x="11989891" y="3446562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Celonis</a:t>
            </a:r>
            <a:endParaRPr lang="en-US" sz="1163" dirty="0"/>
          </a:p>
        </p:txBody>
      </p:sp>
      <p:sp>
        <p:nvSpPr>
          <p:cNvPr id="58" name="Shape 55"/>
          <p:cNvSpPr/>
          <p:nvPr/>
        </p:nvSpPr>
        <p:spPr>
          <a:xfrm>
            <a:off x="13738027" y="3153668"/>
            <a:ext cx="1776710" cy="593675"/>
          </a:xfrm>
          <a:prstGeom prst="roundRect">
            <a:avLst>
              <a:gd name="adj" fmla="val 962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3861852" y="3261568"/>
            <a:ext cx="1605260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i="1" dirty="0">
                <a:solidFill>
                  <a:srgbClr val="8A93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Fluxo financeiro a validar</a:t>
            </a:r>
            <a:endParaRPr lang="en-US" sz="1163" dirty="0"/>
          </a:p>
        </p:txBody>
      </p:sp>
      <p:sp>
        <p:nvSpPr>
          <p:cNvPr id="60" name="Shape 57"/>
          <p:cNvSpPr/>
          <p:nvPr/>
        </p:nvSpPr>
        <p:spPr>
          <a:xfrm>
            <a:off x="15609987" y="3153668"/>
            <a:ext cx="2220664" cy="593675"/>
          </a:xfrm>
          <a:prstGeom prst="roundRect">
            <a:avLst>
              <a:gd name="adj" fmla="val 962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5733812" y="3261568"/>
            <a:ext cx="2049214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Conciliar preços, acessos e SKUs</a:t>
            </a:r>
            <a:endParaRPr lang="en-US" sz="1163" dirty="0"/>
          </a:p>
        </p:txBody>
      </p:sp>
      <p:sp>
        <p:nvSpPr>
          <p:cNvPr id="62" name="Shape 59"/>
          <p:cNvSpPr/>
          <p:nvPr/>
        </p:nvSpPr>
        <p:spPr>
          <a:xfrm>
            <a:off x="457200" y="3804493"/>
            <a:ext cx="1954262" cy="810964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81025" y="4109442"/>
            <a:ext cx="1877273" cy="23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58"/>
              </a:lnSpc>
              <a:buNone/>
            </a:pPr>
            <a:r>
              <a:rPr lang="en-US" sz="1238" b="1" dirty="0">
                <a:solidFill>
                  <a:srgbClr val="0B1D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Datawise Reports</a:t>
            </a:r>
            <a:endParaRPr lang="en-US" sz="1238" dirty="0"/>
          </a:p>
        </p:txBody>
      </p:sp>
      <p:sp>
        <p:nvSpPr>
          <p:cNvPr id="64" name="Shape 61"/>
          <p:cNvSpPr/>
          <p:nvPr/>
        </p:nvSpPr>
        <p:spPr>
          <a:xfrm>
            <a:off x="2506712" y="3804493"/>
            <a:ext cx="1776561" cy="810964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630537" y="4021038"/>
            <a:ext cx="1605111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Salesforce / Plataforma</a:t>
            </a:r>
            <a:endParaRPr lang="en-US" sz="1163" dirty="0"/>
          </a:p>
        </p:txBody>
      </p:sp>
      <p:sp>
        <p:nvSpPr>
          <p:cNvPr id="66" name="Shape 63"/>
          <p:cNvSpPr/>
          <p:nvPr/>
        </p:nvSpPr>
        <p:spPr>
          <a:xfrm>
            <a:off x="4378523" y="3804493"/>
            <a:ext cx="1776710" cy="810964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502348" y="4021038"/>
            <a:ext cx="1605260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CSNet / Helix / CAU (GEGIA) / Suporte</a:t>
            </a:r>
            <a:endParaRPr lang="en-US" sz="1163" dirty="0"/>
          </a:p>
        </p:txBody>
      </p:sp>
      <p:sp>
        <p:nvSpPr>
          <p:cNvPr id="68" name="Shape 65"/>
          <p:cNvSpPr/>
          <p:nvPr/>
        </p:nvSpPr>
        <p:spPr>
          <a:xfrm>
            <a:off x="6250484" y="3804493"/>
            <a:ext cx="1776561" cy="810964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374309" y="4021038"/>
            <a:ext cx="1605111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Plataforma Report – Arqmidva</a:t>
            </a:r>
            <a:endParaRPr lang="en-US" sz="1163" dirty="0"/>
          </a:p>
        </p:txBody>
      </p:sp>
      <p:sp>
        <p:nvSpPr>
          <p:cNvPr id="70" name="Shape 67"/>
          <p:cNvSpPr/>
          <p:nvPr/>
        </p:nvSpPr>
        <p:spPr>
          <a:xfrm>
            <a:off x="8122295" y="3804493"/>
            <a:ext cx="1776710" cy="810964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246120" y="4063157"/>
            <a:ext cx="76200" cy="76200"/>
          </a:xfrm>
          <a:prstGeom prst="ellipse">
            <a:avLst/>
          </a:prstGeom>
          <a:solidFill>
            <a:srgbClr val="2E8B6E"/>
          </a:solidFill>
          <a:ln/>
        </p:spPr>
      </p:sp>
      <p:sp>
        <p:nvSpPr>
          <p:cNvPr id="72" name="Text 69"/>
          <p:cNvSpPr/>
          <p:nvPr/>
        </p:nvSpPr>
        <p:spPr>
          <a:xfrm>
            <a:off x="8379470" y="4034582"/>
            <a:ext cx="9382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938" b="1" spc="45" kern="0" dirty="0">
                <a:solidFill>
                  <a:srgbClr val="2E8B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AUTOMÁTICO</a:t>
            </a:r>
            <a:endParaRPr lang="en-US" sz="938" dirty="0"/>
          </a:p>
        </p:txBody>
      </p:sp>
      <p:sp>
        <p:nvSpPr>
          <p:cNvPr id="73" name="Text 70"/>
          <p:cNvSpPr/>
          <p:nvPr/>
        </p:nvSpPr>
        <p:spPr>
          <a:xfrm>
            <a:off x="8246120" y="4206032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Metra Balcão</a:t>
            </a:r>
            <a:endParaRPr lang="en-US" sz="1163" dirty="0"/>
          </a:p>
        </p:txBody>
      </p:sp>
      <p:sp>
        <p:nvSpPr>
          <p:cNvPr id="74" name="Shape 71"/>
          <p:cNvSpPr/>
          <p:nvPr/>
        </p:nvSpPr>
        <p:spPr>
          <a:xfrm>
            <a:off x="9994255" y="3804493"/>
            <a:ext cx="1776561" cy="810964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118080" y="3912394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Liquidação</a:t>
            </a:r>
            <a:endParaRPr lang="en-US" sz="1163" dirty="0"/>
          </a:p>
        </p:txBody>
      </p:sp>
      <p:sp>
        <p:nvSpPr>
          <p:cNvPr id="76" name="Text 73"/>
          <p:cNvSpPr/>
          <p:nvPr/>
        </p:nvSpPr>
        <p:spPr>
          <a:xfrm>
            <a:off x="10118080" y="4129832"/>
            <a:ext cx="1605111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Boleto via SAP (opcional)</a:t>
            </a:r>
            <a:endParaRPr lang="en-US" sz="1163" dirty="0"/>
          </a:p>
        </p:txBody>
      </p:sp>
      <p:sp>
        <p:nvSpPr>
          <p:cNvPr id="77" name="Shape 74"/>
          <p:cNvSpPr/>
          <p:nvPr/>
        </p:nvSpPr>
        <p:spPr>
          <a:xfrm>
            <a:off x="11866066" y="3804493"/>
            <a:ext cx="1776710" cy="810964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11989891" y="4115544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NoMe</a:t>
            </a:r>
            <a:endParaRPr lang="en-US" sz="1163" dirty="0"/>
          </a:p>
        </p:txBody>
      </p:sp>
      <p:sp>
        <p:nvSpPr>
          <p:cNvPr id="79" name="Shape 76"/>
          <p:cNvSpPr/>
          <p:nvPr/>
        </p:nvSpPr>
        <p:spPr>
          <a:xfrm>
            <a:off x="13738027" y="3804493"/>
            <a:ext cx="1776710" cy="810964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13861852" y="4021038"/>
            <a:ext cx="1605260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E-mail / baixa manual na plataforma</a:t>
            </a:r>
            <a:endParaRPr lang="en-US" sz="1163" dirty="0"/>
          </a:p>
        </p:txBody>
      </p:sp>
      <p:sp>
        <p:nvSpPr>
          <p:cNvPr id="81" name="Shape 78"/>
          <p:cNvSpPr/>
          <p:nvPr/>
        </p:nvSpPr>
        <p:spPr>
          <a:xfrm>
            <a:off x="15609987" y="3804493"/>
            <a:ext cx="2220664" cy="810964"/>
          </a:xfrm>
          <a:prstGeom prst="roundRect">
            <a:avLst>
              <a:gd name="adj" fmla="val 704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15733812" y="4006751"/>
            <a:ext cx="217031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Integrar NoMe e liquidação</a:t>
            </a:r>
            <a:endParaRPr lang="en-US" sz="1163" dirty="0"/>
          </a:p>
        </p:txBody>
      </p:sp>
      <p:sp>
        <p:nvSpPr>
          <p:cNvPr id="83" name="Text 80"/>
          <p:cNvSpPr/>
          <p:nvPr/>
        </p:nvSpPr>
        <p:spPr>
          <a:xfrm>
            <a:off x="15733812" y="4224189"/>
            <a:ext cx="217031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Preservar boleto</a:t>
            </a:r>
            <a:endParaRPr lang="en-US" sz="1163" dirty="0"/>
          </a:p>
        </p:txBody>
      </p:sp>
      <p:sp>
        <p:nvSpPr>
          <p:cNvPr id="84" name="Shape 81"/>
          <p:cNvSpPr/>
          <p:nvPr/>
        </p:nvSpPr>
        <p:spPr>
          <a:xfrm>
            <a:off x="457200" y="4672608"/>
            <a:ext cx="1954262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581025" y="4873079"/>
            <a:ext cx="1782812" cy="440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58"/>
              </a:lnSpc>
              <a:buNone/>
            </a:pPr>
            <a:r>
              <a:rPr lang="en-US" sz="1238" b="1" dirty="0">
                <a:solidFill>
                  <a:srgbClr val="0B1D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 Data – Histórico</a:t>
            </a:r>
            <a:endParaRPr lang="en-US" sz="1238" dirty="0"/>
          </a:p>
        </p:txBody>
      </p:sp>
      <p:sp>
        <p:nvSpPr>
          <p:cNvPr id="86" name="Shape 83"/>
          <p:cNvSpPr/>
          <p:nvPr/>
        </p:nvSpPr>
        <p:spPr>
          <a:xfrm>
            <a:off x="2506712" y="4672608"/>
            <a:ext cx="1776561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2630537" y="4979789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Salesforce</a:t>
            </a:r>
            <a:endParaRPr lang="en-US" sz="1163" dirty="0"/>
          </a:p>
        </p:txBody>
      </p:sp>
      <p:sp>
        <p:nvSpPr>
          <p:cNvPr id="88" name="Shape 85"/>
          <p:cNvSpPr/>
          <p:nvPr/>
        </p:nvSpPr>
        <p:spPr>
          <a:xfrm>
            <a:off x="4378523" y="4672608"/>
            <a:ext cx="1776710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502348" y="4979789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i="1" dirty="0">
                <a:solidFill>
                  <a:srgbClr val="8A93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validar</a:t>
            </a:r>
            <a:endParaRPr lang="en-US" sz="1163" dirty="0"/>
          </a:p>
        </p:txBody>
      </p:sp>
      <p:sp>
        <p:nvSpPr>
          <p:cNvPr id="90" name="Shape 87"/>
          <p:cNvSpPr/>
          <p:nvPr/>
        </p:nvSpPr>
        <p:spPr>
          <a:xfrm>
            <a:off x="6250484" y="4672608"/>
            <a:ext cx="1776561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6374309" y="4870996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Relatório CRM</a:t>
            </a:r>
            <a:endParaRPr lang="en-US" sz="1163" dirty="0"/>
          </a:p>
        </p:txBody>
      </p:sp>
      <p:sp>
        <p:nvSpPr>
          <p:cNvPr id="92" name="Text 89"/>
          <p:cNvSpPr/>
          <p:nvPr/>
        </p:nvSpPr>
        <p:spPr>
          <a:xfrm>
            <a:off x="6374309" y="5088434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Flavia</a:t>
            </a:r>
            <a:endParaRPr lang="en-US" sz="1163" dirty="0"/>
          </a:p>
        </p:txBody>
      </p:sp>
      <p:sp>
        <p:nvSpPr>
          <p:cNvPr id="93" name="Shape 90"/>
          <p:cNvSpPr/>
          <p:nvPr/>
        </p:nvSpPr>
        <p:spPr>
          <a:xfrm>
            <a:off x="8122295" y="4672608"/>
            <a:ext cx="1776710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8246120" y="4927402"/>
            <a:ext cx="76200" cy="762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95" name="Text 92"/>
          <p:cNvSpPr/>
          <p:nvPr/>
        </p:nvSpPr>
        <p:spPr>
          <a:xfrm>
            <a:off x="8379470" y="4898827"/>
            <a:ext cx="626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938" b="1" spc="45" kern="0" dirty="0">
                <a:solidFill>
                  <a:srgbClr val="B077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</a:t>
            </a:r>
            <a:endParaRPr lang="en-US" sz="938" dirty="0"/>
          </a:p>
        </p:txBody>
      </p:sp>
      <p:sp>
        <p:nvSpPr>
          <p:cNvPr id="96" name="Text 93"/>
          <p:cNvSpPr/>
          <p:nvPr/>
        </p:nvSpPr>
        <p:spPr>
          <a:xfrm>
            <a:off x="8246120" y="5070277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SAP</a:t>
            </a:r>
            <a:endParaRPr lang="en-US" sz="1163" dirty="0"/>
          </a:p>
        </p:txBody>
      </p:sp>
      <p:sp>
        <p:nvSpPr>
          <p:cNvPr id="97" name="Shape 94"/>
          <p:cNvSpPr/>
          <p:nvPr/>
        </p:nvSpPr>
        <p:spPr>
          <a:xfrm>
            <a:off x="9994255" y="4672608"/>
            <a:ext cx="1776561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0118080" y="4818608"/>
            <a:ext cx="76200" cy="762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99" name="Text 96"/>
          <p:cNvSpPr/>
          <p:nvPr/>
        </p:nvSpPr>
        <p:spPr>
          <a:xfrm>
            <a:off x="10251430" y="4790033"/>
            <a:ext cx="626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938" b="1" spc="45" kern="0" dirty="0">
                <a:solidFill>
                  <a:srgbClr val="B077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</a:t>
            </a:r>
            <a:endParaRPr lang="en-US" sz="938" dirty="0"/>
          </a:p>
        </p:txBody>
      </p:sp>
      <p:sp>
        <p:nvSpPr>
          <p:cNvPr id="100" name="Text 97"/>
          <p:cNvSpPr/>
          <p:nvPr/>
        </p:nvSpPr>
        <p:spPr>
          <a:xfrm>
            <a:off x="10118080" y="4961483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SAP</a:t>
            </a:r>
            <a:endParaRPr lang="en-US" sz="1163" dirty="0"/>
          </a:p>
        </p:txBody>
      </p:sp>
      <p:sp>
        <p:nvSpPr>
          <p:cNvPr id="101" name="Text 98"/>
          <p:cNvSpPr/>
          <p:nvPr/>
        </p:nvSpPr>
        <p:spPr>
          <a:xfrm>
            <a:off x="10118080" y="5178921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 da Anna</a:t>
            </a:r>
            <a:endParaRPr lang="en-US" sz="1163" dirty="0"/>
          </a:p>
        </p:txBody>
      </p:sp>
      <p:sp>
        <p:nvSpPr>
          <p:cNvPr id="102" name="Shape 99"/>
          <p:cNvSpPr/>
          <p:nvPr/>
        </p:nvSpPr>
        <p:spPr>
          <a:xfrm>
            <a:off x="11866066" y="4672608"/>
            <a:ext cx="1776710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1989891" y="4979789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i="1" dirty="0">
                <a:solidFill>
                  <a:srgbClr val="8A93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validar</a:t>
            </a:r>
            <a:endParaRPr lang="en-US" sz="1163" dirty="0"/>
          </a:p>
        </p:txBody>
      </p:sp>
      <p:sp>
        <p:nvSpPr>
          <p:cNvPr id="104" name="Shape 101"/>
          <p:cNvSpPr/>
          <p:nvPr/>
        </p:nvSpPr>
        <p:spPr>
          <a:xfrm>
            <a:off x="13738027" y="4672608"/>
            <a:ext cx="1776710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3861852" y="4885283"/>
            <a:ext cx="1605260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i="1" dirty="0">
                <a:solidFill>
                  <a:srgbClr val="8A93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Fluxo financeiro a validar</a:t>
            </a:r>
            <a:endParaRPr lang="en-US" sz="1163" dirty="0"/>
          </a:p>
        </p:txBody>
      </p:sp>
      <p:sp>
        <p:nvSpPr>
          <p:cNvPr id="106" name="Shape 103"/>
          <p:cNvSpPr/>
          <p:nvPr/>
        </p:nvSpPr>
        <p:spPr>
          <a:xfrm>
            <a:off x="15609987" y="4672608"/>
            <a:ext cx="2220664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15733812" y="4885283"/>
            <a:ext cx="2049214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Confirmar envio e faturamento</a:t>
            </a:r>
            <a:endParaRPr lang="en-US" sz="1163" dirty="0"/>
          </a:p>
        </p:txBody>
      </p:sp>
      <p:sp>
        <p:nvSpPr>
          <p:cNvPr id="108" name="Shape 105"/>
          <p:cNvSpPr/>
          <p:nvPr/>
        </p:nvSpPr>
        <p:spPr>
          <a:xfrm>
            <a:off x="457200" y="5532983"/>
            <a:ext cx="1954262" cy="622102"/>
          </a:xfrm>
          <a:prstGeom prst="roundRect">
            <a:avLst>
              <a:gd name="adj" fmla="val 918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581025" y="5743426"/>
            <a:ext cx="1877273" cy="23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58"/>
              </a:lnSpc>
              <a:buNone/>
            </a:pPr>
            <a:r>
              <a:rPr lang="en-US" sz="1238" b="1" dirty="0">
                <a:solidFill>
                  <a:srgbClr val="0B1D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Monitora PIP</a:t>
            </a:r>
            <a:endParaRPr lang="en-US" sz="1238" dirty="0"/>
          </a:p>
        </p:txBody>
      </p:sp>
      <p:sp>
        <p:nvSpPr>
          <p:cNvPr id="110" name="Shape 107"/>
          <p:cNvSpPr/>
          <p:nvPr/>
        </p:nvSpPr>
        <p:spPr>
          <a:xfrm>
            <a:off x="2506712" y="5532983"/>
            <a:ext cx="1776561" cy="622102"/>
          </a:xfrm>
          <a:prstGeom prst="roundRect">
            <a:avLst>
              <a:gd name="adj" fmla="val 918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2630537" y="5749528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Salesforce</a:t>
            </a:r>
            <a:endParaRPr lang="en-US" sz="1163" dirty="0"/>
          </a:p>
        </p:txBody>
      </p:sp>
      <p:sp>
        <p:nvSpPr>
          <p:cNvPr id="112" name="Shape 109"/>
          <p:cNvSpPr/>
          <p:nvPr/>
        </p:nvSpPr>
        <p:spPr>
          <a:xfrm>
            <a:off x="4378523" y="5532983"/>
            <a:ext cx="1776710" cy="622102"/>
          </a:xfrm>
          <a:prstGeom prst="roundRect">
            <a:avLst>
              <a:gd name="adj" fmla="val 918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4502348" y="5749528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Cadu</a:t>
            </a:r>
            <a:endParaRPr lang="en-US" sz="1163" dirty="0"/>
          </a:p>
        </p:txBody>
      </p:sp>
      <p:sp>
        <p:nvSpPr>
          <p:cNvPr id="114" name="Shape 111"/>
          <p:cNvSpPr/>
          <p:nvPr/>
        </p:nvSpPr>
        <p:spPr>
          <a:xfrm>
            <a:off x="6250484" y="5532983"/>
            <a:ext cx="1776561" cy="622102"/>
          </a:xfrm>
          <a:prstGeom prst="roundRect">
            <a:avLst>
              <a:gd name="adj" fmla="val 918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6374309" y="5640884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INFODEFENSE</a:t>
            </a:r>
            <a:endParaRPr lang="en-US" sz="1163" dirty="0"/>
          </a:p>
        </p:txBody>
      </p:sp>
      <p:sp>
        <p:nvSpPr>
          <p:cNvPr id="116" name="Text 113"/>
          <p:cNvSpPr/>
          <p:nvPr/>
        </p:nvSpPr>
        <p:spPr>
          <a:xfrm>
            <a:off x="6374309" y="5858321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Consumo diário</a:t>
            </a:r>
            <a:endParaRPr lang="en-US" sz="1163" dirty="0"/>
          </a:p>
        </p:txBody>
      </p:sp>
      <p:sp>
        <p:nvSpPr>
          <p:cNvPr id="117" name="Shape 114"/>
          <p:cNvSpPr/>
          <p:nvPr/>
        </p:nvSpPr>
        <p:spPr>
          <a:xfrm>
            <a:off x="8122295" y="5532983"/>
            <a:ext cx="1776710" cy="622102"/>
          </a:xfrm>
          <a:prstGeom prst="roundRect">
            <a:avLst>
              <a:gd name="adj" fmla="val 918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8246120" y="5697141"/>
            <a:ext cx="76200" cy="76200"/>
          </a:xfrm>
          <a:prstGeom prst="ellipse">
            <a:avLst/>
          </a:prstGeom>
          <a:solidFill>
            <a:srgbClr val="2E8B6E"/>
          </a:solidFill>
          <a:ln/>
        </p:spPr>
      </p:sp>
      <p:sp>
        <p:nvSpPr>
          <p:cNvPr id="119" name="Text 116"/>
          <p:cNvSpPr/>
          <p:nvPr/>
        </p:nvSpPr>
        <p:spPr>
          <a:xfrm>
            <a:off x="8379470" y="5668566"/>
            <a:ext cx="9382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938" b="1" spc="45" kern="0" dirty="0">
                <a:solidFill>
                  <a:srgbClr val="2E8B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AUTOMÁTICO</a:t>
            </a:r>
            <a:endParaRPr lang="en-US" sz="938" dirty="0"/>
          </a:p>
        </p:txBody>
      </p:sp>
      <p:sp>
        <p:nvSpPr>
          <p:cNvPr id="120" name="Text 117"/>
          <p:cNvSpPr/>
          <p:nvPr/>
        </p:nvSpPr>
        <p:spPr>
          <a:xfrm>
            <a:off x="8246120" y="5840016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Metra UIF</a:t>
            </a:r>
            <a:endParaRPr lang="en-US" sz="1163" dirty="0"/>
          </a:p>
        </p:txBody>
      </p:sp>
      <p:sp>
        <p:nvSpPr>
          <p:cNvPr id="121" name="Shape 118"/>
          <p:cNvSpPr/>
          <p:nvPr/>
        </p:nvSpPr>
        <p:spPr>
          <a:xfrm>
            <a:off x="9994255" y="5532983"/>
            <a:ext cx="1776561" cy="622102"/>
          </a:xfrm>
          <a:prstGeom prst="roundRect">
            <a:avLst>
              <a:gd name="adj" fmla="val 918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10118080" y="5697141"/>
            <a:ext cx="76200" cy="76200"/>
          </a:xfrm>
          <a:prstGeom prst="ellipse">
            <a:avLst/>
          </a:prstGeom>
          <a:solidFill>
            <a:srgbClr val="2E8B6E"/>
          </a:solidFill>
          <a:ln/>
        </p:spPr>
      </p:sp>
      <p:sp>
        <p:nvSpPr>
          <p:cNvPr id="123" name="Text 120"/>
          <p:cNvSpPr/>
          <p:nvPr/>
        </p:nvSpPr>
        <p:spPr>
          <a:xfrm>
            <a:off x="10251430" y="5668566"/>
            <a:ext cx="9382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938" b="1" spc="45" kern="0" dirty="0">
                <a:solidFill>
                  <a:srgbClr val="2E8B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AUTOMÁTICO</a:t>
            </a:r>
            <a:endParaRPr lang="en-US" sz="938" dirty="0"/>
          </a:p>
        </p:txBody>
      </p:sp>
      <p:sp>
        <p:nvSpPr>
          <p:cNvPr id="124" name="Text 121"/>
          <p:cNvSpPr/>
          <p:nvPr/>
        </p:nvSpPr>
        <p:spPr>
          <a:xfrm>
            <a:off x="10118080" y="5840016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Metra / SAP</a:t>
            </a:r>
            <a:endParaRPr lang="en-US" sz="1163" dirty="0"/>
          </a:p>
        </p:txBody>
      </p:sp>
      <p:sp>
        <p:nvSpPr>
          <p:cNvPr id="125" name="Shape 122"/>
          <p:cNvSpPr/>
          <p:nvPr/>
        </p:nvSpPr>
        <p:spPr>
          <a:xfrm>
            <a:off x="11866066" y="5532983"/>
            <a:ext cx="1776710" cy="622102"/>
          </a:xfrm>
          <a:prstGeom prst="roundRect">
            <a:avLst>
              <a:gd name="adj" fmla="val 918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26" name="Text 123"/>
          <p:cNvSpPr/>
          <p:nvPr/>
        </p:nvSpPr>
        <p:spPr>
          <a:xfrm>
            <a:off x="11989891" y="5749528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i="1" dirty="0">
                <a:solidFill>
                  <a:srgbClr val="8A93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validar</a:t>
            </a:r>
            <a:endParaRPr lang="en-US" sz="1163" dirty="0"/>
          </a:p>
        </p:txBody>
      </p:sp>
      <p:sp>
        <p:nvSpPr>
          <p:cNvPr id="127" name="Shape 124"/>
          <p:cNvSpPr/>
          <p:nvPr/>
        </p:nvSpPr>
        <p:spPr>
          <a:xfrm>
            <a:off x="13738027" y="5532983"/>
            <a:ext cx="1776710" cy="622102"/>
          </a:xfrm>
          <a:prstGeom prst="roundRect">
            <a:avLst>
              <a:gd name="adj" fmla="val 918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13861852" y="5655171"/>
            <a:ext cx="1605260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i="1" dirty="0">
                <a:solidFill>
                  <a:srgbClr val="8A93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Fluxo financeiro a validar</a:t>
            </a:r>
            <a:endParaRPr lang="en-US" sz="1163" dirty="0"/>
          </a:p>
        </p:txBody>
      </p:sp>
      <p:sp>
        <p:nvSpPr>
          <p:cNvPr id="129" name="Shape 126"/>
          <p:cNvSpPr/>
          <p:nvPr/>
        </p:nvSpPr>
        <p:spPr>
          <a:xfrm>
            <a:off x="15609987" y="5532983"/>
            <a:ext cx="2220664" cy="622102"/>
          </a:xfrm>
          <a:prstGeom prst="roundRect">
            <a:avLst>
              <a:gd name="adj" fmla="val 9187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15733812" y="5655171"/>
            <a:ext cx="2049214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Consumo íntegro na migração</a:t>
            </a:r>
            <a:endParaRPr lang="en-US" sz="1163" dirty="0"/>
          </a:p>
        </p:txBody>
      </p:sp>
      <p:sp>
        <p:nvSpPr>
          <p:cNvPr id="131" name="Shape 128"/>
          <p:cNvSpPr/>
          <p:nvPr/>
        </p:nvSpPr>
        <p:spPr>
          <a:xfrm>
            <a:off x="457200" y="6212235"/>
            <a:ext cx="1954262" cy="62225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581025" y="6422827"/>
            <a:ext cx="1877273" cy="23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58"/>
              </a:lnSpc>
              <a:buNone/>
            </a:pPr>
            <a:r>
              <a:rPr lang="en-US" sz="1238" b="1" dirty="0">
                <a:solidFill>
                  <a:srgbClr val="0B1D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Monitora PIP – Seeker</a:t>
            </a:r>
            <a:endParaRPr lang="en-US" sz="1238" dirty="0"/>
          </a:p>
        </p:txBody>
      </p:sp>
      <p:sp>
        <p:nvSpPr>
          <p:cNvPr id="133" name="Shape 130"/>
          <p:cNvSpPr/>
          <p:nvPr/>
        </p:nvSpPr>
        <p:spPr>
          <a:xfrm>
            <a:off x="2506712" y="6212235"/>
            <a:ext cx="1776561" cy="62225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2630537" y="6428929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Salesforce</a:t>
            </a:r>
            <a:endParaRPr lang="en-US" sz="1163" dirty="0"/>
          </a:p>
        </p:txBody>
      </p:sp>
      <p:sp>
        <p:nvSpPr>
          <p:cNvPr id="135" name="Shape 132"/>
          <p:cNvSpPr/>
          <p:nvPr/>
        </p:nvSpPr>
        <p:spPr>
          <a:xfrm>
            <a:off x="4378523" y="6212235"/>
            <a:ext cx="1776710" cy="62225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36" name="Text 133"/>
          <p:cNvSpPr/>
          <p:nvPr/>
        </p:nvSpPr>
        <p:spPr>
          <a:xfrm>
            <a:off x="4502348" y="6320135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Seeker / Cadu</a:t>
            </a:r>
            <a:endParaRPr lang="en-US" sz="1163" dirty="0"/>
          </a:p>
        </p:txBody>
      </p:sp>
      <p:sp>
        <p:nvSpPr>
          <p:cNvPr id="137" name="Text 134"/>
          <p:cNvSpPr/>
          <p:nvPr/>
        </p:nvSpPr>
        <p:spPr>
          <a:xfrm>
            <a:off x="4502348" y="6537573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Validar liberação</a:t>
            </a:r>
            <a:endParaRPr lang="en-US" sz="1163" dirty="0"/>
          </a:p>
        </p:txBody>
      </p:sp>
      <p:sp>
        <p:nvSpPr>
          <p:cNvPr id="138" name="Shape 135"/>
          <p:cNvSpPr/>
          <p:nvPr/>
        </p:nvSpPr>
        <p:spPr>
          <a:xfrm>
            <a:off x="6250484" y="6212235"/>
            <a:ext cx="1776561" cy="62225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6374309" y="6320135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Arquivo manual</a:t>
            </a:r>
            <a:endParaRPr lang="en-US" sz="1163" dirty="0"/>
          </a:p>
        </p:txBody>
      </p:sp>
      <p:sp>
        <p:nvSpPr>
          <p:cNvPr id="140" name="Text 137"/>
          <p:cNvSpPr/>
          <p:nvPr/>
        </p:nvSpPr>
        <p:spPr>
          <a:xfrm>
            <a:off x="6374309" y="6537573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Stephan</a:t>
            </a:r>
            <a:endParaRPr lang="en-US" sz="1163" dirty="0"/>
          </a:p>
        </p:txBody>
      </p:sp>
      <p:sp>
        <p:nvSpPr>
          <p:cNvPr id="141" name="Shape 138"/>
          <p:cNvSpPr/>
          <p:nvPr/>
        </p:nvSpPr>
        <p:spPr>
          <a:xfrm>
            <a:off x="8122295" y="6212235"/>
            <a:ext cx="1776710" cy="62225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8246120" y="6376541"/>
            <a:ext cx="76200" cy="76200"/>
          </a:xfrm>
          <a:prstGeom prst="ellipse">
            <a:avLst/>
          </a:prstGeom>
          <a:solidFill>
            <a:srgbClr val="2E8B6E"/>
          </a:solidFill>
          <a:ln/>
        </p:spPr>
      </p:sp>
      <p:sp>
        <p:nvSpPr>
          <p:cNvPr id="143" name="Text 140"/>
          <p:cNvSpPr/>
          <p:nvPr/>
        </p:nvSpPr>
        <p:spPr>
          <a:xfrm>
            <a:off x="8379470" y="6347966"/>
            <a:ext cx="9382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938" b="1" spc="45" kern="0" dirty="0">
                <a:solidFill>
                  <a:srgbClr val="2E8B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AUTOMÁTICO</a:t>
            </a:r>
            <a:endParaRPr lang="en-US" sz="938" dirty="0"/>
          </a:p>
        </p:txBody>
      </p:sp>
      <p:sp>
        <p:nvSpPr>
          <p:cNvPr id="144" name="Text 141"/>
          <p:cNvSpPr/>
          <p:nvPr/>
        </p:nvSpPr>
        <p:spPr>
          <a:xfrm>
            <a:off x="8246120" y="6519416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Metra UIF</a:t>
            </a:r>
            <a:endParaRPr lang="en-US" sz="1163" dirty="0"/>
          </a:p>
        </p:txBody>
      </p:sp>
      <p:sp>
        <p:nvSpPr>
          <p:cNvPr id="145" name="Shape 142"/>
          <p:cNvSpPr/>
          <p:nvPr/>
        </p:nvSpPr>
        <p:spPr>
          <a:xfrm>
            <a:off x="9994255" y="6212235"/>
            <a:ext cx="1776561" cy="62225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10118080" y="6376541"/>
            <a:ext cx="76200" cy="76200"/>
          </a:xfrm>
          <a:prstGeom prst="ellipse">
            <a:avLst/>
          </a:prstGeom>
          <a:solidFill>
            <a:srgbClr val="2E8B6E"/>
          </a:solidFill>
          <a:ln/>
        </p:spPr>
      </p:sp>
      <p:sp>
        <p:nvSpPr>
          <p:cNvPr id="147" name="Text 144"/>
          <p:cNvSpPr/>
          <p:nvPr/>
        </p:nvSpPr>
        <p:spPr>
          <a:xfrm>
            <a:off x="10251430" y="6347966"/>
            <a:ext cx="9382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938" b="1" spc="45" kern="0" dirty="0">
                <a:solidFill>
                  <a:srgbClr val="2E8B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AUTOMÁTICO</a:t>
            </a:r>
            <a:endParaRPr lang="en-US" sz="938" dirty="0"/>
          </a:p>
        </p:txBody>
      </p:sp>
      <p:sp>
        <p:nvSpPr>
          <p:cNvPr id="148" name="Text 145"/>
          <p:cNvSpPr/>
          <p:nvPr/>
        </p:nvSpPr>
        <p:spPr>
          <a:xfrm>
            <a:off x="10118080" y="6519416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Após receber arquivo</a:t>
            </a:r>
            <a:endParaRPr lang="en-US" sz="1163" dirty="0"/>
          </a:p>
        </p:txBody>
      </p:sp>
      <p:sp>
        <p:nvSpPr>
          <p:cNvPr id="149" name="Shape 146"/>
          <p:cNvSpPr/>
          <p:nvPr/>
        </p:nvSpPr>
        <p:spPr>
          <a:xfrm>
            <a:off x="11866066" y="6212235"/>
            <a:ext cx="1776710" cy="62225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50" name="Text 147"/>
          <p:cNvSpPr/>
          <p:nvPr/>
        </p:nvSpPr>
        <p:spPr>
          <a:xfrm>
            <a:off x="11989891" y="6428929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i="1" dirty="0">
                <a:solidFill>
                  <a:srgbClr val="8A93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validar</a:t>
            </a:r>
            <a:endParaRPr lang="en-US" sz="1163" dirty="0"/>
          </a:p>
        </p:txBody>
      </p:sp>
      <p:sp>
        <p:nvSpPr>
          <p:cNvPr id="151" name="Shape 148"/>
          <p:cNvSpPr/>
          <p:nvPr/>
        </p:nvSpPr>
        <p:spPr>
          <a:xfrm>
            <a:off x="13738027" y="6212235"/>
            <a:ext cx="1776710" cy="62225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52" name="Text 149"/>
          <p:cNvSpPr/>
          <p:nvPr/>
        </p:nvSpPr>
        <p:spPr>
          <a:xfrm>
            <a:off x="13861852" y="6334423"/>
            <a:ext cx="1605260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i="1" dirty="0">
                <a:solidFill>
                  <a:srgbClr val="8A93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Fluxo financeiro a validar</a:t>
            </a:r>
            <a:endParaRPr lang="en-US" sz="1163" dirty="0"/>
          </a:p>
        </p:txBody>
      </p:sp>
      <p:sp>
        <p:nvSpPr>
          <p:cNvPr id="153" name="Shape 150"/>
          <p:cNvSpPr/>
          <p:nvPr/>
        </p:nvSpPr>
        <p:spPr>
          <a:xfrm>
            <a:off x="15609987" y="6212235"/>
            <a:ext cx="2220664" cy="62225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15733812" y="6320135"/>
            <a:ext cx="217031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Automatizar TXT</a:t>
            </a:r>
            <a:endParaRPr lang="en-US" sz="1163" dirty="0"/>
          </a:p>
        </p:txBody>
      </p:sp>
      <p:sp>
        <p:nvSpPr>
          <p:cNvPr id="155" name="Text 152"/>
          <p:cNvSpPr/>
          <p:nvPr/>
        </p:nvSpPr>
        <p:spPr>
          <a:xfrm>
            <a:off x="15733812" y="6537573"/>
            <a:ext cx="217031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Somar consumos</a:t>
            </a:r>
            <a:endParaRPr lang="en-US" sz="1163" dirty="0"/>
          </a:p>
        </p:txBody>
      </p:sp>
      <p:sp>
        <p:nvSpPr>
          <p:cNvPr id="156" name="Shape 153"/>
          <p:cNvSpPr/>
          <p:nvPr/>
        </p:nvSpPr>
        <p:spPr>
          <a:xfrm>
            <a:off x="457200" y="6891635"/>
            <a:ext cx="1954262" cy="811113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581025" y="7196584"/>
            <a:ext cx="1877273" cy="23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58"/>
              </a:lnSpc>
              <a:buNone/>
            </a:pPr>
            <a:r>
              <a:rPr lang="en-US" sz="1238" b="1" dirty="0">
                <a:solidFill>
                  <a:srgbClr val="0B1D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Smart Target</a:t>
            </a:r>
            <a:endParaRPr lang="en-US" sz="1238" dirty="0"/>
          </a:p>
        </p:txBody>
      </p:sp>
      <p:sp>
        <p:nvSpPr>
          <p:cNvPr id="158" name="Shape 155"/>
          <p:cNvSpPr/>
          <p:nvPr/>
        </p:nvSpPr>
        <p:spPr>
          <a:xfrm>
            <a:off x="2506712" y="6891635"/>
            <a:ext cx="1776561" cy="811113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2630537" y="7202686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Salesforce</a:t>
            </a:r>
            <a:endParaRPr lang="en-US" sz="1163" dirty="0"/>
          </a:p>
        </p:txBody>
      </p:sp>
      <p:sp>
        <p:nvSpPr>
          <p:cNvPr id="160" name="Shape 157"/>
          <p:cNvSpPr/>
          <p:nvPr/>
        </p:nvSpPr>
        <p:spPr>
          <a:xfrm>
            <a:off x="4378523" y="6891635"/>
            <a:ext cx="1776710" cy="811113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4502348" y="7202686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i="1" dirty="0">
                <a:solidFill>
                  <a:srgbClr val="8A93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validar</a:t>
            </a:r>
            <a:endParaRPr lang="en-US" sz="1163" dirty="0"/>
          </a:p>
        </p:txBody>
      </p:sp>
      <p:sp>
        <p:nvSpPr>
          <p:cNvPr id="162" name="Shape 159"/>
          <p:cNvSpPr/>
          <p:nvPr/>
        </p:nvSpPr>
        <p:spPr>
          <a:xfrm>
            <a:off x="6250484" y="6891635"/>
            <a:ext cx="1776561" cy="811113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6374309" y="7094041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Bradesco: Metra</a:t>
            </a:r>
            <a:endParaRPr lang="en-US" sz="1163" dirty="0"/>
          </a:p>
        </p:txBody>
      </p:sp>
      <p:sp>
        <p:nvSpPr>
          <p:cNvPr id="164" name="Text 161"/>
          <p:cNvSpPr/>
          <p:nvPr/>
        </p:nvSpPr>
        <p:spPr>
          <a:xfrm>
            <a:off x="6374309" y="7311479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Demais: Flavia</a:t>
            </a:r>
            <a:endParaRPr lang="en-US" sz="1163" dirty="0"/>
          </a:p>
        </p:txBody>
      </p:sp>
      <p:sp>
        <p:nvSpPr>
          <p:cNvPr id="165" name="Shape 162"/>
          <p:cNvSpPr/>
          <p:nvPr/>
        </p:nvSpPr>
        <p:spPr>
          <a:xfrm>
            <a:off x="8122295" y="6891635"/>
            <a:ext cx="1776710" cy="811113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8246120" y="6999536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Bradesco: Metra</a:t>
            </a:r>
            <a:endParaRPr lang="en-US" sz="1163" dirty="0"/>
          </a:p>
        </p:txBody>
      </p:sp>
      <p:sp>
        <p:nvSpPr>
          <p:cNvPr id="167" name="Text 164"/>
          <p:cNvSpPr/>
          <p:nvPr/>
        </p:nvSpPr>
        <p:spPr>
          <a:xfrm>
            <a:off x="8246120" y="7216973"/>
            <a:ext cx="1605260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Demais: SAP · cadastro manual</a:t>
            </a:r>
            <a:endParaRPr lang="en-US" sz="1163" dirty="0"/>
          </a:p>
        </p:txBody>
      </p:sp>
      <p:sp>
        <p:nvSpPr>
          <p:cNvPr id="168" name="Shape 165"/>
          <p:cNvSpPr/>
          <p:nvPr/>
        </p:nvSpPr>
        <p:spPr>
          <a:xfrm>
            <a:off x="9994255" y="6891635"/>
            <a:ext cx="1776561" cy="811113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10118080" y="7094041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Bradesco: Balcão</a:t>
            </a:r>
            <a:endParaRPr lang="en-US" sz="1163" dirty="0"/>
          </a:p>
        </p:txBody>
      </p:sp>
      <p:sp>
        <p:nvSpPr>
          <p:cNvPr id="170" name="Text 167"/>
          <p:cNvSpPr/>
          <p:nvPr/>
        </p:nvSpPr>
        <p:spPr>
          <a:xfrm>
            <a:off x="10118080" y="7311479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Demais: Anna</a:t>
            </a:r>
            <a:endParaRPr lang="en-US" sz="1163" dirty="0"/>
          </a:p>
        </p:txBody>
      </p:sp>
      <p:sp>
        <p:nvSpPr>
          <p:cNvPr id="171" name="Shape 168"/>
          <p:cNvSpPr/>
          <p:nvPr/>
        </p:nvSpPr>
        <p:spPr>
          <a:xfrm>
            <a:off x="11866066" y="6891635"/>
            <a:ext cx="1776710" cy="811113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72" name="Text 169"/>
          <p:cNvSpPr/>
          <p:nvPr/>
        </p:nvSpPr>
        <p:spPr>
          <a:xfrm>
            <a:off x="11989891" y="7202686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i="1" dirty="0">
                <a:solidFill>
                  <a:srgbClr val="8A93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validar</a:t>
            </a:r>
            <a:endParaRPr lang="en-US" sz="1163" dirty="0"/>
          </a:p>
        </p:txBody>
      </p:sp>
      <p:sp>
        <p:nvSpPr>
          <p:cNvPr id="173" name="Shape 170"/>
          <p:cNvSpPr/>
          <p:nvPr/>
        </p:nvSpPr>
        <p:spPr>
          <a:xfrm>
            <a:off x="13738027" y="6891635"/>
            <a:ext cx="1776710" cy="811113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74" name="Text 171"/>
          <p:cNvSpPr/>
          <p:nvPr/>
        </p:nvSpPr>
        <p:spPr>
          <a:xfrm>
            <a:off x="13861852" y="7108329"/>
            <a:ext cx="1605260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Bradesco: baixa manual no Metra</a:t>
            </a:r>
            <a:endParaRPr lang="en-US" sz="1163" dirty="0"/>
          </a:p>
        </p:txBody>
      </p:sp>
      <p:sp>
        <p:nvSpPr>
          <p:cNvPr id="175" name="Shape 172"/>
          <p:cNvSpPr/>
          <p:nvPr/>
        </p:nvSpPr>
        <p:spPr>
          <a:xfrm>
            <a:off x="15609987" y="6891635"/>
            <a:ext cx="2220664" cy="811113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15733812" y="7094041"/>
            <a:ext cx="217031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Dois fluxos</a:t>
            </a:r>
            <a:endParaRPr lang="en-US" sz="1163" dirty="0"/>
          </a:p>
        </p:txBody>
      </p:sp>
      <p:sp>
        <p:nvSpPr>
          <p:cNvPr id="177" name="Text 174"/>
          <p:cNvSpPr/>
          <p:nvPr/>
        </p:nvSpPr>
        <p:spPr>
          <a:xfrm>
            <a:off x="15733812" y="7311479"/>
            <a:ext cx="217031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Risco de duplicar</a:t>
            </a:r>
            <a:endParaRPr lang="en-US" sz="1163" dirty="0"/>
          </a:p>
        </p:txBody>
      </p:sp>
      <p:sp>
        <p:nvSpPr>
          <p:cNvPr id="178" name="Shape 175"/>
          <p:cNvSpPr/>
          <p:nvPr/>
        </p:nvSpPr>
        <p:spPr>
          <a:xfrm>
            <a:off x="457200" y="7759898"/>
            <a:ext cx="1954262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581025" y="8060978"/>
            <a:ext cx="1877273" cy="23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58"/>
              </a:lnSpc>
              <a:buNone/>
            </a:pPr>
            <a:r>
              <a:rPr lang="en-US" sz="1238" b="1" dirty="0">
                <a:solidFill>
                  <a:srgbClr val="0B1D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 Surveillance</a:t>
            </a:r>
            <a:endParaRPr lang="en-US" sz="1238" dirty="0"/>
          </a:p>
        </p:txBody>
      </p:sp>
      <p:sp>
        <p:nvSpPr>
          <p:cNvPr id="180" name="Shape 177"/>
          <p:cNvSpPr/>
          <p:nvPr/>
        </p:nvSpPr>
        <p:spPr>
          <a:xfrm>
            <a:off x="2506712" y="7759898"/>
            <a:ext cx="1776561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2630537" y="8067080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Salesforce</a:t>
            </a:r>
            <a:endParaRPr lang="en-US" sz="1163" dirty="0"/>
          </a:p>
        </p:txBody>
      </p:sp>
      <p:sp>
        <p:nvSpPr>
          <p:cNvPr id="182" name="Shape 179"/>
          <p:cNvSpPr/>
          <p:nvPr/>
        </p:nvSpPr>
        <p:spPr>
          <a:xfrm>
            <a:off x="4378523" y="7759898"/>
            <a:ext cx="1776710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83" name="Text 180"/>
          <p:cNvSpPr/>
          <p:nvPr/>
        </p:nvSpPr>
        <p:spPr>
          <a:xfrm>
            <a:off x="4502348" y="8067080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i="1" dirty="0">
                <a:solidFill>
                  <a:srgbClr val="8A93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validar</a:t>
            </a:r>
            <a:endParaRPr lang="en-US" sz="1163" dirty="0"/>
          </a:p>
        </p:txBody>
      </p:sp>
      <p:sp>
        <p:nvSpPr>
          <p:cNvPr id="184" name="Shape 181"/>
          <p:cNvSpPr/>
          <p:nvPr/>
        </p:nvSpPr>
        <p:spPr>
          <a:xfrm>
            <a:off x="6250484" y="7759898"/>
            <a:ext cx="1776561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85" name="Text 182"/>
          <p:cNvSpPr/>
          <p:nvPr/>
        </p:nvSpPr>
        <p:spPr>
          <a:xfrm>
            <a:off x="6374309" y="7958286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Relatório CRM</a:t>
            </a:r>
            <a:endParaRPr lang="en-US" sz="1163" dirty="0"/>
          </a:p>
        </p:txBody>
      </p:sp>
      <p:sp>
        <p:nvSpPr>
          <p:cNvPr id="186" name="Text 183"/>
          <p:cNvSpPr/>
          <p:nvPr/>
        </p:nvSpPr>
        <p:spPr>
          <a:xfrm>
            <a:off x="6374309" y="8175724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Flavia</a:t>
            </a:r>
            <a:endParaRPr lang="en-US" sz="1163" dirty="0"/>
          </a:p>
        </p:txBody>
      </p:sp>
      <p:sp>
        <p:nvSpPr>
          <p:cNvPr id="187" name="Shape 184"/>
          <p:cNvSpPr/>
          <p:nvPr/>
        </p:nvSpPr>
        <p:spPr>
          <a:xfrm>
            <a:off x="8122295" y="7759898"/>
            <a:ext cx="1776710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8246120" y="8014692"/>
            <a:ext cx="76200" cy="762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189" name="Text 186"/>
          <p:cNvSpPr/>
          <p:nvPr/>
        </p:nvSpPr>
        <p:spPr>
          <a:xfrm>
            <a:off x="8379470" y="7986117"/>
            <a:ext cx="626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938" b="1" spc="45" kern="0" dirty="0">
                <a:solidFill>
                  <a:srgbClr val="B077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</a:t>
            </a:r>
            <a:endParaRPr lang="en-US" sz="938" dirty="0"/>
          </a:p>
        </p:txBody>
      </p:sp>
      <p:sp>
        <p:nvSpPr>
          <p:cNvPr id="190" name="Text 187"/>
          <p:cNvSpPr/>
          <p:nvPr/>
        </p:nvSpPr>
        <p:spPr>
          <a:xfrm>
            <a:off x="8246120" y="8157567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SAP</a:t>
            </a:r>
            <a:endParaRPr lang="en-US" sz="1163" dirty="0"/>
          </a:p>
        </p:txBody>
      </p:sp>
      <p:sp>
        <p:nvSpPr>
          <p:cNvPr id="191" name="Shape 188"/>
          <p:cNvSpPr/>
          <p:nvPr/>
        </p:nvSpPr>
        <p:spPr>
          <a:xfrm>
            <a:off x="9994255" y="7759898"/>
            <a:ext cx="1776561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10118080" y="7905899"/>
            <a:ext cx="76200" cy="762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193" name="Text 190"/>
          <p:cNvSpPr/>
          <p:nvPr/>
        </p:nvSpPr>
        <p:spPr>
          <a:xfrm>
            <a:off x="10251430" y="7877324"/>
            <a:ext cx="626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938" b="1" spc="45" kern="0" dirty="0">
                <a:solidFill>
                  <a:srgbClr val="B077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</a:t>
            </a:r>
            <a:endParaRPr lang="en-US" sz="938" dirty="0"/>
          </a:p>
        </p:txBody>
      </p:sp>
      <p:sp>
        <p:nvSpPr>
          <p:cNvPr id="194" name="Text 191"/>
          <p:cNvSpPr/>
          <p:nvPr/>
        </p:nvSpPr>
        <p:spPr>
          <a:xfrm>
            <a:off x="10118080" y="8048774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SAP</a:t>
            </a:r>
            <a:endParaRPr lang="en-US" sz="1163" dirty="0"/>
          </a:p>
        </p:txBody>
      </p:sp>
      <p:sp>
        <p:nvSpPr>
          <p:cNvPr id="195" name="Text 192"/>
          <p:cNvSpPr/>
          <p:nvPr/>
        </p:nvSpPr>
        <p:spPr>
          <a:xfrm>
            <a:off x="10118080" y="8266212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 da Anna</a:t>
            </a:r>
            <a:endParaRPr lang="en-US" sz="1163" dirty="0"/>
          </a:p>
        </p:txBody>
      </p:sp>
      <p:sp>
        <p:nvSpPr>
          <p:cNvPr id="196" name="Shape 193"/>
          <p:cNvSpPr/>
          <p:nvPr/>
        </p:nvSpPr>
        <p:spPr>
          <a:xfrm>
            <a:off x="11866066" y="7759898"/>
            <a:ext cx="1776710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97" name="Text 194"/>
          <p:cNvSpPr/>
          <p:nvPr/>
        </p:nvSpPr>
        <p:spPr>
          <a:xfrm>
            <a:off x="11989891" y="8067080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i="1" dirty="0">
                <a:solidFill>
                  <a:srgbClr val="8A93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validar</a:t>
            </a:r>
            <a:endParaRPr lang="en-US" sz="1163" dirty="0"/>
          </a:p>
        </p:txBody>
      </p:sp>
      <p:sp>
        <p:nvSpPr>
          <p:cNvPr id="198" name="Shape 195"/>
          <p:cNvSpPr/>
          <p:nvPr/>
        </p:nvSpPr>
        <p:spPr>
          <a:xfrm>
            <a:off x="13738027" y="7759898"/>
            <a:ext cx="1776710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99" name="Text 196"/>
          <p:cNvSpPr/>
          <p:nvPr/>
        </p:nvSpPr>
        <p:spPr>
          <a:xfrm>
            <a:off x="13861852" y="7972574"/>
            <a:ext cx="1605260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i="1" dirty="0">
                <a:solidFill>
                  <a:srgbClr val="8A93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Fluxo financeiro a validar</a:t>
            </a:r>
            <a:endParaRPr lang="en-US" sz="1163" dirty="0"/>
          </a:p>
        </p:txBody>
      </p:sp>
      <p:sp>
        <p:nvSpPr>
          <p:cNvPr id="200" name="Shape 197"/>
          <p:cNvSpPr/>
          <p:nvPr/>
        </p:nvSpPr>
        <p:spPr>
          <a:xfrm>
            <a:off x="15609987" y="7759898"/>
            <a:ext cx="2220664" cy="803225"/>
          </a:xfrm>
          <a:prstGeom prst="roundRect">
            <a:avLst>
              <a:gd name="adj" fmla="val 7115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15733812" y="7972574"/>
            <a:ext cx="2049214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Confirmar envio e faturamento</a:t>
            </a:r>
            <a:endParaRPr lang="en-US" sz="1163" dirty="0"/>
          </a:p>
        </p:txBody>
      </p:sp>
      <p:sp>
        <p:nvSpPr>
          <p:cNvPr id="202" name="Shape 199"/>
          <p:cNvSpPr/>
          <p:nvPr/>
        </p:nvSpPr>
        <p:spPr>
          <a:xfrm>
            <a:off x="457200" y="8620274"/>
            <a:ext cx="1954262" cy="102855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03" name="Text 200"/>
          <p:cNvSpPr/>
          <p:nvPr/>
        </p:nvSpPr>
        <p:spPr>
          <a:xfrm>
            <a:off x="581025" y="9034016"/>
            <a:ext cx="1877273" cy="239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58"/>
              </a:lnSpc>
              <a:buNone/>
            </a:pPr>
            <a:r>
              <a:rPr lang="en-US" sz="1238" b="1" dirty="0">
                <a:solidFill>
                  <a:srgbClr val="0B1D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Indicadores*</a:t>
            </a:r>
            <a:endParaRPr lang="en-US" sz="1238" dirty="0"/>
          </a:p>
        </p:txBody>
      </p:sp>
      <p:sp>
        <p:nvSpPr>
          <p:cNvPr id="204" name="Shape 201"/>
          <p:cNvSpPr/>
          <p:nvPr/>
        </p:nvSpPr>
        <p:spPr>
          <a:xfrm>
            <a:off x="2506712" y="8620274"/>
            <a:ext cx="1776561" cy="102855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05" name="Text 202"/>
          <p:cNvSpPr/>
          <p:nvPr/>
        </p:nvSpPr>
        <p:spPr>
          <a:xfrm>
            <a:off x="2630537" y="9040118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Salesforce</a:t>
            </a:r>
            <a:endParaRPr lang="en-US" sz="1163" dirty="0"/>
          </a:p>
        </p:txBody>
      </p:sp>
      <p:sp>
        <p:nvSpPr>
          <p:cNvPr id="206" name="Shape 203"/>
          <p:cNvSpPr/>
          <p:nvPr/>
        </p:nvSpPr>
        <p:spPr>
          <a:xfrm>
            <a:off x="4378523" y="8620274"/>
            <a:ext cx="1776710" cy="102855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07" name="Text 204"/>
          <p:cNvSpPr/>
          <p:nvPr/>
        </p:nvSpPr>
        <p:spPr>
          <a:xfrm>
            <a:off x="4502348" y="9040118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i="1" dirty="0">
                <a:solidFill>
                  <a:srgbClr val="8A93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validar</a:t>
            </a:r>
            <a:endParaRPr lang="en-US" sz="1163" dirty="0"/>
          </a:p>
        </p:txBody>
      </p:sp>
      <p:sp>
        <p:nvSpPr>
          <p:cNvPr id="208" name="Shape 205"/>
          <p:cNvSpPr/>
          <p:nvPr/>
        </p:nvSpPr>
        <p:spPr>
          <a:xfrm>
            <a:off x="6250484" y="8620274"/>
            <a:ext cx="1776561" cy="102855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09" name="Text 206"/>
          <p:cNvSpPr/>
          <p:nvPr/>
        </p:nvSpPr>
        <p:spPr>
          <a:xfrm>
            <a:off x="6374309" y="8836968"/>
            <a:ext cx="1681802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Igor / Jenny</a:t>
            </a:r>
            <a:endParaRPr lang="en-US" sz="1163" dirty="0"/>
          </a:p>
        </p:txBody>
      </p:sp>
      <p:sp>
        <p:nvSpPr>
          <p:cNvPr id="210" name="Text 207"/>
          <p:cNvSpPr/>
          <p:nvPr/>
        </p:nvSpPr>
        <p:spPr>
          <a:xfrm>
            <a:off x="6374309" y="9054405"/>
            <a:ext cx="1605111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Cadastro manual no Metra</a:t>
            </a:r>
            <a:endParaRPr lang="en-US" sz="1163" dirty="0"/>
          </a:p>
        </p:txBody>
      </p:sp>
      <p:sp>
        <p:nvSpPr>
          <p:cNvPr id="211" name="Shape 208"/>
          <p:cNvSpPr/>
          <p:nvPr/>
        </p:nvSpPr>
        <p:spPr>
          <a:xfrm>
            <a:off x="8122295" y="8620274"/>
            <a:ext cx="1776710" cy="102855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8246120" y="8784580"/>
            <a:ext cx="76200" cy="76200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213" name="Text 210"/>
          <p:cNvSpPr/>
          <p:nvPr/>
        </p:nvSpPr>
        <p:spPr>
          <a:xfrm>
            <a:off x="8379470" y="8756005"/>
            <a:ext cx="6264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938" b="1" spc="45" kern="0" dirty="0">
                <a:solidFill>
                  <a:srgbClr val="B077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</a:t>
            </a:r>
            <a:endParaRPr lang="en-US" sz="938" dirty="0"/>
          </a:p>
        </p:txBody>
      </p:sp>
      <p:sp>
        <p:nvSpPr>
          <p:cNvPr id="214" name="Text 211"/>
          <p:cNvSpPr/>
          <p:nvPr/>
        </p:nvSpPr>
        <p:spPr>
          <a:xfrm>
            <a:off x="8246120" y="8927455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Metra (Balcão e UIF)</a:t>
            </a:r>
            <a:endParaRPr lang="en-US" sz="1163" dirty="0"/>
          </a:p>
        </p:txBody>
      </p:sp>
      <p:sp>
        <p:nvSpPr>
          <p:cNvPr id="215" name="Text 212"/>
          <p:cNvSpPr/>
          <p:nvPr/>
        </p:nvSpPr>
        <p:spPr>
          <a:xfrm>
            <a:off x="8246120" y="9144893"/>
            <a:ext cx="1605260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Exceção: Reports automático</a:t>
            </a:r>
            <a:endParaRPr lang="en-US" sz="1163" dirty="0"/>
          </a:p>
        </p:txBody>
      </p:sp>
      <p:sp>
        <p:nvSpPr>
          <p:cNvPr id="216" name="Shape 213"/>
          <p:cNvSpPr/>
          <p:nvPr/>
        </p:nvSpPr>
        <p:spPr>
          <a:xfrm>
            <a:off x="9994255" y="8620274"/>
            <a:ext cx="1776561" cy="102855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17" name="Text 214"/>
          <p:cNvSpPr/>
          <p:nvPr/>
        </p:nvSpPr>
        <p:spPr>
          <a:xfrm>
            <a:off x="10118080" y="8742462"/>
            <a:ext cx="1605111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Igor / Jenny · recorrência Metra</a:t>
            </a:r>
            <a:endParaRPr lang="en-US" sz="1163" dirty="0"/>
          </a:p>
        </p:txBody>
      </p:sp>
      <p:sp>
        <p:nvSpPr>
          <p:cNvPr id="218" name="Text 215"/>
          <p:cNvSpPr/>
          <p:nvPr/>
        </p:nvSpPr>
        <p:spPr>
          <a:xfrm>
            <a:off x="10118080" y="9148763"/>
            <a:ext cx="1605111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Integração SAP automática</a:t>
            </a:r>
            <a:endParaRPr lang="en-US" sz="1163" dirty="0"/>
          </a:p>
        </p:txBody>
      </p:sp>
      <p:sp>
        <p:nvSpPr>
          <p:cNvPr id="219" name="Shape 216"/>
          <p:cNvSpPr/>
          <p:nvPr/>
        </p:nvSpPr>
        <p:spPr>
          <a:xfrm>
            <a:off x="11866066" y="8620274"/>
            <a:ext cx="1776710" cy="102855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20" name="Text 217"/>
          <p:cNvSpPr/>
          <p:nvPr/>
        </p:nvSpPr>
        <p:spPr>
          <a:xfrm>
            <a:off x="11989891" y="8931325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Via Reports: NoMe</a:t>
            </a:r>
            <a:endParaRPr lang="en-US" sz="1163" dirty="0"/>
          </a:p>
        </p:txBody>
      </p:sp>
      <p:sp>
        <p:nvSpPr>
          <p:cNvPr id="221" name="Text 218"/>
          <p:cNvSpPr/>
          <p:nvPr/>
        </p:nvSpPr>
        <p:spPr>
          <a:xfrm>
            <a:off x="11989891" y="9148763"/>
            <a:ext cx="168196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Demais: a validar</a:t>
            </a:r>
            <a:endParaRPr lang="en-US" sz="1163" dirty="0"/>
          </a:p>
        </p:txBody>
      </p:sp>
      <p:sp>
        <p:nvSpPr>
          <p:cNvPr id="222" name="Shape 219"/>
          <p:cNvSpPr/>
          <p:nvPr/>
        </p:nvSpPr>
        <p:spPr>
          <a:xfrm>
            <a:off x="13738027" y="8620274"/>
            <a:ext cx="1776710" cy="102855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23" name="Text 220"/>
          <p:cNvSpPr/>
          <p:nvPr/>
        </p:nvSpPr>
        <p:spPr>
          <a:xfrm>
            <a:off x="13861852" y="8742462"/>
            <a:ext cx="1605260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Baixa / alteração manual no Metra</a:t>
            </a:r>
            <a:endParaRPr lang="en-US" sz="1163" dirty="0"/>
          </a:p>
        </p:txBody>
      </p:sp>
      <p:sp>
        <p:nvSpPr>
          <p:cNvPr id="224" name="Text 221"/>
          <p:cNvSpPr/>
          <p:nvPr/>
        </p:nvSpPr>
        <p:spPr>
          <a:xfrm>
            <a:off x="13861852" y="9148763"/>
            <a:ext cx="1605260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 integração com Salesforce</a:t>
            </a:r>
            <a:endParaRPr lang="en-US" sz="1163" dirty="0"/>
          </a:p>
        </p:txBody>
      </p:sp>
      <p:sp>
        <p:nvSpPr>
          <p:cNvPr id="225" name="Shape 222"/>
          <p:cNvSpPr/>
          <p:nvPr/>
        </p:nvSpPr>
        <p:spPr>
          <a:xfrm>
            <a:off x="15609987" y="8620274"/>
            <a:ext cx="2220664" cy="1028551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15733812" y="8728174"/>
            <a:ext cx="217031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SKU / CNPJ / fiscal</a:t>
            </a:r>
            <a:endParaRPr lang="en-US" sz="1163" dirty="0"/>
          </a:p>
        </p:txBody>
      </p:sp>
      <p:sp>
        <p:nvSpPr>
          <p:cNvPr id="227" name="Text 224"/>
          <p:cNvSpPr/>
          <p:nvPr/>
        </p:nvSpPr>
        <p:spPr>
          <a:xfrm>
            <a:off x="15733812" y="8945612"/>
            <a:ext cx="2049214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Evitar duplicidade Reports, Metra e SAP</a:t>
            </a:r>
            <a:endParaRPr lang="en-US" sz="1163" dirty="0"/>
          </a:p>
        </p:txBody>
      </p:sp>
      <p:sp>
        <p:nvSpPr>
          <p:cNvPr id="228" name="Text 225"/>
          <p:cNvSpPr/>
          <p:nvPr/>
        </p:nvSpPr>
        <p:spPr>
          <a:xfrm>
            <a:off x="15733812" y="9351913"/>
            <a:ext cx="2170316" cy="226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22"/>
              </a:lnSpc>
              <a:buNone/>
            </a:pPr>
            <a:r>
              <a:rPr lang="en-US" sz="1163" dirty="0">
                <a:solidFill>
                  <a:srgbClr val="2430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Padronizar nomes</a:t>
            </a:r>
            <a:endParaRPr lang="en-US" sz="1163" dirty="0"/>
          </a:p>
        </p:txBody>
      </p:sp>
      <p:sp>
        <p:nvSpPr>
          <p:cNvPr id="229" name="Text 226"/>
          <p:cNvSpPr/>
          <p:nvPr/>
        </p:nvSpPr>
        <p:spPr>
          <a:xfrm>
            <a:off x="457200" y="9782175"/>
            <a:ext cx="38670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A8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* Indicadores: Reports, Metra e planilha SAP coexistem</a:t>
            </a:r>
            <a:endParaRPr lang="en-US" sz="1125" dirty="0"/>
          </a:p>
        </p:txBody>
      </p:sp>
      <p:sp>
        <p:nvSpPr>
          <p:cNvPr id="230" name="Text 227"/>
          <p:cNvSpPr/>
          <p:nvPr/>
        </p:nvSpPr>
        <p:spPr>
          <a:xfrm>
            <a:off x="17671852" y="9782175"/>
            <a:ext cx="2351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A84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2026-10-12T20:28:36Z</dcterms:created>
  <dcterms:modified xsi:type="dcterms:W3CDTF">2026-10-12T20:28:36Z</dcterms:modified>
</cp:coreProperties>
</file>