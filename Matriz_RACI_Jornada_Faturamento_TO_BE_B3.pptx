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C:/Users/anton/Downloads/Fluxos Projeto de Unificação .pdf (28 páginas; leitura integral, com foco nos fluxos marcados como To Be), complementada pelos papéis informados pelo usuário na conversa. Atribuições RACI são uma proposta de governança para validação; não representam aprovação formal. Produtos/Pricing aparece no PDF, mas não teve responsável nominal informado.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Fonte: C:/Users/anton/Downloads/Fluxos Projeto de Unificação .pdf (28 páginas; leitura integral, com foco nos fluxos marcados como To Be), complementada pelos papéis informados pelo usuário na conversa. Atribuições RACI são uma proposta de governança para validação; não representam aprovação formal. Produtos/Pricing aparece no PDF, mas não teve responsável nominal informado.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 36">
            <a:extLst>
              <a:ext uri="{FF2B5EF4-FFF2-40B4-BE49-F238E27FC236}">
                <a16:creationId xmlns:a16="http://schemas.microsoft.com/office/drawing/2014/main" id="{68A2E6BD-9F1D-4397-9988-365CABFA67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64EA8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28BB4D7-8B48-48ED-8B1B-3B5AC4D6A91A}"/>
              </a:ext>
            </a:extLst>
          </p:cNvPr>
          <p:cNvSpPr>
            <a:spLocks noGrp="1"/>
          </p:cNvSpPr>
          <p:nvPr/>
        </p:nvSpPr>
        <p:spPr>
          <a:xfrm>
            <a:off x="190500" y="66675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[B]³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6BD7FBC-EDEC-49A9-A542-70EAC3D568BB}"/>
              </a:ext>
            </a:extLst>
          </p:cNvPr>
          <p:cNvSpPr>
            <a:spLocks noGrp="1"/>
          </p:cNvSpPr>
          <p:nvPr/>
        </p:nvSpPr>
        <p:spPr>
          <a:xfrm>
            <a:off x="685800" y="66675"/>
            <a:ext cx="10839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Faturamento Trillia | Matriz RACI da jornada TO-BE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0D67AA7-6FC5-4E44-8997-99FF4E5DCDA9}"/>
              </a:ext>
            </a:extLst>
          </p:cNvPr>
          <p:cNvSpPr>
            <a:spLocks noGrp="1"/>
          </p:cNvSpPr>
          <p:nvPr/>
        </p:nvSpPr>
        <p:spPr>
          <a:xfrm>
            <a:off x="361950" y="733425"/>
            <a:ext cx="876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001A5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1A59"/>
                </a:solidFill>
                <a:latin typeface="Arial"/>
                <a:ea typeface="Arial"/>
                <a:cs typeface="Arial"/>
              </a:rPr>
              <a:t>RACI operacional | Da oportunidade à cobrança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4E5E75D-C43B-4FA9-8741-C0F468DA734F}"/>
              </a:ext>
            </a:extLst>
          </p:cNvPr>
          <p:cNvSpPr>
            <a:spLocks noGrp="1"/>
          </p:cNvSpPr>
          <p:nvPr/>
        </p:nvSpPr>
        <p:spPr>
          <a:xfrm>
            <a:off x="361950" y="1019175"/>
            <a:ext cx="876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Fluxo futuro consolidado: Salesforce → Metranet → SAP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1932371-02FF-4DBB-A61B-E9FFFC6CAA99}"/>
              </a:ext>
            </a:extLst>
          </p:cNvPr>
          <p:cNvSpPr>
            <a:spLocks noGrp="1"/>
          </p:cNvSpPr>
          <p:nvPr/>
        </p:nvSpPr>
        <p:spPr>
          <a:xfrm>
            <a:off x="9620250" y="790575"/>
            <a:ext cx="2209800" cy="361950"/>
          </a:xfrm>
          <a:prstGeom prst="roundRect">
            <a:avLst>
              <a:gd name="adj" fmla="val 13158"/>
            </a:avLst>
          </a:prstGeom>
          <a:solidFill>
            <a:srgbClr val="FFF1E4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7F76DD1-B397-42DC-AD3E-EBD778DCBB33}"/>
              </a:ext>
            </a:extLst>
          </p:cNvPr>
          <p:cNvSpPr>
            <a:spLocks noGrp="1"/>
          </p:cNvSpPr>
          <p:nvPr/>
        </p:nvSpPr>
        <p:spPr>
          <a:xfrm>
            <a:off x="9715500" y="847725"/>
            <a:ext cx="20193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 i="0">
                <a:solidFill>
                  <a:srgbClr val="B45E1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45E14"/>
                </a:solidFill>
                <a:latin typeface="Arial"/>
                <a:ea typeface="Arial"/>
                <a:cs typeface="Arial"/>
              </a:rPr>
              <a:t>PROPOSTA PARA VALIDAÇÃO</a:t>
            </a:r>
          </a:p>
        </p:txBody>
      </p:sp>
      <p:graphicFrame>
        <p:nvGraphicFramePr>
          <p:cNvPr id="44" name="Tabela 43"/>
          <p:cNvGraphicFramePr/>
          <p:nvPr/>
        </p:nvGraphicFramePr>
        <p:xfrm>
          <a:off x="266700" y="1352550"/>
          <a:ext cx="11658600" cy="4762500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ETAPA / ATIVIDADE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Produtos /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Pricing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(a confirmar)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Comercial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Flavia</a:t>
                      </a:r>
                    </a:p>
                  </a:txBody>
                  <a:tcPr anchor="ctr">
                    <a:solidFill>
                      <a:srgbClr val="064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Salesforce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Técnico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Metranet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Negócio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Igor Bebert</a:t>
                      </a:r>
                    </a:p>
                  </a:txBody>
                  <a:tcPr anchor="ctr">
                    <a:solidFill>
                      <a:srgbClr val="064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Metranet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Técnico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Victor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 / Financeiro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Negócio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Juliana Cicarelli</a:t>
                      </a:r>
                    </a:p>
                  </a:txBody>
                  <a:tcPr anchor="ctr">
                    <a:solidFill>
                      <a:srgbClr val="064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Técnico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Thiago Talarico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Sucesso do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Cliente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Gabriela Cotrim</a:t>
                      </a:r>
                    </a:p>
                  </a:txBody>
                  <a:tcPr anchor="ctr">
                    <a:solidFill>
                      <a:srgbClr val="064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Inteligência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 Processos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APR</a:t>
                      </a:r>
                    </a:p>
                  </a:txBody>
                  <a:tcPr anchor="ctr">
                    <a:solidFill>
                      <a:srgbClr val="064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Cadastrar produto/SKU e parametrizar precificação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Registrar oportunidade, contrato e rateios no Salesforce</a:t>
                      </a:r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Validar dados comerciais e condições de faturamento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Integrar contrato e rateios: Salesforce → Metranet</a:t>
                      </a:r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08B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064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Importar consumo/arquivos no Metranet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Executar bilhetagem e calcular faturamento</a:t>
                      </a:r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Validar base e aprovar faturamento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08B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064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Integrar bilhetagem: Metranet → SAP</a:t>
                      </a:r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08B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064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Emitir NF/boletos e enviar ao cliente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Baixar títulos, cobrar e tratar divergências</a:t>
                      </a:r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Retângulo 8">
            <a:extLst>
              <a:ext uri="{FF2B5EF4-FFF2-40B4-BE49-F238E27FC236}">
                <a16:creationId xmlns:a16="http://schemas.microsoft.com/office/drawing/2014/main" id="{7E4CB9C4-CD45-4609-87A8-380C10236FB6}"/>
              </a:ext>
            </a:extLst>
          </p:cNvPr>
          <p:cNvSpPr>
            <a:spLocks noGrp="1"/>
          </p:cNvSpPr>
          <p:nvPr/>
        </p:nvSpPr>
        <p:spPr>
          <a:xfrm>
            <a:off x="266700" y="2076450"/>
            <a:ext cx="66675" cy="403860"/>
          </a:xfrm>
          <a:prstGeom prst="rect">
            <a:avLst/>
          </a:prstGeom>
          <a:solidFill>
            <a:srgbClr val="064EA8"/>
          </a:solidFill>
          <a:ln w="0">
            <a:noFill/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0513AF4-D244-4183-B711-BE190ED5BB7C}"/>
              </a:ext>
            </a:extLst>
          </p:cNvPr>
          <p:cNvSpPr>
            <a:spLocks noGrp="1"/>
          </p:cNvSpPr>
          <p:nvPr/>
        </p:nvSpPr>
        <p:spPr>
          <a:xfrm>
            <a:off x="266700" y="2480310"/>
            <a:ext cx="66675" cy="403860"/>
          </a:xfrm>
          <a:prstGeom prst="rect">
            <a:avLst/>
          </a:prstGeom>
          <a:solidFill>
            <a:srgbClr val="064EA8"/>
          </a:solidFill>
          <a:ln w="0">
            <a:noFill/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E165D61-F519-4C86-9DB1-E67217F97612}"/>
              </a:ext>
            </a:extLst>
          </p:cNvPr>
          <p:cNvSpPr>
            <a:spLocks noGrp="1"/>
          </p:cNvSpPr>
          <p:nvPr/>
        </p:nvSpPr>
        <p:spPr>
          <a:xfrm>
            <a:off x="266700" y="2884170"/>
            <a:ext cx="66675" cy="403860"/>
          </a:xfrm>
          <a:prstGeom prst="rect">
            <a:avLst/>
          </a:prstGeom>
          <a:solidFill>
            <a:srgbClr val="064EA8"/>
          </a:solidFill>
          <a:ln w="0">
            <a:noFill/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EE4482F-F676-418B-94C8-B1A1DEE064E8}"/>
              </a:ext>
            </a:extLst>
          </p:cNvPr>
          <p:cNvSpPr>
            <a:spLocks noGrp="1"/>
          </p:cNvSpPr>
          <p:nvPr/>
        </p:nvSpPr>
        <p:spPr>
          <a:xfrm>
            <a:off x="266700" y="3288030"/>
            <a:ext cx="66675" cy="403860"/>
          </a:xfrm>
          <a:prstGeom prst="rect">
            <a:avLst/>
          </a:prstGeom>
          <a:solidFill>
            <a:srgbClr val="00A6CE"/>
          </a:solidFill>
          <a:ln w="0">
            <a:noFill/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8E24DA8-F3E0-4E9F-A11D-84B064791411}"/>
              </a:ext>
            </a:extLst>
          </p:cNvPr>
          <p:cNvSpPr>
            <a:spLocks noGrp="1"/>
          </p:cNvSpPr>
          <p:nvPr/>
        </p:nvSpPr>
        <p:spPr>
          <a:xfrm>
            <a:off x="266700" y="3691890"/>
            <a:ext cx="66675" cy="403860"/>
          </a:xfrm>
          <a:prstGeom prst="rect">
            <a:avLst/>
          </a:prstGeom>
          <a:solidFill>
            <a:srgbClr val="008B94"/>
          </a:solidFill>
          <a:ln w="0">
            <a:noFill/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BB93657-87D1-4B2F-8174-86D236E98CFB}"/>
              </a:ext>
            </a:extLst>
          </p:cNvPr>
          <p:cNvSpPr>
            <a:spLocks noGrp="1"/>
          </p:cNvSpPr>
          <p:nvPr/>
        </p:nvSpPr>
        <p:spPr>
          <a:xfrm>
            <a:off x="266700" y="4095750"/>
            <a:ext cx="66675" cy="403860"/>
          </a:xfrm>
          <a:prstGeom prst="rect">
            <a:avLst/>
          </a:prstGeom>
          <a:solidFill>
            <a:srgbClr val="008B94"/>
          </a:solidFill>
          <a:ln w="0">
            <a:noFill/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8E68267-3FEA-45A8-A7E0-04D3C006B1B0}"/>
              </a:ext>
            </a:extLst>
          </p:cNvPr>
          <p:cNvSpPr>
            <a:spLocks noGrp="1"/>
          </p:cNvSpPr>
          <p:nvPr/>
        </p:nvSpPr>
        <p:spPr>
          <a:xfrm>
            <a:off x="266700" y="4499610"/>
            <a:ext cx="66675" cy="403860"/>
          </a:xfrm>
          <a:prstGeom prst="rect">
            <a:avLst/>
          </a:prstGeom>
          <a:solidFill>
            <a:srgbClr val="008B94"/>
          </a:solidFill>
          <a:ln w="0">
            <a:noFill/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59C693-0EFD-4DA7-B323-5B440698F6A8}"/>
              </a:ext>
            </a:extLst>
          </p:cNvPr>
          <p:cNvSpPr>
            <a:spLocks noGrp="1"/>
          </p:cNvSpPr>
          <p:nvPr/>
        </p:nvSpPr>
        <p:spPr>
          <a:xfrm>
            <a:off x="266700" y="4903470"/>
            <a:ext cx="66675" cy="403860"/>
          </a:xfrm>
          <a:prstGeom prst="rect">
            <a:avLst/>
          </a:prstGeom>
          <a:solidFill>
            <a:srgbClr val="00A6CE"/>
          </a:solidFill>
          <a:ln w="0">
            <a:noFill/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D5CBF6D-E144-46D0-A024-03B9A34C9547}"/>
              </a:ext>
            </a:extLst>
          </p:cNvPr>
          <p:cNvSpPr>
            <a:spLocks noGrp="1"/>
          </p:cNvSpPr>
          <p:nvPr/>
        </p:nvSpPr>
        <p:spPr>
          <a:xfrm>
            <a:off x="266700" y="5307330"/>
            <a:ext cx="66675" cy="403860"/>
          </a:xfrm>
          <a:prstGeom prst="rect">
            <a:avLst/>
          </a:prstGeom>
          <a:solidFill>
            <a:srgbClr val="001A59"/>
          </a:solidFill>
          <a:ln w="0">
            <a:noFill/>
            <a:prstDash val="solid"/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BED1E04-D7C9-432A-A5E9-B002F7FDA841}"/>
              </a:ext>
            </a:extLst>
          </p:cNvPr>
          <p:cNvSpPr>
            <a:spLocks noGrp="1"/>
          </p:cNvSpPr>
          <p:nvPr/>
        </p:nvSpPr>
        <p:spPr>
          <a:xfrm>
            <a:off x="266700" y="5711190"/>
            <a:ext cx="66675" cy="403860"/>
          </a:xfrm>
          <a:prstGeom prst="rect">
            <a:avLst/>
          </a:prstGeom>
          <a:solidFill>
            <a:srgbClr val="001A59"/>
          </a:solidFill>
          <a:ln w="0">
            <a:noFill/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0F59A1B-8714-47F6-98DB-3F744B27901D}"/>
              </a:ext>
            </a:extLst>
          </p:cNvPr>
          <p:cNvSpPr>
            <a:spLocks noGrp="1"/>
          </p:cNvSpPr>
          <p:nvPr/>
        </p:nvSpPr>
        <p:spPr>
          <a:xfrm>
            <a:off x="361950" y="6229350"/>
            <a:ext cx="6477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LEGENDA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8DE0BDE-AD98-4E2C-B14D-2657AE18184C}"/>
              </a:ext>
            </a:extLst>
          </p:cNvPr>
          <p:cNvSpPr>
            <a:spLocks noGrp="1"/>
          </p:cNvSpPr>
          <p:nvPr/>
        </p:nvSpPr>
        <p:spPr>
          <a:xfrm>
            <a:off x="1028700" y="6219825"/>
            <a:ext cx="285750" cy="190500"/>
          </a:xfrm>
          <a:prstGeom prst="roundRect">
            <a:avLst>
              <a:gd name="adj" fmla="val 15000"/>
            </a:avLst>
          </a:prstGeom>
          <a:solidFill>
            <a:srgbClr val="001A59"/>
          </a:solidFill>
          <a:ln w="3810">
            <a:solidFill>
              <a:srgbClr val="C6D5E5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A6C0061-4269-49E9-9903-319E3A3BA6B3}"/>
              </a:ext>
            </a:extLst>
          </p:cNvPr>
          <p:cNvSpPr>
            <a:spLocks noGrp="1"/>
          </p:cNvSpPr>
          <p:nvPr/>
        </p:nvSpPr>
        <p:spPr>
          <a:xfrm>
            <a:off x="1028700" y="6229350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A/R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27C1A11-DAD4-4C44-A7CE-D1DE62A48CBF}"/>
              </a:ext>
            </a:extLst>
          </p:cNvPr>
          <p:cNvSpPr>
            <a:spLocks noGrp="1"/>
          </p:cNvSpPr>
          <p:nvPr/>
        </p:nvSpPr>
        <p:spPr>
          <a:xfrm>
            <a:off x="1371600" y="6229350"/>
            <a:ext cx="1352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13" b="0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Executa e responde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07889FD8-9AC3-44A3-A19E-0E154BCF8AA3}"/>
              </a:ext>
            </a:extLst>
          </p:cNvPr>
          <p:cNvSpPr>
            <a:spLocks noGrp="1"/>
          </p:cNvSpPr>
          <p:nvPr/>
        </p:nvSpPr>
        <p:spPr>
          <a:xfrm>
            <a:off x="2781300" y="6219825"/>
            <a:ext cx="285750" cy="190500"/>
          </a:xfrm>
          <a:prstGeom prst="roundRect">
            <a:avLst>
              <a:gd name="adj" fmla="val 15000"/>
            </a:avLst>
          </a:prstGeom>
          <a:solidFill>
            <a:srgbClr val="064EA8"/>
          </a:solidFill>
          <a:ln w="3810">
            <a:solidFill>
              <a:srgbClr val="C6D5E5"/>
            </a:solidFill>
            <a:prstDash val="solid"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B285C74-4C30-4C0A-8A89-0F81460F581F}"/>
              </a:ext>
            </a:extLst>
          </p:cNvPr>
          <p:cNvSpPr>
            <a:spLocks noGrp="1"/>
          </p:cNvSpPr>
          <p:nvPr/>
        </p:nvSpPr>
        <p:spPr>
          <a:xfrm>
            <a:off x="2781300" y="6229350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2E482DF-E9A6-4D1E-8175-58FA87ABCC02}"/>
              </a:ext>
            </a:extLst>
          </p:cNvPr>
          <p:cNvSpPr>
            <a:spLocks noGrp="1"/>
          </p:cNvSpPr>
          <p:nvPr/>
        </p:nvSpPr>
        <p:spPr>
          <a:xfrm>
            <a:off x="3124200" y="6229350"/>
            <a:ext cx="1352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13" b="0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Accountable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24A5546-C534-4DC3-8758-FF79797AAA04}"/>
              </a:ext>
            </a:extLst>
          </p:cNvPr>
          <p:cNvSpPr>
            <a:spLocks noGrp="1"/>
          </p:cNvSpPr>
          <p:nvPr/>
        </p:nvSpPr>
        <p:spPr>
          <a:xfrm>
            <a:off x="4533900" y="6219825"/>
            <a:ext cx="285750" cy="190500"/>
          </a:xfrm>
          <a:prstGeom prst="roundRect">
            <a:avLst>
              <a:gd name="adj" fmla="val 15000"/>
            </a:avLst>
          </a:prstGeom>
          <a:solidFill>
            <a:srgbClr val="008B94"/>
          </a:solidFill>
          <a:ln w="3810">
            <a:solidFill>
              <a:srgbClr val="C6D5E5"/>
            </a:solidFill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BA70A2F-EF6F-4FEE-B5BF-555A5B06C0DB}"/>
              </a:ext>
            </a:extLst>
          </p:cNvPr>
          <p:cNvSpPr>
            <a:spLocks noGrp="1"/>
          </p:cNvSpPr>
          <p:nvPr/>
        </p:nvSpPr>
        <p:spPr>
          <a:xfrm>
            <a:off x="4533900" y="6229350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E88BEB5-D627-411D-8008-522A367B0E4E}"/>
              </a:ext>
            </a:extLst>
          </p:cNvPr>
          <p:cNvSpPr>
            <a:spLocks noGrp="1"/>
          </p:cNvSpPr>
          <p:nvPr/>
        </p:nvSpPr>
        <p:spPr>
          <a:xfrm>
            <a:off x="4876800" y="6229350"/>
            <a:ext cx="1352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13" b="0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Responsável pela execução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F6CDE595-CE92-4AF5-9653-6C6E3EE4166B}"/>
              </a:ext>
            </a:extLst>
          </p:cNvPr>
          <p:cNvSpPr>
            <a:spLocks noGrp="1"/>
          </p:cNvSpPr>
          <p:nvPr/>
        </p:nvSpPr>
        <p:spPr>
          <a:xfrm>
            <a:off x="6286500" y="6219825"/>
            <a:ext cx="285750" cy="190500"/>
          </a:xfrm>
          <a:prstGeom prst="roundRect">
            <a:avLst>
              <a:gd name="adj" fmla="val 15000"/>
            </a:avLst>
          </a:prstGeom>
          <a:solidFill>
            <a:srgbClr val="DCEAF8"/>
          </a:solidFill>
          <a:ln w="3810">
            <a:solidFill>
              <a:srgbClr val="C6D5E5"/>
            </a:solidFill>
            <a:prstDash val="solid"/>
          </a:ln>
        </p:spPr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2674399E-13ED-47AE-972F-31E4D8AF5693}"/>
              </a:ext>
            </a:extLst>
          </p:cNvPr>
          <p:cNvSpPr>
            <a:spLocks noGrp="1"/>
          </p:cNvSpPr>
          <p:nvPr/>
        </p:nvSpPr>
        <p:spPr>
          <a:xfrm>
            <a:off x="6286500" y="6229350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001A59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1A5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8774F07-66DF-4A18-871B-B5E8B6E43903}"/>
              </a:ext>
            </a:extLst>
          </p:cNvPr>
          <p:cNvSpPr>
            <a:spLocks noGrp="1"/>
          </p:cNvSpPr>
          <p:nvPr/>
        </p:nvSpPr>
        <p:spPr>
          <a:xfrm>
            <a:off x="6629400" y="6229350"/>
            <a:ext cx="1352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13" b="0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Consultado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9FBBE25-C8D3-4B55-8006-8CA181ED4E9C}"/>
              </a:ext>
            </a:extLst>
          </p:cNvPr>
          <p:cNvSpPr>
            <a:spLocks noGrp="1"/>
          </p:cNvSpPr>
          <p:nvPr/>
        </p:nvSpPr>
        <p:spPr>
          <a:xfrm>
            <a:off x="8039100" y="6219825"/>
            <a:ext cx="285750" cy="190500"/>
          </a:xfrm>
          <a:prstGeom prst="roundRect">
            <a:avLst>
              <a:gd name="adj" fmla="val 15000"/>
            </a:avLst>
          </a:prstGeom>
          <a:solidFill>
            <a:srgbClr val="EDF1F5"/>
          </a:solidFill>
          <a:ln w="3810">
            <a:solidFill>
              <a:srgbClr val="C6D5E5"/>
            </a:solidFill>
            <a:prstDash val="solid"/>
          </a:ln>
        </p:spPr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46B179B4-EC89-4B72-BA83-FAA9724CDE53}"/>
              </a:ext>
            </a:extLst>
          </p:cNvPr>
          <p:cNvSpPr>
            <a:spLocks noGrp="1"/>
          </p:cNvSpPr>
          <p:nvPr/>
        </p:nvSpPr>
        <p:spPr>
          <a:xfrm>
            <a:off x="8039100" y="6229350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76ED872-9855-4FA8-ACD7-8523BB81EFD7}"/>
              </a:ext>
            </a:extLst>
          </p:cNvPr>
          <p:cNvSpPr>
            <a:spLocks noGrp="1"/>
          </p:cNvSpPr>
          <p:nvPr/>
        </p:nvSpPr>
        <p:spPr>
          <a:xfrm>
            <a:off x="8382000" y="6229350"/>
            <a:ext cx="1352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13" b="0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Informado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409A3C6-4F63-49F4-AA67-3BA99518B65E}"/>
              </a:ext>
            </a:extLst>
          </p:cNvPr>
          <p:cNvSpPr>
            <a:spLocks noGrp="1"/>
          </p:cNvSpPr>
          <p:nvPr/>
        </p:nvSpPr>
        <p:spPr>
          <a:xfrm>
            <a:off x="361950" y="6467475"/>
            <a:ext cx="10096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638" b="0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Fonte: Fluxos Projeto de Unificação — recortes TO-BE + papéis informados na conversa. Produtos/Pricing: responsável nominal a confirmar.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578596D4-AAAB-448D-8285-73A22A8DB1C7}"/>
              </a:ext>
            </a:extLst>
          </p:cNvPr>
          <p:cNvSpPr>
            <a:spLocks noGrp="1"/>
          </p:cNvSpPr>
          <p:nvPr/>
        </p:nvSpPr>
        <p:spPr>
          <a:xfrm>
            <a:off x="11315700" y="6467475"/>
            <a:ext cx="5143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675" b="0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35144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tângulo 34">
            <a:extLst>
              <a:ext uri="{FF2B5EF4-FFF2-40B4-BE49-F238E27FC236}">
                <a16:creationId xmlns:a16="http://schemas.microsoft.com/office/drawing/2014/main" id="{7360BCD8-DBEB-488B-A922-B4E45056FC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64EA8"/>
          </a:solidFill>
          <a:ln w="0">
            <a:noFill/>
            <a:prstDash val="solid"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3AA06C2-5BD1-4A99-88EB-EF1970497C10}"/>
              </a:ext>
            </a:extLst>
          </p:cNvPr>
          <p:cNvSpPr>
            <a:spLocks noGrp="1"/>
          </p:cNvSpPr>
          <p:nvPr/>
        </p:nvSpPr>
        <p:spPr>
          <a:xfrm>
            <a:off x="190500" y="66675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[B]³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D2C2AE9-450D-46F6-B0C8-DF0582148B7A}"/>
              </a:ext>
            </a:extLst>
          </p:cNvPr>
          <p:cNvSpPr>
            <a:spLocks noGrp="1"/>
          </p:cNvSpPr>
          <p:nvPr/>
        </p:nvSpPr>
        <p:spPr>
          <a:xfrm>
            <a:off x="685800" y="66675"/>
            <a:ext cx="108394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Faturamento Trillia | Matriz RACI da jornada TO-BE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AC65CCA-2422-4728-859B-28C1EDFC91E9}"/>
              </a:ext>
            </a:extLst>
          </p:cNvPr>
          <p:cNvSpPr>
            <a:spLocks noGrp="1"/>
          </p:cNvSpPr>
          <p:nvPr/>
        </p:nvSpPr>
        <p:spPr>
          <a:xfrm>
            <a:off x="361950" y="733425"/>
            <a:ext cx="876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650" b="1" i="0">
                <a:solidFill>
                  <a:srgbClr val="001A5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01A59"/>
                </a:solidFill>
                <a:latin typeface="Arial"/>
                <a:ea typeface="Arial"/>
                <a:cs typeface="Arial"/>
              </a:rPr>
              <a:t>RACI de continuidade | Cliente, ciclo e sustentação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04DEB98-9FD7-4888-8B54-5200EDEF1A97}"/>
              </a:ext>
            </a:extLst>
          </p:cNvPr>
          <p:cNvSpPr>
            <a:spLocks noGrp="1"/>
          </p:cNvSpPr>
          <p:nvPr/>
        </p:nvSpPr>
        <p:spPr>
          <a:xfrm>
            <a:off x="361950" y="1019175"/>
            <a:ext cx="8763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0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Responsabilidades após a primeira cobrança e na evolução da nova esteira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489549E-152B-47D7-8317-552AA9CA1235}"/>
              </a:ext>
            </a:extLst>
          </p:cNvPr>
          <p:cNvSpPr>
            <a:spLocks noGrp="1"/>
          </p:cNvSpPr>
          <p:nvPr/>
        </p:nvSpPr>
        <p:spPr>
          <a:xfrm>
            <a:off x="9620250" y="790575"/>
            <a:ext cx="2209800" cy="361950"/>
          </a:xfrm>
          <a:prstGeom prst="roundRect">
            <a:avLst>
              <a:gd name="adj" fmla="val 13158"/>
            </a:avLst>
          </a:prstGeom>
          <a:solidFill>
            <a:srgbClr val="FFF1E4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D3069E9-FB23-4D05-AFA3-3B4315862428}"/>
              </a:ext>
            </a:extLst>
          </p:cNvPr>
          <p:cNvSpPr>
            <a:spLocks noGrp="1"/>
          </p:cNvSpPr>
          <p:nvPr/>
        </p:nvSpPr>
        <p:spPr>
          <a:xfrm>
            <a:off x="9715500" y="847725"/>
            <a:ext cx="20193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825" b="1" i="0">
                <a:solidFill>
                  <a:srgbClr val="B45E1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45E14"/>
                </a:solidFill>
                <a:latin typeface="Arial"/>
                <a:ea typeface="Arial"/>
                <a:cs typeface="Arial"/>
              </a:rPr>
              <a:t>PROPOSTA PARA VALIDAÇÃO</a:t>
            </a:r>
          </a:p>
        </p:txBody>
      </p:sp>
      <p:graphicFrame>
        <p:nvGraphicFramePr>
          <p:cNvPr id="42" name="Tabela 41"/>
          <p:cNvGraphicFramePr/>
          <p:nvPr/>
        </p:nvGraphicFramePr>
        <p:xfrm>
          <a:off x="266700" y="1352550"/>
          <a:ext cx="11658600" cy="4324348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ETAPA / ATIVIDADE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Produtos /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Pricing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(a confirmar)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Comercial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Flavia</a:t>
                      </a:r>
                    </a:p>
                  </a:txBody>
                  <a:tcPr anchor="ctr">
                    <a:solidFill>
                      <a:srgbClr val="064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Salesforce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Técnico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Metranet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Negócio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Igor Bebert</a:t>
                      </a:r>
                    </a:p>
                  </a:txBody>
                  <a:tcPr anchor="ctr">
                    <a:solidFill>
                      <a:srgbClr val="064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Metranet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Técnico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Victor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 / Financeiro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Negócio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Juliana Cicarelli</a:t>
                      </a:r>
                    </a:p>
                  </a:txBody>
                  <a:tcPr anchor="ctr">
                    <a:solidFill>
                      <a:srgbClr val="064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SAP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Técnico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Thiago Talarico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Sucesso do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Cliente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Gabriela Cotrim</a:t>
                      </a:r>
                    </a:p>
                  </a:txBody>
                  <a:tcPr anchor="ctr">
                    <a:solidFill>
                      <a:srgbClr val="064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Inteligência</a:t>
                      </a:r>
                    </a:p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 Processos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APR</a:t>
                      </a:r>
                    </a:p>
                  </a:txBody>
                  <a:tcPr anchor="ctr">
                    <a:solidFill>
                      <a:srgbClr val="064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56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Realizar onboarding e validar a primeira cobrança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56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Conduzir reajustes e renovações</a:t>
                      </a:r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56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Cancelar produto e encerrar cobrança/repasse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08B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064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56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Configurar e sustentar o Salesforce</a:t>
                      </a:r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56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Configurar e sustentar o Metranet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56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Configurar e sustentar o SAP</a:t>
                      </a:r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56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Governar fluxo, indicadores, controles e melhoria contínua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A/R</a:t>
                      </a:r>
                    </a:p>
                  </a:txBody>
                  <a:tcPr anchor="ctr">
                    <a:solidFill>
                      <a:srgbClr val="001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056">
                <a:tc>
                  <a:txBody>
                    <a:bodyPr/>
                    <a:lstStyle/>
                    <a:p>
                      <a:pPr algn="l"/>
                      <a:r>
                        <a:rPr sz="938" b="1">
                          <a:solidFill>
                            <a:srgbClr val="17283D"/>
                          </a:solidFill>
                          <a:latin typeface="Arial"/>
                          <a:ea typeface="Arial"/>
                          <a:cs typeface="Arial"/>
                        </a:rPr>
                        <a:t>Coordenar migração para a nova esteira e cutover</a:t>
                      </a:r>
                    </a:p>
                  </a:txBody>
                  <a:tcPr anchor="ctr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1A59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anchor="ctr">
                    <a:solidFill>
                      <a:srgbClr val="DCE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5778C"/>
                          </a:solidFill>
                          <a:latin typeface="Arial"/>
                          <a:ea typeface="Arial"/>
                          <a:cs typeface="Arial"/>
                        </a:rPr>
                        <a:t>I</a:t>
                      </a:r>
                    </a:p>
                  </a:txBody>
                  <a:tcPr anchor="ctr">
                    <a:solidFill>
                      <a:srgbClr val="ED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anchor="ctr">
                    <a:solidFill>
                      <a:srgbClr val="008B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anchor="ctr">
                    <a:solidFill>
                      <a:srgbClr val="064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etângulo 8">
            <a:extLst>
              <a:ext uri="{FF2B5EF4-FFF2-40B4-BE49-F238E27FC236}">
                <a16:creationId xmlns:a16="http://schemas.microsoft.com/office/drawing/2014/main" id="{7EEAA83C-E5E0-43BC-B334-15F1C8142DB3}"/>
              </a:ext>
            </a:extLst>
          </p:cNvPr>
          <p:cNvSpPr>
            <a:spLocks noGrp="1"/>
          </p:cNvSpPr>
          <p:nvPr/>
        </p:nvSpPr>
        <p:spPr>
          <a:xfrm>
            <a:off x="266700" y="2076450"/>
            <a:ext cx="66675" cy="450056"/>
          </a:xfrm>
          <a:prstGeom prst="rect">
            <a:avLst/>
          </a:prstGeom>
          <a:solidFill>
            <a:srgbClr val="F5A623"/>
          </a:solidFill>
          <a:ln w="0">
            <a:noFill/>
            <a:prstDash val="solid"/>
          </a:ln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9A0C3B3-6B41-484F-B520-6AE8224E2139}"/>
              </a:ext>
            </a:extLst>
          </p:cNvPr>
          <p:cNvSpPr>
            <a:spLocks noGrp="1"/>
          </p:cNvSpPr>
          <p:nvPr/>
        </p:nvSpPr>
        <p:spPr>
          <a:xfrm>
            <a:off x="266700" y="2526506"/>
            <a:ext cx="66675" cy="450056"/>
          </a:xfrm>
          <a:prstGeom prst="rect">
            <a:avLst/>
          </a:prstGeom>
          <a:solidFill>
            <a:srgbClr val="F5A623"/>
          </a:solidFill>
          <a:ln w="0">
            <a:noFill/>
            <a:prstDash val="solid"/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674ADC1-4AA8-458C-95E4-D6AE0B07245F}"/>
              </a:ext>
            </a:extLst>
          </p:cNvPr>
          <p:cNvSpPr>
            <a:spLocks noGrp="1"/>
          </p:cNvSpPr>
          <p:nvPr/>
        </p:nvSpPr>
        <p:spPr>
          <a:xfrm>
            <a:off x="266700" y="2976563"/>
            <a:ext cx="66675" cy="450056"/>
          </a:xfrm>
          <a:prstGeom prst="rect">
            <a:avLst/>
          </a:prstGeom>
          <a:solidFill>
            <a:srgbClr val="F5A623"/>
          </a:solidFill>
          <a:ln w="0">
            <a:noFill/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D181FCB-F1B6-49BF-AAB2-759D39B0B263}"/>
              </a:ext>
            </a:extLst>
          </p:cNvPr>
          <p:cNvSpPr>
            <a:spLocks noGrp="1"/>
          </p:cNvSpPr>
          <p:nvPr/>
        </p:nvSpPr>
        <p:spPr>
          <a:xfrm>
            <a:off x="266700" y="3426619"/>
            <a:ext cx="66675" cy="450056"/>
          </a:xfrm>
          <a:prstGeom prst="rect">
            <a:avLst/>
          </a:prstGeom>
          <a:solidFill>
            <a:srgbClr val="008B94"/>
          </a:solidFill>
          <a:ln w="0">
            <a:noFill/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7DC2F61-DA4B-4C23-BA30-8691E2D0E404}"/>
              </a:ext>
            </a:extLst>
          </p:cNvPr>
          <p:cNvSpPr>
            <a:spLocks noGrp="1"/>
          </p:cNvSpPr>
          <p:nvPr/>
        </p:nvSpPr>
        <p:spPr>
          <a:xfrm>
            <a:off x="266700" y="3876675"/>
            <a:ext cx="66675" cy="450056"/>
          </a:xfrm>
          <a:prstGeom prst="rect">
            <a:avLst/>
          </a:prstGeom>
          <a:solidFill>
            <a:srgbClr val="008B94"/>
          </a:solidFill>
          <a:ln w="0">
            <a:noFill/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A70667F-81F8-4ED1-9DF7-C7ABA94209E7}"/>
              </a:ext>
            </a:extLst>
          </p:cNvPr>
          <p:cNvSpPr>
            <a:spLocks noGrp="1"/>
          </p:cNvSpPr>
          <p:nvPr/>
        </p:nvSpPr>
        <p:spPr>
          <a:xfrm>
            <a:off x="266700" y="4326731"/>
            <a:ext cx="66675" cy="450056"/>
          </a:xfrm>
          <a:prstGeom prst="rect">
            <a:avLst/>
          </a:prstGeom>
          <a:solidFill>
            <a:srgbClr val="008B94"/>
          </a:solidFill>
          <a:ln w="0">
            <a:noFill/>
            <a:prstDash val="solid"/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9ECB2E2-C55D-45D4-9020-E33514F8F3FA}"/>
              </a:ext>
            </a:extLst>
          </p:cNvPr>
          <p:cNvSpPr>
            <a:spLocks noGrp="1"/>
          </p:cNvSpPr>
          <p:nvPr/>
        </p:nvSpPr>
        <p:spPr>
          <a:xfrm>
            <a:off x="266700" y="4776788"/>
            <a:ext cx="66675" cy="450056"/>
          </a:xfrm>
          <a:prstGeom prst="rect">
            <a:avLst/>
          </a:prstGeom>
          <a:solidFill>
            <a:srgbClr val="001A59"/>
          </a:solidFill>
          <a:ln w="0">
            <a:noFill/>
            <a:prstDash val="solid"/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6D2925E-1B1D-439A-9652-DBA86E8C0015}"/>
              </a:ext>
            </a:extLst>
          </p:cNvPr>
          <p:cNvSpPr>
            <a:spLocks noGrp="1"/>
          </p:cNvSpPr>
          <p:nvPr/>
        </p:nvSpPr>
        <p:spPr>
          <a:xfrm>
            <a:off x="266700" y="5226844"/>
            <a:ext cx="66675" cy="450056"/>
          </a:xfrm>
          <a:prstGeom prst="rect">
            <a:avLst/>
          </a:prstGeom>
          <a:solidFill>
            <a:srgbClr val="064EA8"/>
          </a:solidFill>
          <a:ln w="0">
            <a:noFill/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C30C402-9320-4FDF-8CE9-C7B290520E81}"/>
              </a:ext>
            </a:extLst>
          </p:cNvPr>
          <p:cNvSpPr>
            <a:spLocks noGrp="1"/>
          </p:cNvSpPr>
          <p:nvPr/>
        </p:nvSpPr>
        <p:spPr>
          <a:xfrm>
            <a:off x="361950" y="5829300"/>
            <a:ext cx="6477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1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LEGENDA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56D2C79-DFF2-4A86-8A54-803B710811EA}"/>
              </a:ext>
            </a:extLst>
          </p:cNvPr>
          <p:cNvSpPr>
            <a:spLocks noGrp="1"/>
          </p:cNvSpPr>
          <p:nvPr/>
        </p:nvSpPr>
        <p:spPr>
          <a:xfrm>
            <a:off x="1028700" y="5819775"/>
            <a:ext cx="285750" cy="190500"/>
          </a:xfrm>
          <a:prstGeom prst="roundRect">
            <a:avLst>
              <a:gd name="adj" fmla="val 15000"/>
            </a:avLst>
          </a:prstGeom>
          <a:solidFill>
            <a:srgbClr val="001A59"/>
          </a:solidFill>
          <a:ln w="3810">
            <a:solidFill>
              <a:srgbClr val="C6D5E5"/>
            </a:solidFill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2BCEEAC-7F4C-4568-BF3F-B4EFE4659041}"/>
              </a:ext>
            </a:extLst>
          </p:cNvPr>
          <p:cNvSpPr>
            <a:spLocks noGrp="1"/>
          </p:cNvSpPr>
          <p:nvPr/>
        </p:nvSpPr>
        <p:spPr>
          <a:xfrm>
            <a:off x="1028700" y="5829300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A/R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738490F-B7CE-411F-939D-93C5993BA161}"/>
              </a:ext>
            </a:extLst>
          </p:cNvPr>
          <p:cNvSpPr>
            <a:spLocks noGrp="1"/>
          </p:cNvSpPr>
          <p:nvPr/>
        </p:nvSpPr>
        <p:spPr>
          <a:xfrm>
            <a:off x="1371600" y="5829300"/>
            <a:ext cx="1352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13" b="0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Executa e responde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4D63592D-0DA3-4079-B71E-1FB528AA293B}"/>
              </a:ext>
            </a:extLst>
          </p:cNvPr>
          <p:cNvSpPr>
            <a:spLocks noGrp="1"/>
          </p:cNvSpPr>
          <p:nvPr/>
        </p:nvSpPr>
        <p:spPr>
          <a:xfrm>
            <a:off x="2781300" y="5819775"/>
            <a:ext cx="285750" cy="190500"/>
          </a:xfrm>
          <a:prstGeom prst="roundRect">
            <a:avLst>
              <a:gd name="adj" fmla="val 15000"/>
            </a:avLst>
          </a:prstGeom>
          <a:solidFill>
            <a:srgbClr val="064EA8"/>
          </a:solidFill>
          <a:ln w="3810">
            <a:solidFill>
              <a:srgbClr val="C6D5E5"/>
            </a:solidFill>
            <a:prstDash val="solid"/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0FF0CC2-9150-435F-86CE-45AAD0EC7981}"/>
              </a:ext>
            </a:extLst>
          </p:cNvPr>
          <p:cNvSpPr>
            <a:spLocks noGrp="1"/>
          </p:cNvSpPr>
          <p:nvPr/>
        </p:nvSpPr>
        <p:spPr>
          <a:xfrm>
            <a:off x="2781300" y="5829300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20CFCB4-33E3-450B-9891-25E554915F5C}"/>
              </a:ext>
            </a:extLst>
          </p:cNvPr>
          <p:cNvSpPr>
            <a:spLocks noGrp="1"/>
          </p:cNvSpPr>
          <p:nvPr/>
        </p:nvSpPr>
        <p:spPr>
          <a:xfrm>
            <a:off x="3124200" y="5829300"/>
            <a:ext cx="1352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13" b="0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Accountable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867C5A09-94F7-442B-8235-C639E24D3DD8}"/>
              </a:ext>
            </a:extLst>
          </p:cNvPr>
          <p:cNvSpPr>
            <a:spLocks noGrp="1"/>
          </p:cNvSpPr>
          <p:nvPr/>
        </p:nvSpPr>
        <p:spPr>
          <a:xfrm>
            <a:off x="4533900" y="5819775"/>
            <a:ext cx="285750" cy="190500"/>
          </a:xfrm>
          <a:prstGeom prst="roundRect">
            <a:avLst>
              <a:gd name="adj" fmla="val 15000"/>
            </a:avLst>
          </a:prstGeom>
          <a:solidFill>
            <a:srgbClr val="008B94"/>
          </a:solidFill>
          <a:ln w="3810">
            <a:solidFill>
              <a:srgbClr val="C6D5E5"/>
            </a:solidFill>
            <a:prstDash val="solid"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8155902-858D-4A33-8531-3EBAEB1D8450}"/>
              </a:ext>
            </a:extLst>
          </p:cNvPr>
          <p:cNvSpPr>
            <a:spLocks noGrp="1"/>
          </p:cNvSpPr>
          <p:nvPr/>
        </p:nvSpPr>
        <p:spPr>
          <a:xfrm>
            <a:off x="4533900" y="5829300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BDC62A9-FC22-49C7-9432-98427595E24B}"/>
              </a:ext>
            </a:extLst>
          </p:cNvPr>
          <p:cNvSpPr>
            <a:spLocks noGrp="1"/>
          </p:cNvSpPr>
          <p:nvPr/>
        </p:nvSpPr>
        <p:spPr>
          <a:xfrm>
            <a:off x="4876800" y="5829300"/>
            <a:ext cx="1352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13" b="0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Responsável pela execução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785E5C2-4E15-4D12-8AC5-7C6440CA360B}"/>
              </a:ext>
            </a:extLst>
          </p:cNvPr>
          <p:cNvSpPr>
            <a:spLocks noGrp="1"/>
          </p:cNvSpPr>
          <p:nvPr/>
        </p:nvSpPr>
        <p:spPr>
          <a:xfrm>
            <a:off x="6286500" y="5819775"/>
            <a:ext cx="285750" cy="190500"/>
          </a:xfrm>
          <a:prstGeom prst="roundRect">
            <a:avLst>
              <a:gd name="adj" fmla="val 15000"/>
            </a:avLst>
          </a:prstGeom>
          <a:solidFill>
            <a:srgbClr val="DCEAF8"/>
          </a:solidFill>
          <a:ln w="3810">
            <a:solidFill>
              <a:srgbClr val="C6D5E5"/>
            </a:solidFill>
            <a:prstDash val="solid"/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6414876-8092-4256-B8E8-68F4C163A52D}"/>
              </a:ext>
            </a:extLst>
          </p:cNvPr>
          <p:cNvSpPr>
            <a:spLocks noGrp="1"/>
          </p:cNvSpPr>
          <p:nvPr/>
        </p:nvSpPr>
        <p:spPr>
          <a:xfrm>
            <a:off x="6286500" y="5829300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001A59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001A59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28F9E43B-F551-462E-B9EB-614B90CD0BF8}"/>
              </a:ext>
            </a:extLst>
          </p:cNvPr>
          <p:cNvSpPr>
            <a:spLocks noGrp="1"/>
          </p:cNvSpPr>
          <p:nvPr/>
        </p:nvSpPr>
        <p:spPr>
          <a:xfrm>
            <a:off x="6629400" y="5829300"/>
            <a:ext cx="1352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13" b="0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Consultado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010521DE-EB8B-4076-B419-9190D9B0C5DA}"/>
              </a:ext>
            </a:extLst>
          </p:cNvPr>
          <p:cNvSpPr>
            <a:spLocks noGrp="1"/>
          </p:cNvSpPr>
          <p:nvPr/>
        </p:nvSpPr>
        <p:spPr>
          <a:xfrm>
            <a:off x="8039100" y="5819775"/>
            <a:ext cx="285750" cy="190500"/>
          </a:xfrm>
          <a:prstGeom prst="roundRect">
            <a:avLst>
              <a:gd name="adj" fmla="val 15000"/>
            </a:avLst>
          </a:prstGeom>
          <a:solidFill>
            <a:srgbClr val="EDF1F5"/>
          </a:solidFill>
          <a:ln w="3810">
            <a:solidFill>
              <a:srgbClr val="C6D5E5"/>
            </a:solidFill>
            <a:prstDash val="solid"/>
          </a:ln>
        </p:spPr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73B6E9A-C64D-4203-8225-3EC1DDD11B15}"/>
              </a:ext>
            </a:extLst>
          </p:cNvPr>
          <p:cNvSpPr>
            <a:spLocks noGrp="1"/>
          </p:cNvSpPr>
          <p:nvPr/>
        </p:nvSpPr>
        <p:spPr>
          <a:xfrm>
            <a:off x="8039100" y="5829300"/>
            <a:ext cx="285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750" b="1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873B3814-FCEA-419B-8CCB-C1516FFE946F}"/>
              </a:ext>
            </a:extLst>
          </p:cNvPr>
          <p:cNvSpPr>
            <a:spLocks noGrp="1"/>
          </p:cNvSpPr>
          <p:nvPr/>
        </p:nvSpPr>
        <p:spPr>
          <a:xfrm>
            <a:off x="8382000" y="5829300"/>
            <a:ext cx="13525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13" b="0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713" b="0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Informado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9A029D48-6CFA-4A79-BB8B-1D3133425293}"/>
              </a:ext>
            </a:extLst>
          </p:cNvPr>
          <p:cNvSpPr>
            <a:spLocks noGrp="1"/>
          </p:cNvSpPr>
          <p:nvPr/>
        </p:nvSpPr>
        <p:spPr>
          <a:xfrm>
            <a:off x="361950" y="6467475"/>
            <a:ext cx="100965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638" b="0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638" b="0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Fonte: Fluxos Projeto de Unificação — recortes TO-BE + papéis informados na conversa. Produtos/Pricing: responsável nominal a confirmar.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8A2386DE-C044-4A18-883F-A2E7FA13AC81}"/>
              </a:ext>
            </a:extLst>
          </p:cNvPr>
          <p:cNvSpPr>
            <a:spLocks noGrp="1"/>
          </p:cNvSpPr>
          <p:nvPr/>
        </p:nvSpPr>
        <p:spPr>
          <a:xfrm>
            <a:off x="11315700" y="6467475"/>
            <a:ext cx="5143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675" b="0" i="0">
                <a:solidFill>
                  <a:srgbClr val="65778C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577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077679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</Words>
  <Application>Microsoft Office PowerPoint</Application>
  <DocSecurity>0</DocSecurity>
  <PresentationFormat>Widescreen</PresentationFormat>
  <Paragraphs>288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Arial</vt:lpstr>
      <vt:lpstr>Calibri</vt:lpstr>
      <vt:lpstr>ChatGPT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Lucas Diniz</cp:lastModifiedBy>
  <cp:revision>1</cp:revision>
  <dcterms:created xsi:type="dcterms:W3CDTF">2026-09-08T13:10:41Z</dcterms:created>
  <dcterms:modified xsi:type="dcterms:W3CDTF">2026-09-08T13:22:41Z</dcterms:modified>
</cp:coreProperties>
</file>