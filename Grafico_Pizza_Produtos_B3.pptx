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v>Valor em milhões</c:v>
          </c:tx>
          <c:dPt>
            <c:idx val="0"/>
            <c:bubble3D val="0"/>
            <c:spPr>
              <a:solidFill>
                <a:srgbClr val="5B7FC1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EDC-4354-A177-C6CD685A94DD}"/>
              </c:ext>
            </c:extLst>
          </c:dPt>
          <c:dPt>
            <c:idx val="1"/>
            <c:bubble3D val="0"/>
            <c:spPr>
              <a:solidFill>
                <a:srgbClr val="0B2067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EDC-4354-A177-C6CD685A94DD}"/>
              </c:ext>
            </c:extLst>
          </c:dPt>
          <c:dPt>
            <c:idx val="2"/>
            <c:bubble3D val="0"/>
            <c:spPr>
              <a:solidFill>
                <a:srgbClr val="1B5EA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5EDC-4354-A177-C6CD685A94DD}"/>
              </c:ext>
            </c:extLst>
          </c:dPt>
          <c:dPt>
            <c:idx val="3"/>
            <c:bubble3D val="0"/>
            <c:spPr>
              <a:solidFill>
                <a:srgbClr val="0099D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5EDC-4354-A177-C6CD685A94DD}"/>
              </c:ext>
            </c:extLst>
          </c:dPt>
          <c:dPt>
            <c:idx val="4"/>
            <c:bubble3D val="0"/>
            <c:spPr>
              <a:solidFill>
                <a:srgbClr val="91CFE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5EDC-4354-A177-C6CD685A94D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B2067"/>
                        </a:solidFill>
                        <a:latin typeface="Arial"/>
                        <a:ea typeface="Arial"/>
                        <a:cs typeface="Arial"/>
                      </a:rPr>
                      <a:t>6,7%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EDC-4354-A177-C6CD685A9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B2067"/>
                        </a:solidFill>
                        <a:latin typeface="Arial"/>
                        <a:ea typeface="Arial"/>
                        <a:cs typeface="Arial"/>
                      </a:rPr>
                      <a:t>36,0%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EDC-4354-A177-C6CD685A9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B2067"/>
                        </a:solidFill>
                        <a:latin typeface="Arial"/>
                        <a:ea typeface="Arial"/>
                        <a:cs typeface="Arial"/>
                      </a:rPr>
                      <a:t>31,7%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EDC-4354-A177-C6CD685A9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B2067"/>
                        </a:solidFill>
                        <a:latin typeface="Arial"/>
                        <a:ea typeface="Arial"/>
                        <a:cs typeface="Arial"/>
                      </a:rPr>
                      <a:t>20,5%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EDC-4354-A177-C6CD685A9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B2067"/>
                        </a:solidFill>
                        <a:latin typeface="Arial"/>
                        <a:ea typeface="Arial"/>
                        <a:cs typeface="Arial"/>
                      </a:rPr>
                      <a:t>5,2%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EDC-4354-A177-C6CD685A9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Data'!$A$2:$A$6</c:f>
              <c:strCache>
                <c:ptCount val="5"/>
                <c:pt idx="0">
                  <c:v>Datawise Reports - 14,8 M</c:v>
                </c:pt>
                <c:pt idx="1">
                  <c:v>Datawise Plus - 13 M</c:v>
                </c:pt>
                <c:pt idx="2">
                  <c:v>UP2DATA - 8,4 M</c:v>
                </c:pt>
                <c:pt idx="3">
                  <c:v>Monitora PIP - 2,75 M</c:v>
                </c:pt>
                <c:pt idx="4">
                  <c:v>Smart Target - 2,12 M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14.8</c:v>
                </c:pt>
                <c:pt idx="1">
                  <c:v>13</c:v>
                </c:pt>
                <c:pt idx="2">
                  <c:v>8.4</c:v>
                </c:pt>
                <c:pt idx="3">
                  <c:v>2.75</c:v>
                </c:pt>
                <c:pt idx="4">
                  <c:v>2.12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EDC-4354-A177-C6CD685A94DD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</c:pieChart>
      <c:spPr>
        <a:solidFill>
          <a:srgbClr val="FFFFFF"/>
        </a:solidFill>
        <a:ln w="0">
          <a:noFill/>
        </a:ln>
      </c:spPr>
    </c:plotArea>
    <c:legend>
      <c:legendPos val="r"/>
      <c:overlay val="0"/>
      <c:spPr>
        <a:ln w="0">
          <a:noFill/>
        </a:ln>
      </c:spPr>
      <c:txPr>
        <a:bodyPr anchorCtr="1"/>
        <a:lstStyle/>
        <a:p>
          <a:pPr>
            <a:defRPr sz="1800">
              <a:solidFill>
                <a:srgbClr val="24344A"/>
              </a:solidFill>
              <a:latin typeface="Arial"/>
              <a:ea typeface="Arial"/>
              <a:cs typeface="Arial"/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imagem codex-clipboard-46647ef1-9901-493f-9102-507666f8c4aa.png fornecida pelo usuário. Valores em milhões: Monitora PIP 2,75; Datawise Reports 14,8; Datawise Plus 13; UP2DATA 8,4; Smart Target 2,12. Total calculado: 41,07 milhões. Não foi adicionada moeda. Usado 8,4M para UP2DATA conforme imagem mais recente, e não 8,46M da imagem anterior. Gráfico nativo de pizza com dados e legenda editáveis. Azuis harmonizados com a identidade visual B3 do PDF de referência. Percentuais arredondados podem somar 100,1%.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0D50A32-734E-4135-871C-6AB531CE15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181100"/>
          </a:xfrm>
          <a:prstGeom prst="rect">
            <a:avLst/>
          </a:prstGeom>
          <a:solidFill>
            <a:srgbClr val="DEEBF7"/>
          </a:solidFill>
          <a:ln w="0">
            <a:noFill/>
          </a:ln>
        </p:spPr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2425" y="267692"/>
            <a:ext cx="733425" cy="7028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63C86A5-BFA8-4508-81CC-E856CEC56768}"/>
              </a:ext>
            </a:extLst>
          </p:cNvPr>
          <p:cNvSpPr>
            <a:spLocks noGrp="1"/>
          </p:cNvSpPr>
          <p:nvPr/>
        </p:nvSpPr>
        <p:spPr>
          <a:xfrm>
            <a:off x="1314450" y="419100"/>
            <a:ext cx="13049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Distribuição de valores por produto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63806FA-40C2-4B71-9763-2DCB1D42EC6B}"/>
              </a:ext>
            </a:extLst>
          </p:cNvPr>
          <p:cNvSpPr>
            <a:spLocks noGrp="1"/>
          </p:cNvSpPr>
          <p:nvPr/>
        </p:nvSpPr>
        <p:spPr>
          <a:xfrm>
            <a:off x="952500" y="1504950"/>
            <a:ext cx="13335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1">
                <a:solidFill>
                  <a:srgbClr val="0B20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067"/>
                </a:solidFill>
                <a:latin typeface="Arial"/>
                <a:ea typeface="Arial"/>
                <a:cs typeface="Arial"/>
              </a:rPr>
              <a:t>Total: 41,07 M</a:t>
            </a:r>
          </a:p>
        </p:txBody>
      </p:sp>
      <p:graphicFrame>
        <p:nvGraphicFramePr>
          <p:cNvPr id="11" name="Chart"/>
          <p:cNvGraphicFramePr/>
          <p:nvPr>
            <p:extLst>
              <p:ext uri="{D42A27DB-BD31-4B8C-83A1-F6EECF244321}">
                <p14:modId xmlns:p14="http://schemas.microsoft.com/office/powerpoint/2010/main" val="414789492"/>
              </p:ext>
            </p:extLst>
          </p:nvPr>
        </p:nvGraphicFramePr>
        <p:xfrm>
          <a:off x="762000" y="2000250"/>
          <a:ext cx="1343025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1FB72D40-EFDA-44B5-8B6A-78AD468D019B}"/>
              </a:ext>
            </a:extLst>
          </p:cNvPr>
          <p:cNvSpPr>
            <a:spLocks noGrp="1"/>
          </p:cNvSpPr>
          <p:nvPr/>
        </p:nvSpPr>
        <p:spPr>
          <a:xfrm>
            <a:off x="952500" y="7753350"/>
            <a:ext cx="13335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60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7"/>
                </a:solidFill>
                <a:latin typeface="Arial"/>
                <a:ea typeface="Arial"/>
                <a:cs typeface="Arial"/>
              </a:rPr>
              <a:t>M = milhões. Percentuais calculados sobre o total informado e arredondados para uma casa decimal.</a:t>
            </a:r>
          </a:p>
        </p:txBody>
      </p:sp>
    </p:spTree>
    <p:extLst>
      <p:ext uri="{BB962C8B-B14F-4D97-AF65-F5344CB8AC3E}">
        <p14:creationId xmlns:p14="http://schemas.microsoft.com/office/powerpoint/2010/main" val="5405124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DocSecurity>0</DocSecurity>
  <PresentationFormat>Personalizar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1</cp:revision>
  <dcterms:created xsi:type="dcterms:W3CDTF">2026-09-29T01:38:25Z</dcterms:created>
  <dcterms:modified xsi:type="dcterms:W3CDTF">2026-09-29T01:41:48Z</dcterms:modified>
</cp:coreProperties>
</file>